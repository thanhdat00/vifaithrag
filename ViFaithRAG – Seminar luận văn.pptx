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embeddedFontLst>
    <p:embeddedFont>
      <p:font typeface="Be Vietnam Pro" pitchFamily="34" charset="0"/>
      <p:regular r:id="rId28"/>
      <p:bold r:id="rId29"/>
      <p:italic r:id="rId30"/>
      <p:boldItalic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quý Thầy Cô và các bạn. Em là Lê Tôn Thành Đạt. Hôm nay em trình bày luận văn “ViFaithRAG – bộ dữ liệu đánh giá tính trung thực của hệ thống RAG tiếng Việt trên truy vấn thực tế”, thực hiện dưới sự hướng dẫn của TS. Nguyễn Trường Sơn. Câu hỏi trung tâm rất đơn giản: khi được cung cấp kết quả tìm kiếm thật, mô hình ngôn ngữ có biết trả lời đúng những gì tài liệu nói – và biết dừng lại khi tài liệu không đủ –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 sinh tăng cường truy xuất – đưa tài liệu tìm được vào ngữ cảnh để mô hình trả lời có căn cứ. Nhưng có tài liệu không có nghĩa là trung thực. Mô hình vẫn có thể mâu thuẫn với tài liệu, thêm chi tiết không có nguồn, hoặc nguy hiểm nhất: vẫn trả lời tự tin khi tài liệu không đủ. Vì có trích dẫn đi kèm, câu trả lời sai lại càng trông đáng tin. Vậy đánh giá RAG phải trả lời hai câu hỏi: nội dung có được bằng chứng hỗ trợ không, và bằng chứng có cho phép trả lời không, đến mức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bộ dữ liệu hiện có như CRAG hay RAGTruth rất có giá trị, nhưng phần lớn là tiếng Anh, câu hỏi được xây dựng hoặc tuyển chọn sẵn, và ngữ cảnh là đoạn văn sạch đã chứa câu trả lời. Người dùng thật thì khác: câu hỏi ngắn, khẩu ngữ, có khi mơ hồ; kết quả tìm kiếm là trang web nguyên văn, có trang lạc đề, có trang thiếu. Với tiếng Việt, các tài nguyên hiện có là kiểm chứng thông tin và đọc hiểu – chưa có bộ dữ liệu nào đánh giá tính trung thực của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bộ dữ liệu tiếng Anh như CRAG, RAGTruth, HaluEval hay RGB dùng câu hỏi soạn sẵn hoặc lấy từ bộ có sẵn, ngữ cảnh đã làm sạch hoặc chèn nhiễu nhân tạo, và không có nhãn khả năng trả lời phân cấp. Tài nguyên tiếng Việt như ViFactCheck và UIT-ViQuAD phục vụ kiểm chứng và đọc hiểu, không phải đánh giá RAG. ViFaithRAG là tài nguyên duy nhất trong bảng kết hợp tiếng Việt, truy vấn thực của người dùng, ngữ cảnh toàn văn không lọc và nhãn khả năng trả lời phân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văn trả lời bốn câu hỏi: xây dựng dữ liệu thực tế mà vẫn tin cậy như thế nào; truy xuất thực tế không đủ đến mức nào; đánh giá tính trung thực của câu trả lời RAG như thế nào; và các mô hình mã nguồn mở hành xử ra sao. Tương ứng là ba đóng góp: bộ dữ liệu ViFaithRAG, quy trình xây dựng có LLM hỗ trợ nhưng con người quyết định, và khung đánh giá tách hai năng lực cùng kết quả trên bốn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bản ghi thật trong bộ dữ liệu, giữ gần như đầy đủ các trường. Truy vấn người dùng được giữ nguyên văn, viết thường: “lần cuối cùng manchester united giành được một chiếc cúp danh giá là khi nào?”. Ngữ cảnh là toàn văn ba kết quả Google đầu tiên, không chọn lọc. Doc 1 của báo Pháp Luật chứa câu trả lời: ngày 24-5-2017 là lần cuối Manchester United giành một danh hiệu lớn. Doc 2 của báo Nhân Dân cùng chủ đề Manchester United – kể về đội hình ngày cuối của Sir Alex Ferguson – nhưng không trả lời câu hỏi. Doc 3 là một trang SEO đăng trên website nội thất, trùng từ khóa “danh giá” nhưng nói về số lần vô địch Ngoại hạng Anh. Phần dưới là nhãn YES, tài liệu hỗ trợ là Doc 1, và câu trả lời tham chiếu có trích dẫn.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khoảng 30 nghìn truy vấn, em lọc theo luật và khử trùng ngữ nghĩa bằng BGE-M3, còn 4.117 truy vấn. Mỗi truy vấn lấy đúng ba kết quả Google, không chọn lọc. GPT-5.5 và Gemini 3.1 Pro gợi ý nhãn; hai người gán nhãn độc lập; người phân xử giải quyết 521 bất đồng mà không xem gợi ý của LLM. Gemini soạn bản nháp câu trả lời, người rà soát chấp nhận hoặc sửa; nếu phát hiện nhãn sai thì phân xử vòng hai – 54 nhãn đã được sửa. Độ đồng thuận đạt kappa 0,744 trên bốn lớp và 0,839 ở dạng nhị phân.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đầu tiên: 35,3% truy vấn không thể trả lời đầy đủ và rõ ràng từ ba trang Google – tức cứ ba câu thì có một câu mà hành vi đúng không phải là trả lời đầy đủ. Tỉ lệ này gần như nhau ở pháp luật (33,5%) và miền mở (36,1%). Gần một nửa bản ghi trả lời được vẫn có tài liệu gây nhiễu. Và độ tương đồng ngữ nghĩa chỉ đạt AUC 0,668 khi phân biệt tài liệu hỗ trợ – liên quan chủ đề không đồng nghĩa với có câu trả lời. Câu hỏi về số lượng, thời gian, nguyên nhân khó nhất: gần một nửa không trả lời đầy đủ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đánh giá mô hình, mỗi câu trả lời được chấm theo nhãn của bản ghi. YES và PARTIAL: tách câu trả lời thành mệnh đề, đối chiếu với tham chiếu để ra tính trung thực và tính đầy đủ; PARTIAL chấm thêm vi phạm phạm vi. NO: phân loại từ chối, bịa đặt hay từ chối giả. AMBIGUOUS: có làm rõ hay không. Kết quả gom thành hai nhóm chỉ số: chất lượng câu trả lời có căn cứ (màu xanh) và hành vi tại biên bằng chứng (màu cam). Giám khảo là Claude Sonnet 4.6, đạt 94,5% đồng thuận với người đánh giá trên 200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thứ nhất đo chất lượng câu trả lời trên bản ghi YES và PARTIAL. Tính trung thực F là tỉ lệ mệnh đề trong câu trả lời được tham chiếu hỗ trợ – một độ đo kiểu precision. Tính đầy đủ C là tỉ lệ điểm chính của tham chiếu được câu trả lời bao phủ – kiểu recall. Ví dụ thật với câu hỏi “số hữu tỉ là gì ?”: DeepSeek trả lời một câu, được tách thành bốn mệnh đề; ba mệnh đề khớp tham chiếu, còn “ký hiệu là Q” đúng và có trong tài liệu nhưng nằm ngoài tham chiếu, nên F bằng 0,75. Tham chiếu có hai ý chính, câu trả lời thiếu ý “số thập phân vô hạn tuần hoàn”, nên C bằng 0,5. Lưu ý: mệnh đề không khớp nghĩa là ngoài tham chiếu, không nhất thiết là bịa. Hai độ đo được gộp bằng trung bình điều hòa F–C F1, lấy trung bình theo bản ghi. Nhóm thứ hai đo hành vi tại biên bằng chứng: SVR là tỉ lệ bản ghi PARTIAL bị trả lời vượt phạm vi; OAR là tỉ lệ bản ghi YES bị từ chối không cần thiết; trên YES và NO, coi từ chối là lớp dương để tính precision, recall và F1 của quyết định từ chối; CR là tỉ lệ câu hỏi mơ hồ được làm rõ. Các độ đo giới hạn lẫn nhau từ hai phía: mô hình luôn từ chối sẽ có C bằng 0 và OAR cao; mô hình trả lời bừa sẽ có F thấp và SVR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văn đánh giá bốn LLM mã nguồn mở đã tinh chỉnh theo chỉ dẫn, khác nhau về họ, kiến trúc và quy mô: DeepSeek-V4-Flash và Qwen3.5-397B-A17B là mô hình hỗn hợp chuyên gia, Gemma-4-31B và Qwen3-8B là mô hình dày. Cặp Qwen3-8B và Qwen3.5 cho phép xét ảnh hưởng của quy mô trong cùng một họ. Đây là một benchmark nên không có hệ thống baseline riêng: bốn mô hình được so sánh với nhau và với nhãn của con người. Mỗi mô hình nhận truy vấn gốc và toàn văn ba trang truy xuất, không được biết nhãn, tài liệu hỗ trợ hay câu trả lời tham chiếu. Mọi mô hình dùng cùng một lời nhắc tiếng Việt, nhiệt độ 0, tối đa 2.048 token, tắt chế độ suy luận. Lời nhắc yêu cầu rõ: chỉ dựa trên tài liệu, nói rõ khi thiếu thông tin, nêu phần thiếu, nêu sự mơ hồ và nêu hạn chế khi thiếu mốc thời gian. Tổng cộng 16.468 câu trả lời được giám khảo chấm. Ba vai trò được tách biệt: GPT-5.5 và Gemini hỗ trợ xây dựng dữ liệu, bốn mô hình được đánh giá, và Claude Sonnet 4.6 làm giám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mô hình được đánh giá trên cùng lời nhắc, nhiệt độ 0. DeepSeek-V4-Flash trung thực nhất, 78,5%, nhưng thiếu ý nhất. Gemma-4-31B đầy đủ nhất, 85%, vì nói nhiều hơn – trung bình hơn 10 mệnh đề mỗi câu trả lời – nên cũng nhiều chi tiết không có căn cứ hơn. Quy mô không quyết định: Qwen3.5 với 397 tỉ tham số chỉ trung thực hơn Qwen3-8B khoảng 2,5 điểm. Đáng chú ý: tỉ lệ câu trả lời hoàn toàn trung thực chỉ 44,5% với DeepSeek và dưới 27% với ba mô hình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quan trọng nhất. Ngay cả mô hình tốt nhất vẫn trả lời vượt phạm vi bằng chứng ở 22% câu hỏi PARTIAL. Trên câu hỏi NO, Gemma bịa câu trả lời 40% số lần, Qwen3-8B tới 72%. Câu hỏi mơ hồ được làm rõ nhiều nhất cũng chỉ 52%. Mô hình có điểm chất lượng câu trả lời cao nhất lại không phải mô hình biết từ chối tốt nhất. Lưu ý: lời nhắc đã yêu cầu rõ phải từ chối, nêu phần thiếu và hỏi lại – nên đây là giới hạn tuân thủ, không phải thiếu hướng dẫn. Ví dụ: “kết quả trận đấu gần nhất của barcelona là gì?” – ngữ cảnh chỉ nêu trận thua Sevilla 1-4 mà không xác định là trận gần nhất, nhưng ba trên bốn mô hình vẫn khẳng định chắc chắn.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ví dụ thật cho ba kiểu lỗi. Thứ nhất, câu hỏi NO “năm 605 trước công nguyên thuộc thế kỷ nào”: tài liệu chỉ nhắc năm 605 như mốc sự kiện, không nêu thế kỷ. Ba trên bốn mô hình vẫn trả lời bằng kiến thức riêng; Qwen3-8B còn trả lời sai là thế kỷ thứ 6. DeepSeek trả lời đúng kiến thức – thế kỷ 7 trước Công nguyên – nhưng vẫn bị tính là bịa vì không có trong tài liệu: benchmark đo trung thực với tài liệu, không phải đúng sai kiến thức. Thứ hai, câu hỏi PARTIAL “kho ngoại quan là gì, đó là hình thức xuất khẩu?”: tài liệu chỉ có định nghĩa. Ba mô hình tự tin trả lời vế còn lại và còn mâu thuẫn nhau – Qwen3-8B nói là hình thức xuất khẩu, DeepSeek nói không phải; chỉ Gemma nêu đúng phần thiếu. Thứ ba, câu hỏi AMBIGUOUS “lịch sử ngày 14 như thế nào”: tài liệu có cả 14/2 và 14/3, nhưng Qwen3-8B chọn thẳng 14/2, trong khi DeepSeek nêu rõ sự mơ hồ.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phân tích bổ sung. Thứ nhất, trên tập con khó – những bản ghi mà cả GPT và Gemini đều đánh giá sai – tỉ lệ từ chối đúng trên NO giảm mạnh, như DeepSeek từ 83% xuống 42%. Ngữ cảnh đánh lừa được LLM khi gán nhãn cũng đánh lừa LLM khi trả lời. Thứ hai, khi chỉ một trong ba tài liệu chứa bằng chứng, tính trung thực giảm với ba trên bốn mô hình. Thứ ba, ngữ cảnh càng dài, Gemma và Qwen3.5 càng nhiều mệnh đề không có căn cứ, còn DeepSeek ổn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luận văn xây dựng ViFaithRAG – bộ dữ liệu RAG tiếng Việt với truy vấn thực, ngữ cảnh web không lọc và nhãn khả năng trả lời bốn lớp – cùng khung đánh giá tách hai năng lực. Thông điệp chính: đánh giá RAG phải đo đồng thời chất lượng câu trả lời và quyết định có nên trả lời hay không. Hạn chế gồm một thời điểm truy xuất, lớp AMBIGUOUS nhỏ và giám khảo dựa trên tham chiếu. Hướng tiếp theo là thử lọc tài liệu, mở rộng dữ liệu và sang tài liệu PDF, JSON. Bộ dữ liệu và mã nguồn đã công khai trên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cảm ơn quý Thầy Cô và các bạn đã lắng nghe. Em rất mong nhận được câu hỏi và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bảng đầy đủ các chỉ số. Không mô hình nào dẫn đầu đồng thời chất lượng câu trả lời và hành vi tại biên bằng chứng. DeepSeek kiểm soát phạm vi tốt nhất và độ phủ từ chối cao nhất nhưng từ chối thừa nhiều nhất trên YES (117 lần); Gemma ít từ chối thừa nhất; Qwen3.5 có F1 từ chối cao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 chỉ dùng khi được hỏi về vai trò của LLM trong gán nhãn. Gemini khớp 84,2%, GPT-5.5 khớp 76,5% với nhãn cuối của con người. Mức khớp cao trên YES nhưng thấp hơn trên PARTIAL (dưới 52%) và NO (GPT 34,9%), cho thấy LLM có xu hướng đánh giá cao mức hỗ trợ của ngữ cảnh. Con người bác bỏ đồng thuận của hai mô hình ở 303 bản ghi; 431 bản ghi cả hai LLM đều sai được dùng làm tập con khó trong phân tích bổ 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khi được hỏi về độ tin cậy của giám khảo. Giám khảo là Claude Sonnet 4.6, nhiệt độ 0, chỉ nhận đầu vào theo nhãn và không bao giờ nhận tài liệu truy xuất, nên điểm YES/PARTIAL dựa hoàn toàn trên tham chiếu. Claude không được dùng trong bước xây dựng dữ liệu và không mô hình được đánh giá nào thuộc họ Claude, để giảm thiên lệch tự đánh giá. Kiểm định chính thức: một người đánh giá độc lập chấm 200 cặp lấy mẫu phân tầng theo phán quyết nhị phân, đồng thuận 189 cặp, tức 94,5%, khoảng tin cậy 90,4 đến 96,9%. Hạn chế: kiểm định ở mức toàn câu trả lời; phân rã mệnh đề và tính đầy đủ chưa được kiểm định riêng. Ở bước thí điểm 50 mẫu, đồng thuận theo từng trường còn thấp, ví dụ kappa trường trung thực của Haiku chỉ 0,39, nên giao thức được đơn giản 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ví dụ thật cho từng nhãn, đều là bản ghi mà hai người gán nhãn đồng thuận. YES: “dưa hấu giả là gì ?” – Doc 1 định nghĩa trực tiếp, Doc 2 nói về “làm giả” dưa hấu thành cá ngừ, chỉ trùng từ khóa. PARTIAL: hỏi giá hoa dịp 8/3 và 20/10 – tài liệu có giá dịp 8/3 nhưng dịp 20/10 chỉ có quảng cáo dịch vụ thiết kế hoa. NO pháp luật: phí làm số nhà ở TP.HCM – tài liệu chỉ ghi “lệ phí theo quy định”. NO miền mở: thời gian bay Vienna–Bắc Kinh – tài liệu có hai chặng khác nhưng không có chặng cần hỏi. AMBIGUOUS: “khi nào cần tìm ai để hỏi” – “ai” có thể là một người hoặc AI. Tập con khó: hủy thẻ tín dụng ACB online – tài liệu chỉ nói gia hạn online và “một số ngân hàng” chưa hỗ trợ hủy online, nên là NO, dù cả GPT-5.5 và Gemini đều gán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61"/>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714501"/>
            <a:ext cx="10566400" cy="43306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61"/>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714501"/>
            <a:ext cx="10566400" cy="43306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9DB4FF"/>
                </a:solidFill>
                <a:latin typeface="Be Vietnam Pro" pitchFamily="34" charset="0"/>
                <a:ea typeface="Be Vietnam Pro" pitchFamily="34" charset="-122"/>
                <a:cs typeface="Be Vietnam Pro" pitchFamily="34" charset="-120"/>
              </a:rPr>
              <a:t>SEMINAR LUẬN VĂN THẠC SĨ · TRÍ TUỆ NHÂN TẠO</a:t>
            </a:r>
            <a:endParaRPr lang="en-US" sz="1300" dirty="0"/>
          </a:p>
        </p:txBody>
      </p:sp>
      <p:sp>
        <p:nvSpPr>
          <p:cNvPr id="3" name="Text 1"/>
          <p:cNvSpPr/>
          <p:nvPr>
            <p:ph type="title"/>
          </p:nvPr>
        </p:nvSpPr>
        <p:spPr>
          <a:xfrm>
            <a:off x="812800" y="1937385"/>
            <a:ext cx="10883392" cy="905510"/>
          </a:xfrm>
          <a:prstGeom prst="rect">
            <a:avLst/>
          </a:prstGeom>
          <a:noFill/>
          <a:ln/>
        </p:spPr>
        <p:txBody>
          <a:bodyPr wrap="square" lIns="0" tIns="0" rIns="0" bIns="0" rtlCol="0" anchor="t">
            <a:normAutofit/>
          </a:bodyPr>
          <a:lstStyle/>
          <a:p>
            <a:pPr algn="l" indent="0" marL="0">
              <a:lnSpc>
                <a:spcPts val="6930"/>
              </a:lnSpc>
              <a:buNone/>
            </a:pPr>
            <a:r>
              <a:rPr lang="en-US" sz="6600" b="1" i="0" dirty="0">
                <a:solidFill>
                  <a:srgbClr val="F7F6F2"/>
                </a:solidFill>
                <a:latin typeface="Be Vietnam Pro" pitchFamily="34" charset="0"/>
                <a:ea typeface="Be Vietnam Pro" pitchFamily="34" charset="-122"/>
                <a:cs typeface="Be Vietnam Pro" pitchFamily="34" charset="-120"/>
              </a:rPr>
              <a:t>ViFaithRAG</a:t>
            </a:r>
            <a:endParaRPr lang="en-US" sz="6600" dirty="0"/>
          </a:p>
        </p:txBody>
      </p:sp>
      <p:sp>
        <p:nvSpPr>
          <p:cNvPr id="4" name="Text 2"/>
          <p:cNvSpPr/>
          <p:nvPr/>
        </p:nvSpPr>
        <p:spPr>
          <a:xfrm>
            <a:off x="812800" y="3020695"/>
            <a:ext cx="9483725" cy="81788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DCE3F0"/>
                </a:solidFill>
                <a:latin typeface="Be Vietnam Pro" pitchFamily="34" charset="0"/>
                <a:ea typeface="Be Vietnam Pro" pitchFamily="34" charset="-122"/>
                <a:cs typeface="Be Vietnam Pro" pitchFamily="34" charset="-120"/>
              </a:rPr>
              <a:t>Bộ dữ liệu đánh giá tính trung thực của hệ thống RAG tiếng Việt trên truy vấn thực tế</a:t>
            </a:r>
            <a:endParaRPr lang="en-US" sz="2400" dirty="0"/>
          </a:p>
        </p:txBody>
      </p:sp>
      <p:sp>
        <p:nvSpPr>
          <p:cNvPr id="5" name="Text 3"/>
          <p:cNvSpPr/>
          <p:nvPr/>
        </p:nvSpPr>
        <p:spPr>
          <a:xfrm>
            <a:off x="812800" y="4016375"/>
            <a:ext cx="9483725" cy="5943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F2B33D"/>
                </a:solidFill>
                <a:latin typeface="Be Vietnam Pro" pitchFamily="34" charset="0"/>
                <a:ea typeface="Be Vietnam Pro" pitchFamily="34" charset="-122"/>
                <a:cs typeface="Be Vietnam Pro" pitchFamily="34" charset="-120"/>
              </a:rPr>
              <a:t>Khi có kết quả tìm kiếm thật, mô hình có trả lời đúng những gì tài liệu nói – và biết dừng lại khi tài liệu không đủ?</a:t>
            </a:r>
            <a:endParaRPr lang="en-US" sz="1600" dirty="0"/>
          </a:p>
        </p:txBody>
      </p:sp>
      <p:sp>
        <p:nvSpPr>
          <p:cNvPr id="6" name="Text 4"/>
          <p:cNvSpPr/>
          <p:nvPr/>
        </p:nvSpPr>
        <p:spPr>
          <a:xfrm>
            <a:off x="812800" y="5478780"/>
            <a:ext cx="378572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Be Vietnam Pro" pitchFamily="34" charset="0"/>
                <a:ea typeface="Be Vietnam Pro" pitchFamily="34" charset="-122"/>
                <a:cs typeface="Be Vietnam Pro" pitchFamily="34" charset="-120"/>
              </a:rPr>
              <a:t>Lê Tôn Thành Đạt</a:t>
            </a:r>
            <a:endParaRPr lang="en-US" sz="1600" dirty="0"/>
          </a:p>
        </p:txBody>
      </p:sp>
      <p:sp>
        <p:nvSpPr>
          <p:cNvPr id="7" name="Text 5"/>
          <p:cNvSpPr/>
          <p:nvPr/>
        </p:nvSpPr>
        <p:spPr>
          <a:xfrm>
            <a:off x="812800" y="5814060"/>
            <a:ext cx="441055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2D6"/>
                </a:solidFill>
                <a:latin typeface="Be Vietnam Pro" pitchFamily="34" charset="0"/>
                <a:ea typeface="Be Vietnam Pro" pitchFamily="34" charset="-122"/>
                <a:cs typeface="Be Vietnam Pro" pitchFamily="34" charset="-120"/>
              </a:rPr>
              <a:t>Giảng viên hướng dẫn: TS. Nguyễn Trường Sơn</a:t>
            </a:r>
            <a:endParaRPr lang="en-US" sz="1300" dirty="0"/>
          </a:p>
        </p:txBody>
      </p:sp>
      <p:sp>
        <p:nvSpPr>
          <p:cNvPr id="8" name="Text 6"/>
          <p:cNvSpPr/>
          <p:nvPr/>
        </p:nvSpPr>
        <p:spPr>
          <a:xfrm>
            <a:off x="7122763" y="5814060"/>
            <a:ext cx="4256437"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8C2D6"/>
                </a:solidFill>
                <a:latin typeface="Be Vietnam Pro" pitchFamily="34" charset="0"/>
                <a:ea typeface="Be Vietnam Pro" pitchFamily="34" charset="-122"/>
                <a:cs typeface="Be Vietnam Pro" pitchFamily="34" charset="-120"/>
              </a:rPr>
              <a:t>Trường ĐH Khoa học Tự nhiên – ĐHQG-HCM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2807"/>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2F5BEA"/>
                </a:solidFill>
                <a:latin typeface="Be Vietnam Pro" pitchFamily="34" charset="0"/>
                <a:ea typeface="Be Vietnam Pro" pitchFamily="34" charset="-122"/>
                <a:cs typeface="Be Vietnam Pro" pitchFamily="34" charset="-120"/>
              </a:rPr>
              <a:t>ĐỘNG LỰC</a:t>
            </a:r>
            <a:endParaRPr lang="en-US" sz="1196" dirty="0"/>
          </a:p>
        </p:txBody>
      </p:sp>
      <p:sp>
        <p:nvSpPr>
          <p:cNvPr id="3" name="Text 1"/>
          <p:cNvSpPr/>
          <p:nvPr>
            <p:ph type="title"/>
          </p:nvPr>
        </p:nvSpPr>
        <p:spPr>
          <a:xfrm>
            <a:off x="812800" y="994807"/>
            <a:ext cx="10883392" cy="422989"/>
          </a:xfrm>
          <a:prstGeom prst="rect">
            <a:avLst/>
          </a:prstGeom>
          <a:noFill/>
          <a:ln/>
        </p:spPr>
        <p:txBody>
          <a:bodyPr wrap="square" lIns="0" tIns="0" rIns="0" bIns="0" rtlCol="0" anchor="t">
            <a:normAutofit/>
          </a:bodyPr>
          <a:lstStyle/>
          <a:p>
            <a:pPr algn="l" indent="0" marL="0">
              <a:lnSpc>
                <a:spcPts val="3170"/>
              </a:lnSpc>
              <a:buNone/>
            </a:pPr>
            <a:r>
              <a:rPr lang="en-US" sz="2756" b="1" i="0" dirty="0">
                <a:solidFill>
                  <a:srgbClr val="14213D"/>
                </a:solidFill>
                <a:latin typeface="Be Vietnam Pro" pitchFamily="34" charset="0"/>
                <a:ea typeface="Be Vietnam Pro" pitchFamily="34" charset="-122"/>
                <a:cs typeface="Be Vietnam Pro" pitchFamily="34" charset="-120"/>
              </a:rPr>
              <a:t>RAG giảm ảo giác, nhưng không bảo đảm trung thực</a:t>
            </a:r>
            <a:endParaRPr lang="en-US" sz="2756" dirty="0"/>
          </a:p>
        </p:txBody>
      </p:sp>
      <p:sp>
        <p:nvSpPr>
          <p:cNvPr id="4" name="Text 2"/>
          <p:cNvSpPr/>
          <p:nvPr/>
        </p:nvSpPr>
        <p:spPr>
          <a:xfrm>
            <a:off x="819150" y="1868646"/>
            <a:ext cx="2209800" cy="561340"/>
          </a:xfrm>
          <a:prstGeom prst="roundRect">
            <a:avLst>
              <a:gd name="adj" fmla="val 14706"/>
            </a:avLst>
          </a:prstGeom>
          <a:solidFill>
            <a:srgbClr val="FFFFFF"/>
          </a:solidFill>
          <a:ln w="12700">
            <a:solidFill>
              <a:srgbClr val="D5DBE5"/>
            </a:solidFill>
            <a:prstDash val="solid"/>
          </a:ln>
        </p:spPr>
        <p:txBody>
          <a:bodyPr wrap="square" lIns="129733" tIns="132032" rIns="129733" bIns="106632" rtlCol="0" anchor="t">
            <a:normAutofit/>
          </a:bodyPr>
          <a:lstStyle/>
          <a:p>
            <a:pPr algn="ctr" indent="0" marL="0">
              <a:lnSpc>
                <a:spcPts val="1960"/>
              </a:lnSpc>
              <a:buNone/>
            </a:pPr>
            <a:r>
              <a:rPr lang="en-US" sz="1400" b="1" dirty="0">
                <a:solidFill>
                  <a:srgbClr val="1E2A3B"/>
                </a:solidFill>
                <a:latin typeface="Be Vietnam Pro" pitchFamily="34" charset="0"/>
                <a:ea typeface="Be Vietnam Pro" pitchFamily="34" charset="-122"/>
                <a:cs typeface="Be Vietnam Pro" pitchFamily="34" charset="-120"/>
              </a:rPr>
              <a:t>Truy vấn</a:t>
            </a:r>
            <a:endParaRPr lang="en-US" sz="1400" dirty="0"/>
          </a:p>
        </p:txBody>
      </p:sp>
      <p:pic>
        <p:nvPicPr>
          <p:cNvPr id="5" name="Image 0" descr="arrow-right">    </p:cNvPr>
          <p:cNvPicPr>
            <a:picLocks noChangeAspect="1"/>
          </p:cNvPicPr>
          <p:nvPr/>
        </p:nvPicPr>
        <p:blipFill>
          <a:blip r:embed="rId1"/>
          <a:srcRect l="0" r="0" t="0" b="0"/>
          <a:stretch/>
        </p:blipFill>
        <p:spPr>
          <a:xfrm>
            <a:off x="3162300" y="2073116"/>
            <a:ext cx="304800" cy="152400"/>
          </a:xfrm>
          <a:prstGeom prst="rect">
            <a:avLst/>
          </a:prstGeom>
        </p:spPr>
      </p:pic>
      <p:sp>
        <p:nvSpPr>
          <p:cNvPr id="6" name="Text 3"/>
          <p:cNvSpPr/>
          <p:nvPr/>
        </p:nvSpPr>
        <p:spPr>
          <a:xfrm>
            <a:off x="3600450" y="1868646"/>
            <a:ext cx="2209800" cy="561340"/>
          </a:xfrm>
          <a:prstGeom prst="roundRect">
            <a:avLst>
              <a:gd name="adj" fmla="val 14706"/>
            </a:avLst>
          </a:prstGeom>
          <a:solidFill>
            <a:srgbClr val="FFFFFF"/>
          </a:solidFill>
          <a:ln w="12700">
            <a:solidFill>
              <a:srgbClr val="D5DBE5"/>
            </a:solidFill>
            <a:prstDash val="solid"/>
          </a:ln>
        </p:spPr>
        <p:txBody>
          <a:bodyPr wrap="square" lIns="129733" tIns="132032" rIns="129733" bIns="106632" rtlCol="0" anchor="t">
            <a:normAutofit/>
          </a:bodyPr>
          <a:lstStyle/>
          <a:p>
            <a:pPr algn="ctr" indent="0" marL="0">
              <a:lnSpc>
                <a:spcPts val="1960"/>
              </a:lnSpc>
              <a:buNone/>
            </a:pPr>
            <a:r>
              <a:rPr lang="en-US" sz="1400" b="1" dirty="0">
                <a:solidFill>
                  <a:srgbClr val="1E2A3B"/>
                </a:solidFill>
                <a:latin typeface="Be Vietnam Pro" pitchFamily="34" charset="0"/>
                <a:ea typeface="Be Vietnam Pro" pitchFamily="34" charset="-122"/>
                <a:cs typeface="Be Vietnam Pro" pitchFamily="34" charset="-120"/>
              </a:rPr>
              <a:t>Truy xuất tài liệu</a:t>
            </a:r>
            <a:endParaRPr lang="en-US" sz="1400" dirty="0"/>
          </a:p>
        </p:txBody>
      </p:sp>
      <p:pic>
        <p:nvPicPr>
          <p:cNvPr id="7" name="Image 1" descr="arrow-right">    </p:cNvPr>
          <p:cNvPicPr>
            <a:picLocks noChangeAspect="1"/>
          </p:cNvPicPr>
          <p:nvPr/>
        </p:nvPicPr>
        <p:blipFill>
          <a:blip r:embed="rId2"/>
          <a:srcRect l="0" r="0" t="0" b="0"/>
          <a:stretch/>
        </p:blipFill>
        <p:spPr>
          <a:xfrm>
            <a:off x="5943600" y="2073116"/>
            <a:ext cx="304800" cy="152400"/>
          </a:xfrm>
          <a:prstGeom prst="rect">
            <a:avLst/>
          </a:prstGeom>
        </p:spPr>
      </p:pic>
      <p:sp>
        <p:nvSpPr>
          <p:cNvPr id="8" name="Text 4"/>
          <p:cNvSpPr/>
          <p:nvPr/>
        </p:nvSpPr>
        <p:spPr>
          <a:xfrm>
            <a:off x="6381750" y="1868646"/>
            <a:ext cx="2209800" cy="561340"/>
          </a:xfrm>
          <a:prstGeom prst="roundRect">
            <a:avLst>
              <a:gd name="adj" fmla="val 14706"/>
            </a:avLst>
          </a:prstGeom>
          <a:solidFill>
            <a:srgbClr val="FFFFFF"/>
          </a:solidFill>
          <a:ln w="12700">
            <a:solidFill>
              <a:srgbClr val="D5DBE5"/>
            </a:solidFill>
            <a:prstDash val="solid"/>
          </a:ln>
        </p:spPr>
        <p:txBody>
          <a:bodyPr wrap="square" lIns="129733" tIns="132032" rIns="129733" bIns="106632" rtlCol="0" anchor="t">
            <a:normAutofit/>
          </a:bodyPr>
          <a:lstStyle/>
          <a:p>
            <a:pPr algn="ctr" indent="0" marL="0">
              <a:lnSpc>
                <a:spcPts val="1960"/>
              </a:lnSpc>
              <a:buNone/>
            </a:pPr>
            <a:r>
              <a:rPr lang="en-US" sz="1400" b="1" dirty="0">
                <a:solidFill>
                  <a:srgbClr val="1E2A3B"/>
                </a:solidFill>
                <a:latin typeface="Be Vietnam Pro" pitchFamily="34" charset="0"/>
                <a:ea typeface="Be Vietnam Pro" pitchFamily="34" charset="-122"/>
                <a:cs typeface="Be Vietnam Pro" pitchFamily="34" charset="-120"/>
              </a:rPr>
              <a:t>LLM sinh câu trả lời</a:t>
            </a:r>
            <a:endParaRPr lang="en-US" sz="1400" dirty="0"/>
          </a:p>
        </p:txBody>
      </p:sp>
      <p:pic>
        <p:nvPicPr>
          <p:cNvPr id="9" name="Image 2" descr="arrow-right">    </p:cNvPr>
          <p:cNvPicPr>
            <a:picLocks noChangeAspect="1"/>
          </p:cNvPicPr>
          <p:nvPr/>
        </p:nvPicPr>
        <p:blipFill>
          <a:blip r:embed="rId3"/>
          <a:srcRect l="0" r="0" t="0" b="0"/>
          <a:stretch/>
        </p:blipFill>
        <p:spPr>
          <a:xfrm>
            <a:off x="8724900" y="2073116"/>
            <a:ext cx="304800" cy="152400"/>
          </a:xfrm>
          <a:prstGeom prst="rect">
            <a:avLst/>
          </a:prstGeom>
        </p:spPr>
      </p:pic>
      <p:sp>
        <p:nvSpPr>
          <p:cNvPr id="10" name="Text 5"/>
          <p:cNvSpPr/>
          <p:nvPr/>
        </p:nvSpPr>
        <p:spPr>
          <a:xfrm>
            <a:off x="9163050" y="1744187"/>
            <a:ext cx="2209800" cy="810260"/>
          </a:xfrm>
          <a:prstGeom prst="roundRect">
            <a:avLst>
              <a:gd name="adj" fmla="val 10188"/>
            </a:avLst>
          </a:prstGeom>
          <a:solidFill>
            <a:srgbClr val="E8EEFD"/>
          </a:solidFill>
          <a:ln w="12700">
            <a:solidFill>
              <a:srgbClr val="2F5BEA"/>
            </a:solidFill>
            <a:prstDash val="solid"/>
          </a:ln>
        </p:spPr>
        <p:txBody>
          <a:bodyPr wrap="square" lIns="129733" tIns="132032" rIns="129733" bIns="106632" rtlCol="0" anchor="t">
            <a:normAutofit/>
          </a:bodyPr>
          <a:lstStyle/>
          <a:p>
            <a:pPr algn="ctr" indent="0" marL="0">
              <a:lnSpc>
                <a:spcPts val="1960"/>
              </a:lnSpc>
              <a:buNone/>
            </a:pPr>
            <a:r>
              <a:rPr lang="en-US" sz="1400" b="1" dirty="0">
                <a:solidFill>
                  <a:srgbClr val="1D3FAF"/>
                </a:solidFill>
                <a:latin typeface="Be Vietnam Pro" pitchFamily="34" charset="0"/>
                <a:ea typeface="Be Vietnam Pro" pitchFamily="34" charset="-122"/>
                <a:cs typeface="Be Vietnam Pro" pitchFamily="34" charset="-120"/>
              </a:rPr>
              <a:t>Câu trả lời + trích dẫn</a:t>
            </a:r>
            <a:endParaRPr lang="en-US" sz="1400" dirty="0"/>
          </a:p>
        </p:txBody>
      </p:sp>
      <p:sp>
        <p:nvSpPr>
          <p:cNvPr id="11" name="Shape 6"/>
          <p:cNvSpPr/>
          <p:nvPr/>
        </p:nvSpPr>
        <p:spPr>
          <a:xfrm>
            <a:off x="815975" y="2909412"/>
            <a:ext cx="3393837" cy="1732677"/>
          </a:xfrm>
          <a:prstGeom prst="roundRect">
            <a:avLst>
              <a:gd name="adj" fmla="val 5681"/>
            </a:avLst>
          </a:prstGeom>
          <a:solidFill>
            <a:srgbClr val="FFFFFF"/>
          </a:solidFill>
          <a:ln w="6350">
            <a:solidFill>
              <a:srgbClr val="D5DBE5"/>
            </a:solidFill>
            <a:prstDash val="solid"/>
          </a:ln>
        </p:spPr>
      </p:sp>
      <p:pic>
        <p:nvPicPr>
          <p:cNvPr id="12" name="Image 3" descr="Warning">    </p:cNvPr>
          <p:cNvPicPr>
            <a:picLocks noChangeAspect="1"/>
          </p:cNvPicPr>
          <p:nvPr/>
        </p:nvPicPr>
        <p:blipFill>
          <a:blip r:embed="rId4"/>
          <a:srcRect l="0" r="0" t="0" b="0"/>
          <a:stretch/>
        </p:blipFill>
        <p:spPr>
          <a:xfrm>
            <a:off x="1021080" y="3114516"/>
            <a:ext cx="254000" cy="254000"/>
          </a:xfrm>
          <a:prstGeom prst="rect">
            <a:avLst/>
          </a:prstGeom>
        </p:spPr>
      </p:pic>
      <p:sp>
        <p:nvSpPr>
          <p:cNvPr id="13" name="Text 7"/>
          <p:cNvSpPr/>
          <p:nvPr/>
        </p:nvSpPr>
        <p:spPr>
          <a:xfrm>
            <a:off x="1021080" y="3444716"/>
            <a:ext cx="307313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Mâu thuẫn với tài liệu</a:t>
            </a:r>
            <a:endParaRPr lang="en-US" sz="1600" dirty="0"/>
          </a:p>
        </p:txBody>
      </p:sp>
      <p:sp>
        <p:nvSpPr>
          <p:cNvPr id="14" name="Text 8"/>
          <p:cNvSpPr/>
          <p:nvPr/>
        </p:nvSpPr>
        <p:spPr>
          <a:xfrm>
            <a:off x="1021080" y="3764756"/>
            <a:ext cx="307313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Nội dung trái với những gì bằng chứng nói.</a:t>
            </a:r>
            <a:endParaRPr lang="en-US" sz="1300" dirty="0"/>
          </a:p>
        </p:txBody>
      </p:sp>
      <p:sp>
        <p:nvSpPr>
          <p:cNvPr id="15" name="Shape 9"/>
          <p:cNvSpPr/>
          <p:nvPr/>
        </p:nvSpPr>
        <p:spPr>
          <a:xfrm>
            <a:off x="4393962" y="2909412"/>
            <a:ext cx="3393916" cy="1732677"/>
          </a:xfrm>
          <a:prstGeom prst="roundRect">
            <a:avLst>
              <a:gd name="adj" fmla="val 5681"/>
            </a:avLst>
          </a:prstGeom>
          <a:solidFill>
            <a:srgbClr val="FFFFFF"/>
          </a:solidFill>
          <a:ln w="6350">
            <a:solidFill>
              <a:srgbClr val="D5DBE5"/>
            </a:solidFill>
            <a:prstDash val="solid"/>
          </a:ln>
        </p:spPr>
      </p:sp>
      <p:pic>
        <p:nvPicPr>
          <p:cNvPr id="16" name="Image 4" descr="Warning">    </p:cNvPr>
          <p:cNvPicPr>
            <a:picLocks noChangeAspect="1"/>
          </p:cNvPicPr>
          <p:nvPr/>
        </p:nvPicPr>
        <p:blipFill>
          <a:blip r:embed="rId5"/>
          <a:srcRect l="0" r="0" t="0" b="0"/>
          <a:stretch/>
        </p:blipFill>
        <p:spPr>
          <a:xfrm>
            <a:off x="4599067" y="3114516"/>
            <a:ext cx="254000" cy="254000"/>
          </a:xfrm>
          <a:prstGeom prst="rect">
            <a:avLst/>
          </a:prstGeom>
        </p:spPr>
      </p:pic>
      <p:sp>
        <p:nvSpPr>
          <p:cNvPr id="17" name="Text 10"/>
          <p:cNvSpPr/>
          <p:nvPr/>
        </p:nvSpPr>
        <p:spPr>
          <a:xfrm>
            <a:off x="4599067" y="3444716"/>
            <a:ext cx="31856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Thêm chi tiết không có nguồn</a:t>
            </a:r>
            <a:endParaRPr lang="en-US" sz="1600" dirty="0"/>
          </a:p>
        </p:txBody>
      </p:sp>
      <p:sp>
        <p:nvSpPr>
          <p:cNvPr id="18" name="Text 11"/>
          <p:cNvSpPr/>
          <p:nvPr/>
        </p:nvSpPr>
        <p:spPr>
          <a:xfrm>
            <a:off x="4599067" y="3764756"/>
            <a:ext cx="307321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Khẳng định không được tài liệu nào hỗ trợ.</a:t>
            </a:r>
            <a:endParaRPr lang="en-US" sz="1300" dirty="0"/>
          </a:p>
        </p:txBody>
      </p:sp>
      <p:sp>
        <p:nvSpPr>
          <p:cNvPr id="19" name="Shape 12"/>
          <p:cNvSpPr/>
          <p:nvPr/>
        </p:nvSpPr>
        <p:spPr>
          <a:xfrm>
            <a:off x="7975203" y="2912587"/>
            <a:ext cx="3397647" cy="1726327"/>
          </a:xfrm>
          <a:prstGeom prst="roundRect">
            <a:avLst>
              <a:gd name="adj" fmla="val 5517"/>
            </a:avLst>
          </a:prstGeom>
          <a:solidFill>
            <a:srgbClr val="FDF0EC"/>
          </a:solidFill>
          <a:ln w="12700">
            <a:solidFill>
              <a:srgbClr val="C4472B"/>
            </a:solidFill>
            <a:prstDash val="solid"/>
          </a:ln>
        </p:spPr>
      </p:sp>
      <p:pic>
        <p:nvPicPr>
          <p:cNvPr id="20" name="Image 5" descr="Warning">    </p:cNvPr>
          <p:cNvPicPr>
            <a:picLocks noChangeAspect="1"/>
          </p:cNvPicPr>
          <p:nvPr/>
        </p:nvPicPr>
        <p:blipFill>
          <a:blip r:embed="rId6"/>
          <a:srcRect l="-600" r="-600" t="0" b="0"/>
          <a:stretch/>
        </p:blipFill>
        <p:spPr>
          <a:xfrm>
            <a:off x="8182213" y="3119596"/>
            <a:ext cx="254000" cy="244713"/>
          </a:xfrm>
          <a:prstGeom prst="rect">
            <a:avLst/>
          </a:prstGeom>
        </p:spPr>
      </p:pic>
      <p:sp>
        <p:nvSpPr>
          <p:cNvPr id="21" name="Text 13"/>
          <p:cNvSpPr/>
          <p:nvPr/>
        </p:nvSpPr>
        <p:spPr>
          <a:xfrm>
            <a:off x="8182213" y="3440509"/>
            <a:ext cx="3073136" cy="49522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9A3412"/>
                </a:solidFill>
                <a:latin typeface="Be Vietnam Pro" pitchFamily="34" charset="0"/>
                <a:ea typeface="Be Vietnam Pro" pitchFamily="34" charset="-122"/>
                <a:cs typeface="Be Vietnam Pro" pitchFamily="34" charset="-120"/>
              </a:rPr>
              <a:t>Trả lời tự tin khi tài liệu không đủ</a:t>
            </a:r>
            <a:endParaRPr lang="en-US" sz="1550" dirty="0"/>
          </a:p>
        </p:txBody>
      </p:sp>
      <p:sp>
        <p:nvSpPr>
          <p:cNvPr id="22" name="Text 14"/>
          <p:cNvSpPr/>
          <p:nvPr/>
        </p:nvSpPr>
        <p:spPr>
          <a:xfrm>
            <a:off x="8182213" y="3986530"/>
            <a:ext cx="3073136" cy="470773"/>
          </a:xfrm>
          <a:prstGeom prst="rect">
            <a:avLst/>
          </a:prstGeom>
          <a:noFill/>
          <a:ln/>
        </p:spPr>
        <p:txBody>
          <a:bodyPr wrap="square" lIns="0" tIns="0" rIns="0" bIns="0" rtlCol="0" anchor="t">
            <a:normAutofit/>
          </a:bodyPr>
          <a:lstStyle/>
          <a:p>
            <a:pPr algn="l" indent="0" marL="0">
              <a:lnSpc>
                <a:spcPts val="1757"/>
              </a:lnSpc>
              <a:buNone/>
            </a:pPr>
            <a:r>
              <a:rPr lang="en-US" sz="1255" dirty="0">
                <a:solidFill>
                  <a:srgbClr val="4A5568"/>
                </a:solidFill>
                <a:latin typeface="Be Vietnam Pro" pitchFamily="34" charset="0"/>
                <a:ea typeface="Be Vietnam Pro" pitchFamily="34" charset="-122"/>
                <a:cs typeface="Be Vietnam Pro" pitchFamily="34" charset="-120"/>
              </a:rPr>
              <a:t>Nguy hiểm nhất – trích dẫn khiến câu sai càng trông đáng tin.</a:t>
            </a:r>
            <a:endParaRPr lang="en-US" sz="1255" dirty="0"/>
          </a:p>
        </p:txBody>
      </p:sp>
      <p:sp>
        <p:nvSpPr>
          <p:cNvPr id="23" name="Shape 15"/>
          <p:cNvSpPr/>
          <p:nvPr/>
        </p:nvSpPr>
        <p:spPr>
          <a:xfrm>
            <a:off x="812800" y="5000863"/>
            <a:ext cx="10566400" cy="841137"/>
          </a:xfrm>
          <a:prstGeom prst="roundRect">
            <a:avLst>
              <a:gd name="adj" fmla="val 12079"/>
            </a:avLst>
          </a:prstGeom>
          <a:solidFill>
            <a:srgbClr val="14213D"/>
          </a:solidFill>
          <a:ln/>
        </p:spPr>
      </p:sp>
      <p:sp>
        <p:nvSpPr>
          <p:cNvPr id="24" name="Text 16"/>
          <p:cNvSpPr/>
          <p:nvPr/>
        </p:nvSpPr>
        <p:spPr>
          <a:xfrm>
            <a:off x="1041400" y="5305822"/>
            <a:ext cx="2344182"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9DB4FF"/>
                </a:solidFill>
                <a:latin typeface="Be Vietnam Pro" pitchFamily="34" charset="0"/>
                <a:ea typeface="Be Vietnam Pro" pitchFamily="34" charset="-122"/>
                <a:cs typeface="Be Vietnam Pro" pitchFamily="34" charset="-120"/>
              </a:rPr>
              <a:t>HAI CÂU HỎI ĐÁNH GIÁ</a:t>
            </a:r>
            <a:endParaRPr lang="en-US" sz="1300" dirty="0"/>
          </a:p>
        </p:txBody>
      </p:sp>
      <p:sp>
        <p:nvSpPr>
          <p:cNvPr id="25" name="Text 17"/>
          <p:cNvSpPr/>
          <p:nvPr/>
        </p:nvSpPr>
        <p:spPr>
          <a:xfrm>
            <a:off x="3385582" y="5172552"/>
            <a:ext cx="799796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Be Vietnam Pro" pitchFamily="34" charset="0"/>
                <a:ea typeface="Be Vietnam Pro" pitchFamily="34" charset="-122"/>
                <a:cs typeface="Be Vietnam Pro" pitchFamily="34" charset="-120"/>
              </a:rPr>
              <a:t>① Nội dung có được bằng chứng hỗ trợ?</a:t>
            </a:r>
            <a:endParaRPr lang="en-US" sz="1400" dirty="0"/>
          </a:p>
          <a:p>
            <a:pPr algn="l" indent="0" marL="0">
              <a:lnSpc>
                <a:spcPts val="1960"/>
              </a:lnSpc>
              <a:buNone/>
            </a:pPr>
            <a:r>
              <a:rPr lang="en-US" sz="1400" dirty="0">
                <a:solidFill>
                  <a:srgbClr val="F7F6F2"/>
                </a:solidFill>
                <a:latin typeface="Be Vietnam Pro" pitchFamily="34" charset="0"/>
                <a:ea typeface="Be Vietnam Pro" pitchFamily="34" charset="-122"/>
                <a:cs typeface="Be Vietnam Pro" pitchFamily="34" charset="-120"/>
              </a:rPr>
              <a:t>② Bằng chứng có cho phép trả lời – và đến mức nào?</a:t>
            </a:r>
            <a:endParaRPr lang="en-US" sz="1400" dirty="0"/>
          </a:p>
        </p:txBody>
      </p:sp>
      <p:sp>
        <p:nvSpPr>
          <p:cNvPr id="26" name="Text 18"/>
          <p:cNvSpPr/>
          <p:nvPr/>
        </p:nvSpPr>
        <p:spPr>
          <a:xfrm>
            <a:off x="812800" y="6238241"/>
            <a:ext cx="26771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a:t>
            </a:r>
            <a:endParaRPr lang="en-US" sz="1200" dirty="0"/>
          </a:p>
        </p:txBody>
      </p:sp>
      <p:sp>
        <p:nvSpPr>
          <p:cNvPr id="27" name="Text 19"/>
          <p:cNvSpPr/>
          <p:nvPr/>
        </p:nvSpPr>
        <p:spPr>
          <a:xfrm>
            <a:off x="11229181" y="6238241"/>
            <a:ext cx="150019"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ĐỘNG LỰC</a:t>
            </a:r>
            <a:endParaRPr lang="en-US" sz="1200" dirty="0"/>
          </a:p>
        </p:txBody>
      </p:sp>
      <p:sp>
        <p:nvSpPr>
          <p:cNvPr id="3" name="Text 1"/>
          <p:cNvSpPr/>
          <p:nvPr>
            <p:ph type="title"/>
          </p:nvPr>
        </p:nvSpPr>
        <p:spPr>
          <a:xfrm>
            <a:off x="812800" y="1000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Khoảng trống: dữ liệu đánh giá chưa giống thực tế</a:t>
            </a:r>
            <a:endParaRPr lang="en-US" sz="2800" dirty="0"/>
          </a:p>
        </p:txBody>
      </p:sp>
      <p:sp>
        <p:nvSpPr>
          <p:cNvPr id="4" name="Shape 2"/>
          <p:cNvSpPr/>
          <p:nvPr/>
        </p:nvSpPr>
        <p:spPr>
          <a:xfrm>
            <a:off x="815975" y="1717675"/>
            <a:ext cx="5170170" cy="2330450"/>
          </a:xfrm>
          <a:prstGeom prst="roundRect">
            <a:avLst>
              <a:gd name="adj" fmla="val 4223"/>
            </a:avLst>
          </a:prstGeom>
          <a:solidFill>
            <a:srgbClr val="FFFFFF"/>
          </a:solidFill>
          <a:ln w="6350">
            <a:solidFill>
              <a:srgbClr val="D5DBE5"/>
            </a:solidFill>
            <a:prstDash val="solid"/>
          </a:ln>
        </p:spPr>
      </p:sp>
      <p:sp>
        <p:nvSpPr>
          <p:cNvPr id="5" name="Text 3"/>
          <p:cNvSpPr/>
          <p:nvPr/>
        </p:nvSpPr>
        <p:spPr>
          <a:xfrm>
            <a:off x="1071880" y="1973580"/>
            <a:ext cx="479811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8494"/>
                </a:solidFill>
                <a:latin typeface="Be Vietnam Pro" pitchFamily="34" charset="0"/>
                <a:ea typeface="Be Vietnam Pro" pitchFamily="34" charset="-122"/>
                <a:cs typeface="Be Vietnam Pro" pitchFamily="34" charset="-120"/>
              </a:rPr>
              <a:t>BỘ DỮ LIỆU HIỆN CÓ</a:t>
            </a:r>
            <a:endParaRPr lang="en-US" sz="1200" dirty="0"/>
          </a:p>
        </p:txBody>
      </p:sp>
      <p:sp>
        <p:nvSpPr>
          <p:cNvPr id="6" name="Text 4"/>
          <p:cNvSpPr/>
          <p:nvPr/>
        </p:nvSpPr>
        <p:spPr>
          <a:xfrm>
            <a:off x="1071880" y="2313941"/>
            <a:ext cx="479811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Be Vietnam Pro" pitchFamily="34" charset="0"/>
                <a:ea typeface="Be Vietnam Pro" pitchFamily="34" charset="-122"/>
                <a:cs typeface="Be Vietnam Pro" pitchFamily="34" charset="-120"/>
              </a:rPr>
              <a:t>CRAG, RAGTruth, RGB, HaluEval…</a:t>
            </a:r>
            <a:endParaRPr lang="en-US" sz="1800" dirty="0"/>
          </a:p>
        </p:txBody>
      </p:sp>
      <p:sp>
        <p:nvSpPr>
          <p:cNvPr id="7" name="Text 5"/>
          <p:cNvSpPr/>
          <p:nvPr/>
        </p:nvSpPr>
        <p:spPr>
          <a:xfrm>
            <a:off x="1156462" y="2715261"/>
            <a:ext cx="4705909" cy="8255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4A5568"/>
                </a:solidFill>
                <a:latin typeface="Be Vietnam Pro" pitchFamily="34" charset="0"/>
                <a:ea typeface="Be Vietnam Pro" pitchFamily="34" charset="-122"/>
                <a:cs typeface="Be Vietnam Pro" pitchFamily="34" charset="-120"/>
              </a:rPr>
              <a:t>Chủ yếu tiếng Anh</a:t>
            </a:r>
            <a:endParaRPr lang="en-US" sz="1400" dirty="0"/>
          </a:p>
          <a:p>
            <a:pPr algn="l" marL="169418" indent="-169418">
              <a:lnSpc>
                <a:spcPts val="2100"/>
              </a:lnSpc>
              <a:buSzPct val="100000"/>
              <a:buChar char="•"/>
            </a:pPr>
            <a:r>
              <a:rPr lang="en-US" sz="1400" dirty="0">
                <a:solidFill>
                  <a:srgbClr val="4A5568"/>
                </a:solidFill>
                <a:latin typeface="Be Vietnam Pro" pitchFamily="34" charset="0"/>
                <a:ea typeface="Be Vietnam Pro" pitchFamily="34" charset="-122"/>
                <a:cs typeface="Be Vietnam Pro" pitchFamily="34" charset="-120"/>
              </a:rPr>
              <a:t>Câu hỏi được xây dựng hoặc tuyển chọn sẵn</a:t>
            </a:r>
            <a:endParaRPr lang="en-US" sz="1400" dirty="0"/>
          </a:p>
          <a:p>
            <a:pPr algn="l" marL="169418" indent="-169418">
              <a:lnSpc>
                <a:spcPts val="2100"/>
              </a:lnSpc>
              <a:buSzPct val="100000"/>
              <a:buChar char="•"/>
            </a:pPr>
            <a:r>
              <a:rPr lang="en-US" sz="1400" dirty="0">
                <a:solidFill>
                  <a:srgbClr val="4A5568"/>
                </a:solidFill>
                <a:latin typeface="Be Vietnam Pro" pitchFamily="34" charset="0"/>
                <a:ea typeface="Be Vietnam Pro" pitchFamily="34" charset="-122"/>
                <a:cs typeface="Be Vietnam Pro" pitchFamily="34" charset="-120"/>
              </a:rPr>
              <a:t>Ngữ cảnh là đoạn văn sạch, đã chứa câu trả lời</a:t>
            </a:r>
            <a:endParaRPr lang="en-US" sz="1400" dirty="0"/>
          </a:p>
        </p:txBody>
      </p:sp>
      <p:sp>
        <p:nvSpPr>
          <p:cNvPr id="8" name="Shape 6"/>
          <p:cNvSpPr/>
          <p:nvPr/>
        </p:nvSpPr>
        <p:spPr>
          <a:xfrm>
            <a:off x="6198870" y="1720850"/>
            <a:ext cx="5173980" cy="2324100"/>
          </a:xfrm>
          <a:prstGeom prst="roundRect">
            <a:avLst>
              <a:gd name="adj" fmla="val 4098"/>
            </a:avLst>
          </a:prstGeom>
          <a:solidFill>
            <a:srgbClr val="FFFFFF"/>
          </a:solidFill>
          <a:ln w="12700">
            <a:solidFill>
              <a:srgbClr val="2F5BEA"/>
            </a:solidFill>
            <a:prstDash val="solid"/>
          </a:ln>
        </p:spPr>
      </p:sp>
      <p:sp>
        <p:nvSpPr>
          <p:cNvPr id="9" name="Text 7"/>
          <p:cNvSpPr/>
          <p:nvPr/>
        </p:nvSpPr>
        <p:spPr>
          <a:xfrm>
            <a:off x="6456680" y="1978661"/>
            <a:ext cx="479811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NGƯỜI DÙNG THẬT</a:t>
            </a:r>
            <a:endParaRPr lang="en-US" sz="1200" dirty="0"/>
          </a:p>
        </p:txBody>
      </p:sp>
      <p:sp>
        <p:nvSpPr>
          <p:cNvPr id="10" name="Text 8"/>
          <p:cNvSpPr/>
          <p:nvPr/>
        </p:nvSpPr>
        <p:spPr>
          <a:xfrm>
            <a:off x="6456680" y="2319020"/>
            <a:ext cx="479811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Be Vietnam Pro" pitchFamily="34" charset="0"/>
                <a:ea typeface="Be Vietnam Pro" pitchFamily="34" charset="-122"/>
                <a:cs typeface="Be Vietnam Pro" pitchFamily="34" charset="-120"/>
              </a:rPr>
              <a:t>Truy vấn thật + kết quả web thật</a:t>
            </a:r>
            <a:endParaRPr lang="en-US" sz="1800" dirty="0"/>
          </a:p>
        </p:txBody>
      </p:sp>
      <p:sp>
        <p:nvSpPr>
          <p:cNvPr id="11" name="Text 9"/>
          <p:cNvSpPr/>
          <p:nvPr/>
        </p:nvSpPr>
        <p:spPr>
          <a:xfrm>
            <a:off x="6541262" y="2720341"/>
            <a:ext cx="4705909"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4A5568"/>
                </a:solidFill>
                <a:latin typeface="Be Vietnam Pro" pitchFamily="34" charset="0"/>
                <a:ea typeface="Be Vietnam Pro" pitchFamily="34" charset="-122"/>
                <a:cs typeface="Be Vietnam Pro" pitchFamily="34" charset="-120"/>
              </a:rPr>
              <a:t>Câu hỏi ngắn, khẩu ngữ, có khi mơ hồ</a:t>
            </a:r>
            <a:endParaRPr lang="en-US" sz="1400" dirty="0"/>
          </a:p>
          <a:p>
            <a:pPr algn="l" marL="169418" indent="-169418">
              <a:lnSpc>
                <a:spcPts val="2100"/>
              </a:lnSpc>
              <a:buSzPct val="100000"/>
              <a:buChar char="•"/>
            </a:pPr>
            <a:r>
              <a:rPr lang="en-US" sz="1400" dirty="0">
                <a:solidFill>
                  <a:srgbClr val="4A5568"/>
                </a:solidFill>
                <a:latin typeface="Be Vietnam Pro" pitchFamily="34" charset="0"/>
                <a:ea typeface="Be Vietnam Pro" pitchFamily="34" charset="-122"/>
                <a:cs typeface="Be Vietnam Pro" pitchFamily="34" charset="-120"/>
              </a:rPr>
              <a:t>Trang web nguyên văn – có trang lạc đề, có trang thiếu</a:t>
            </a:r>
            <a:endParaRPr lang="en-US" sz="1400" dirty="0"/>
          </a:p>
          <a:p>
            <a:pPr algn="l" marL="169418" indent="-169418">
              <a:lnSpc>
                <a:spcPts val="2100"/>
              </a:lnSpc>
              <a:buSzPct val="100000"/>
              <a:buChar char="•"/>
            </a:pPr>
            <a:r>
              <a:rPr lang="en-US" sz="1400" dirty="0">
                <a:solidFill>
                  <a:srgbClr val="4A5568"/>
                </a:solidFill>
                <a:latin typeface="Be Vietnam Pro" pitchFamily="34" charset="0"/>
                <a:ea typeface="Be Vietnam Pro" pitchFamily="34" charset="-122"/>
                <a:cs typeface="Be Vietnam Pro" pitchFamily="34" charset="-120"/>
              </a:rPr>
              <a:t>Nhiều câu không thể trả lời đầy đủ từ tài liệu</a:t>
            </a:r>
            <a:endParaRPr lang="en-US" sz="1400" dirty="0"/>
          </a:p>
        </p:txBody>
      </p:sp>
      <p:sp>
        <p:nvSpPr>
          <p:cNvPr id="12" name="Shape 10"/>
          <p:cNvSpPr/>
          <p:nvPr/>
        </p:nvSpPr>
        <p:spPr>
          <a:xfrm>
            <a:off x="812800" y="4356100"/>
            <a:ext cx="10566400" cy="939800"/>
          </a:xfrm>
          <a:prstGeom prst="roundRect">
            <a:avLst>
              <a:gd name="adj" fmla="val 10811"/>
            </a:avLst>
          </a:prstGeom>
          <a:solidFill>
            <a:srgbClr val="14213D"/>
          </a:solidFill>
          <a:ln/>
        </p:spPr>
      </p:sp>
      <p:pic>
        <p:nvPicPr>
          <p:cNvPr id="13" name="Image 0" descr="Search">    </p:cNvPr>
          <p:cNvPicPr>
            <a:picLocks noChangeAspect="1"/>
          </p:cNvPicPr>
          <p:nvPr/>
        </p:nvPicPr>
        <p:blipFill>
          <a:blip r:embed="rId1"/>
          <a:srcRect l="0" r="0" t="0" b="0"/>
          <a:stretch/>
        </p:blipFill>
        <p:spPr>
          <a:xfrm>
            <a:off x="1066800" y="4648200"/>
            <a:ext cx="355600" cy="355600"/>
          </a:xfrm>
          <a:prstGeom prst="rect">
            <a:avLst/>
          </a:prstGeom>
        </p:spPr>
      </p:pic>
      <p:sp>
        <p:nvSpPr>
          <p:cNvPr id="14" name="Text 11"/>
          <p:cNvSpPr/>
          <p:nvPr/>
        </p:nvSpPr>
        <p:spPr>
          <a:xfrm>
            <a:off x="1600200" y="4559300"/>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Be Vietnam Pro" pitchFamily="34" charset="0"/>
                <a:ea typeface="Be Vietnam Pro" pitchFamily="34" charset="-122"/>
                <a:cs typeface="Be Vietnam Pro" pitchFamily="34" charset="-120"/>
              </a:rPr>
              <a:t>Tiếng Việt mới có tài nguyên kiểm chứng thông tin (ViFactCheck) và đọc hiểu (UIT-ViQuAD) – </a:t>
            </a:r>
            <a:r>
              <a:rPr lang="en-US" sz="1500" b="1" dirty="0">
                <a:solidFill>
                  <a:srgbClr val="F2B33D"/>
                </a:solidFill>
                <a:latin typeface="Be Vietnam Pro" pitchFamily="34" charset="0"/>
                <a:ea typeface="Be Vietnam Pro" pitchFamily="34" charset="-122"/>
                <a:cs typeface="Be Vietnam Pro" pitchFamily="34" charset="-120"/>
              </a:rPr>
              <a:t>chưa có bộ dữ liệu nào đánh giá tính trung thực của RAG.</a:t>
            </a:r>
            <a:endParaRPr lang="en-US" sz="1500" dirty="0"/>
          </a:p>
        </p:txBody>
      </p:sp>
      <p:sp>
        <p:nvSpPr>
          <p:cNvPr id="15" name="Text 12"/>
          <p:cNvSpPr/>
          <p:nvPr/>
        </p:nvSpPr>
        <p:spPr>
          <a:xfrm>
            <a:off x="812800" y="6238241"/>
            <a:ext cx="26771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a:t>
            </a:r>
            <a:endParaRPr lang="en-US" sz="1200" dirty="0"/>
          </a:p>
        </p:txBody>
      </p:sp>
      <p:sp>
        <p:nvSpPr>
          <p:cNvPr id="16" name="Text 13"/>
          <p:cNvSpPr/>
          <p:nvPr/>
        </p:nvSpPr>
        <p:spPr>
          <a:xfrm>
            <a:off x="11227753" y="6238241"/>
            <a:ext cx="15144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ĐỘNG LỰC · KHOẢNG TRỐNG</a:t>
            </a:r>
            <a:endParaRPr lang="en-US" sz="1200" dirty="0"/>
          </a:p>
        </p:txBody>
      </p:sp>
      <p:sp>
        <p:nvSpPr>
          <p:cNvPr id="3" name="Text 1"/>
          <p:cNvSpPr/>
          <p:nvPr>
            <p:ph type="title"/>
          </p:nvPr>
        </p:nvSpPr>
        <p:spPr>
          <a:xfrm>
            <a:off x="812800" y="1000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ViFaithRAG so với các bộ dữ liệu liên quan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99260"/>
          <a:ext cx="10556240" cy="2854960"/>
        </p:xfrm>
        <a:graphic>
          <a:graphicData uri="http://schemas.openxmlformats.org/drawingml/2006/table">
            <a:tbl>
              <a:tblPr/>
              <a:tblGrid>
                <a:gridCol w="1794561"/>
                <a:gridCol w="1266749"/>
                <a:gridCol w="2322373"/>
                <a:gridCol w="2322373"/>
                <a:gridCol w="1161186"/>
                <a:gridCol w="1688998"/>
              </a:tblGrid>
              <a:tr h="543560">
                <a:tc>
                  <a:txBody>
                    <a:bodyPr/>
                    <a:lstStyle/>
                    <a:p>
                      <a:pP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Bộ dữ liệu</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Ngôn ngữ</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Nguồn câu hỏi</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Ngữ cảnh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Nhãn phân cấp</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Đánh giá</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CRAG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Anh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Mẫu câu hỏi, người viết</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Web Brave; KG giả lập</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Không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Độ chính xác QA</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RAGTruth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Anh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Bộ có sẵn (MS MARCO…)</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Đoạn văn đã làm sạch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Không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Ảo giác mức từ</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HaluEval</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Anh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Bộ có sẵn; sinh tự động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Tùy tác vụ</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Không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Phát hiện ảo giác</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RGB</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Anh, Trung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Xây dựng từ tin tức</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Tin tức chèn nhiễu</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Nhị phân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Năng lực RAG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ViFactCheck</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Việt</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Mệnh đề do người viết</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Bài báo tuyển chọn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Không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Kiểm chứng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UIT-ViQuAD</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Việt</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Câu hỏi do người viết</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Đoạn Wikipedia</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Không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Đọc hiểu</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ViFaithRAG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0B7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0B7C8"/>
                      </a:solidFill>
                      <a:prstDash val="solid"/>
                      <a:round/>
                      <a:headEnd type="none" w="med" len="med"/>
                      <a:tailEnd type="none" w="med" len="med"/>
                    </a:lnB>
                    <a:solidFill>
                      <a:srgbClr val="DCE5FB"/>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Việt</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0B7C8"/>
                      </a:solidFill>
                      <a:prstDash val="solid"/>
                      <a:round/>
                      <a:headEnd type="none" w="med" len="med"/>
                      <a:tailEnd type="none" w="med" len="med"/>
                    </a:lnL>
                    <a:lnR w="12700" cap="flat" cmpd="sng" algn="ctr">
                      <a:solidFill>
                        <a:srgbClr val="B0B7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0B7C8"/>
                      </a:solidFill>
                      <a:prstDash val="solid"/>
                      <a:round/>
                      <a:headEnd type="none" w="med" len="med"/>
                      <a:tailEnd type="none" w="med" len="med"/>
                    </a:lnB>
                    <a:solidFill>
                      <a:srgbClr val="DCE5FB"/>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Truy vấn thực</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0B7C8"/>
                      </a:solidFill>
                      <a:prstDash val="solid"/>
                      <a:round/>
                      <a:headEnd type="none" w="med" len="med"/>
                      <a:tailEnd type="none" w="med" len="med"/>
                    </a:lnL>
                    <a:lnR w="12700" cap="flat" cmpd="sng" algn="ctr">
                      <a:solidFill>
                        <a:srgbClr val="B0B7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0B7C8"/>
                      </a:solidFill>
                      <a:prstDash val="solid"/>
                      <a:round/>
                      <a:headEnd type="none" w="med" len="med"/>
                      <a:tailEnd type="none" w="med" len="med"/>
                    </a:lnB>
                    <a:solidFill>
                      <a:srgbClr val="DCE5FB"/>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3 trang toàn văn, không lọc</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0B7C8"/>
                      </a:solidFill>
                      <a:prstDash val="solid"/>
                      <a:round/>
                      <a:headEnd type="none" w="med" len="med"/>
                      <a:tailEnd type="none" w="med" len="med"/>
                    </a:lnL>
                    <a:lnR w="12700" cap="flat" cmpd="sng" algn="ctr">
                      <a:solidFill>
                        <a:srgbClr val="B0B7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0B7C8"/>
                      </a:solidFill>
                      <a:prstDash val="solid"/>
                      <a:round/>
                      <a:headEnd type="none" w="med" len="med"/>
                      <a:tailEnd type="none" w="med" len="med"/>
                    </a:lnB>
                    <a:solidFill>
                      <a:srgbClr val="DCE5FB"/>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4 lớp</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0B7C8"/>
                      </a:solidFill>
                      <a:prstDash val="solid"/>
                      <a:round/>
                      <a:headEnd type="none" w="med" len="med"/>
                      <a:tailEnd type="none" w="med" len="med"/>
                    </a:lnL>
                    <a:lnR w="12700" cap="flat" cmpd="sng" algn="ctr">
                      <a:solidFill>
                        <a:srgbClr val="B0B7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0B7C8"/>
                      </a:solidFill>
                      <a:prstDash val="solid"/>
                      <a:round/>
                      <a:headEnd type="none" w="med" len="med"/>
                      <a:tailEnd type="none" w="med" len="med"/>
                    </a:lnB>
                    <a:solidFill>
                      <a:srgbClr val="DCE5FB"/>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Trung thực + từ chối</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0B7C8"/>
                      </a:solidFill>
                      <a:prstDash val="solid"/>
                      <a:round/>
                      <a:headEnd type="none" w="med" len="med"/>
                      <a:tailEnd type="none" w="med" len="med"/>
                    </a:lnL>
                    <a:lnR w="12700" cap="flat" cmpd="sng" algn="ctr">
                      <a:solidFill>
                        <a:srgbClr val="B0B7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0B7C8"/>
                      </a:solidFill>
                      <a:prstDash val="solid"/>
                      <a:round/>
                      <a:headEnd type="none" w="med" len="med"/>
                      <a:tailEnd type="none" w="med" len="med"/>
                    </a:lnB>
                    <a:solidFill>
                      <a:srgbClr val="DCE5FB"/>
                    </a:solidFill>
                  </a:tcPr>
                </a:tc>
              </a:tr>
            </a:tbl>
          </a:graphicData>
        </a:graphic>
      </p:graphicFrame>
      <p:sp>
        <p:nvSpPr>
          <p:cNvPr id="5" name="Text 2"/>
          <p:cNvSpPr/>
          <p:nvPr/>
        </p:nvSpPr>
        <p:spPr>
          <a:xfrm>
            <a:off x="812800" y="6238239"/>
            <a:ext cx="48693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Bảng 2.1 trong luận văn</a:t>
            </a:r>
            <a:endParaRPr lang="en-US" sz="1200" dirty="0"/>
          </a:p>
        </p:txBody>
      </p:sp>
      <p:sp>
        <p:nvSpPr>
          <p:cNvPr id="6" name="Text 3"/>
          <p:cNvSpPr/>
          <p:nvPr/>
        </p:nvSpPr>
        <p:spPr>
          <a:xfrm>
            <a:off x="11220133" y="6238239"/>
            <a:ext cx="15906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ĐỘNG LỰC</a:t>
            </a:r>
            <a:endParaRPr lang="en-US" sz="1200" dirty="0"/>
          </a:p>
        </p:txBody>
      </p:sp>
      <p:sp>
        <p:nvSpPr>
          <p:cNvPr id="3" name="Text 1"/>
          <p:cNvSpPr/>
          <p:nvPr>
            <p:ph type="title"/>
          </p:nvPr>
        </p:nvSpPr>
        <p:spPr>
          <a:xfrm>
            <a:off x="812800" y="1000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Bốn câu hỏi nghiên cứu, ba đóng góp</a:t>
            </a:r>
            <a:endParaRPr lang="en-US" sz="2800" dirty="0"/>
          </a:p>
        </p:txBody>
      </p:sp>
      <p:sp>
        <p:nvSpPr>
          <p:cNvPr id="4" name="Text 2"/>
          <p:cNvSpPr/>
          <p:nvPr/>
        </p:nvSpPr>
        <p:spPr>
          <a:xfrm>
            <a:off x="812800" y="171450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8494"/>
                </a:solidFill>
                <a:latin typeface="Be Vietnam Pro" pitchFamily="34" charset="0"/>
                <a:ea typeface="Be Vietnam Pro" pitchFamily="34" charset="-122"/>
                <a:cs typeface="Be Vietnam Pro" pitchFamily="34" charset="-120"/>
              </a:rPr>
              <a:t>CÂU HỎI NGHIÊN CỨU</a:t>
            </a:r>
            <a:endParaRPr lang="en-US" sz="1200" dirty="0"/>
          </a:p>
        </p:txBody>
      </p:sp>
      <p:sp>
        <p:nvSpPr>
          <p:cNvPr id="5" name="Shape 3"/>
          <p:cNvSpPr/>
          <p:nvPr/>
        </p:nvSpPr>
        <p:spPr>
          <a:xfrm>
            <a:off x="815975" y="2032636"/>
            <a:ext cx="5124450" cy="763270"/>
          </a:xfrm>
          <a:prstGeom prst="roundRect">
            <a:avLst>
              <a:gd name="adj" fmla="val 11231"/>
            </a:avLst>
          </a:prstGeom>
          <a:solidFill>
            <a:srgbClr val="FFFFFF"/>
          </a:solidFill>
          <a:ln w="6350">
            <a:solidFill>
              <a:srgbClr val="D5DBE5"/>
            </a:solidFill>
            <a:prstDash val="solid"/>
          </a:ln>
        </p:spPr>
      </p:sp>
      <p:sp>
        <p:nvSpPr>
          <p:cNvPr id="6" name="Text 4"/>
          <p:cNvSpPr/>
          <p:nvPr/>
        </p:nvSpPr>
        <p:spPr>
          <a:xfrm>
            <a:off x="995680" y="2269489"/>
            <a:ext cx="473075" cy="289560"/>
          </a:xfrm>
          <a:prstGeom prst="roundRect">
            <a:avLst>
              <a:gd name="adj" fmla="val 17544"/>
            </a:avLst>
          </a:prstGeom>
          <a:solidFill>
            <a:srgbClr val="2F5BEA"/>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RQ1</a:t>
            </a:r>
            <a:endParaRPr lang="en-US" sz="1200" dirty="0"/>
          </a:p>
        </p:txBody>
      </p:sp>
      <p:sp>
        <p:nvSpPr>
          <p:cNvPr id="7" name="Text 5"/>
          <p:cNvSpPr/>
          <p:nvPr/>
        </p:nvSpPr>
        <p:spPr>
          <a:xfrm>
            <a:off x="1595755" y="2174239"/>
            <a:ext cx="428991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2A3B"/>
                </a:solidFill>
                <a:latin typeface="Be Vietnam Pro" pitchFamily="34" charset="0"/>
                <a:ea typeface="Be Vietnam Pro" pitchFamily="34" charset="-122"/>
                <a:cs typeface="Be Vietnam Pro" pitchFamily="34" charset="-120"/>
              </a:rPr>
              <a:t>Xây dựng dữ liệu thực tế mà vẫn tin cậy như thế nào?</a:t>
            </a:r>
            <a:endParaRPr lang="en-US" sz="1400" dirty="0"/>
          </a:p>
        </p:txBody>
      </p:sp>
      <p:sp>
        <p:nvSpPr>
          <p:cNvPr id="8" name="Shape 6"/>
          <p:cNvSpPr/>
          <p:nvPr/>
        </p:nvSpPr>
        <p:spPr>
          <a:xfrm>
            <a:off x="815975" y="2903857"/>
            <a:ext cx="5124450" cy="572770"/>
          </a:xfrm>
          <a:prstGeom prst="roundRect">
            <a:avLst>
              <a:gd name="adj" fmla="val 14967"/>
            </a:avLst>
          </a:prstGeom>
          <a:solidFill>
            <a:srgbClr val="FFFFFF"/>
          </a:solidFill>
          <a:ln w="6350">
            <a:solidFill>
              <a:srgbClr val="D5DBE5"/>
            </a:solidFill>
            <a:prstDash val="solid"/>
          </a:ln>
        </p:spPr>
      </p:sp>
      <p:sp>
        <p:nvSpPr>
          <p:cNvPr id="9" name="Text 7"/>
          <p:cNvSpPr/>
          <p:nvPr/>
        </p:nvSpPr>
        <p:spPr>
          <a:xfrm>
            <a:off x="995680" y="3045461"/>
            <a:ext cx="508556" cy="289560"/>
          </a:xfrm>
          <a:prstGeom prst="roundRect">
            <a:avLst>
              <a:gd name="adj" fmla="val 17544"/>
            </a:avLst>
          </a:prstGeom>
          <a:solidFill>
            <a:srgbClr val="2F5BEA"/>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RQ2</a:t>
            </a:r>
            <a:endParaRPr lang="en-US" sz="1200" dirty="0"/>
          </a:p>
        </p:txBody>
      </p:sp>
      <p:sp>
        <p:nvSpPr>
          <p:cNvPr id="10" name="Text 8"/>
          <p:cNvSpPr/>
          <p:nvPr/>
        </p:nvSpPr>
        <p:spPr>
          <a:xfrm>
            <a:off x="1631236" y="3070225"/>
            <a:ext cx="425336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2A3B"/>
                </a:solidFill>
                <a:latin typeface="Be Vietnam Pro" pitchFamily="34" charset="0"/>
                <a:ea typeface="Be Vietnam Pro" pitchFamily="34" charset="-122"/>
                <a:cs typeface="Be Vietnam Pro" pitchFamily="34" charset="-120"/>
              </a:rPr>
              <a:t>Truy xuất thực tế không đủ đến mức nào?</a:t>
            </a:r>
            <a:endParaRPr lang="en-US" sz="1400" dirty="0"/>
          </a:p>
        </p:txBody>
      </p:sp>
      <p:sp>
        <p:nvSpPr>
          <p:cNvPr id="11" name="Shape 9"/>
          <p:cNvSpPr/>
          <p:nvPr/>
        </p:nvSpPr>
        <p:spPr>
          <a:xfrm>
            <a:off x="815975" y="3584575"/>
            <a:ext cx="5124450" cy="763270"/>
          </a:xfrm>
          <a:prstGeom prst="roundRect">
            <a:avLst>
              <a:gd name="adj" fmla="val 11231"/>
            </a:avLst>
          </a:prstGeom>
          <a:solidFill>
            <a:srgbClr val="FFFFFF"/>
          </a:solidFill>
          <a:ln w="6350">
            <a:solidFill>
              <a:srgbClr val="D5DBE5"/>
            </a:solidFill>
            <a:prstDash val="solid"/>
          </a:ln>
        </p:spPr>
      </p:sp>
      <p:sp>
        <p:nvSpPr>
          <p:cNvPr id="12" name="Text 10"/>
          <p:cNvSpPr/>
          <p:nvPr/>
        </p:nvSpPr>
        <p:spPr>
          <a:xfrm>
            <a:off x="995680" y="3821432"/>
            <a:ext cx="511016" cy="289560"/>
          </a:xfrm>
          <a:prstGeom prst="roundRect">
            <a:avLst>
              <a:gd name="adj" fmla="val 17544"/>
            </a:avLst>
          </a:prstGeom>
          <a:solidFill>
            <a:srgbClr val="2F5BEA"/>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RQ3</a:t>
            </a:r>
            <a:endParaRPr lang="en-US" sz="1200" dirty="0"/>
          </a:p>
        </p:txBody>
      </p:sp>
      <p:sp>
        <p:nvSpPr>
          <p:cNvPr id="13" name="Text 11"/>
          <p:cNvSpPr/>
          <p:nvPr/>
        </p:nvSpPr>
        <p:spPr>
          <a:xfrm>
            <a:off x="1633696" y="3726182"/>
            <a:ext cx="425083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2A3B"/>
                </a:solidFill>
                <a:latin typeface="Be Vietnam Pro" pitchFamily="34" charset="0"/>
                <a:ea typeface="Be Vietnam Pro" pitchFamily="34" charset="-122"/>
                <a:cs typeface="Be Vietnam Pro" pitchFamily="34" charset="-120"/>
              </a:rPr>
              <a:t>Đánh giá tính trung thực của câu trả lời RAG như thế nào?</a:t>
            </a:r>
            <a:endParaRPr lang="en-US" sz="1400" dirty="0"/>
          </a:p>
        </p:txBody>
      </p:sp>
      <p:sp>
        <p:nvSpPr>
          <p:cNvPr id="14" name="Shape 12"/>
          <p:cNvSpPr/>
          <p:nvPr/>
        </p:nvSpPr>
        <p:spPr>
          <a:xfrm>
            <a:off x="815975" y="4455796"/>
            <a:ext cx="5124450" cy="763270"/>
          </a:xfrm>
          <a:prstGeom prst="roundRect">
            <a:avLst>
              <a:gd name="adj" fmla="val 11231"/>
            </a:avLst>
          </a:prstGeom>
          <a:solidFill>
            <a:srgbClr val="FFFFFF"/>
          </a:solidFill>
          <a:ln w="6350">
            <a:solidFill>
              <a:srgbClr val="D5DBE5"/>
            </a:solidFill>
            <a:prstDash val="solid"/>
          </a:ln>
        </p:spPr>
      </p:sp>
      <p:sp>
        <p:nvSpPr>
          <p:cNvPr id="15" name="Text 13"/>
          <p:cNvSpPr/>
          <p:nvPr/>
        </p:nvSpPr>
        <p:spPr>
          <a:xfrm>
            <a:off x="995680" y="4692650"/>
            <a:ext cx="517049" cy="289560"/>
          </a:xfrm>
          <a:prstGeom prst="roundRect">
            <a:avLst>
              <a:gd name="adj" fmla="val 17544"/>
            </a:avLst>
          </a:prstGeom>
          <a:solidFill>
            <a:srgbClr val="2F5BEA"/>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RQ4</a:t>
            </a:r>
            <a:endParaRPr lang="en-US" sz="1200" dirty="0"/>
          </a:p>
        </p:txBody>
      </p:sp>
      <p:sp>
        <p:nvSpPr>
          <p:cNvPr id="16" name="Text 14"/>
          <p:cNvSpPr/>
          <p:nvPr/>
        </p:nvSpPr>
        <p:spPr>
          <a:xfrm>
            <a:off x="1639729" y="4597400"/>
            <a:ext cx="424462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2A3B"/>
                </a:solidFill>
                <a:latin typeface="Be Vietnam Pro" pitchFamily="34" charset="0"/>
                <a:ea typeface="Be Vietnam Pro" pitchFamily="34" charset="-122"/>
                <a:cs typeface="Be Vietnam Pro" pitchFamily="34" charset="-120"/>
              </a:rPr>
              <a:t>LLM mã nguồn mở hành xử ra sao trên dữ liệu này?</a:t>
            </a:r>
            <a:endParaRPr lang="en-US" sz="1400" dirty="0"/>
          </a:p>
        </p:txBody>
      </p:sp>
      <p:sp>
        <p:nvSpPr>
          <p:cNvPr id="17" name="Text 15"/>
          <p:cNvSpPr/>
          <p:nvPr/>
        </p:nvSpPr>
        <p:spPr>
          <a:xfrm>
            <a:off x="6248400" y="171450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8494"/>
                </a:solidFill>
                <a:latin typeface="Be Vietnam Pro" pitchFamily="34" charset="0"/>
                <a:ea typeface="Be Vietnam Pro" pitchFamily="34" charset="-122"/>
                <a:cs typeface="Be Vietnam Pro" pitchFamily="34" charset="-120"/>
              </a:rPr>
              <a:t>ĐÓNG GÓP</a:t>
            </a:r>
            <a:endParaRPr lang="en-US" sz="1200" dirty="0"/>
          </a:p>
        </p:txBody>
      </p:sp>
      <p:sp>
        <p:nvSpPr>
          <p:cNvPr id="18" name="Shape 16"/>
          <p:cNvSpPr/>
          <p:nvPr/>
        </p:nvSpPr>
        <p:spPr>
          <a:xfrm>
            <a:off x="6248400" y="2029461"/>
            <a:ext cx="5130800" cy="1087120"/>
          </a:xfrm>
          <a:prstGeom prst="roundRect">
            <a:avLst>
              <a:gd name="adj" fmla="val 8178"/>
            </a:avLst>
          </a:prstGeom>
          <a:solidFill>
            <a:srgbClr val="14213D"/>
          </a:solidFill>
          <a:ln/>
        </p:spPr>
      </p:sp>
      <p:sp>
        <p:nvSpPr>
          <p:cNvPr id="19" name="Text 17"/>
          <p:cNvSpPr/>
          <p:nvPr/>
        </p:nvSpPr>
        <p:spPr>
          <a:xfrm>
            <a:off x="6451600" y="2194561"/>
            <a:ext cx="486613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Be Vietnam Pro" pitchFamily="34" charset="0"/>
                <a:ea typeface="Be Vietnam Pro" pitchFamily="34" charset="-122"/>
                <a:cs typeface="Be Vietnam Pro" pitchFamily="34" charset="-120"/>
              </a:rPr>
              <a:t>① Bộ dữ liệu ViFaithRAG</a:t>
            </a:r>
            <a:endParaRPr lang="en-US" sz="1600" dirty="0"/>
          </a:p>
        </p:txBody>
      </p:sp>
      <p:sp>
        <p:nvSpPr>
          <p:cNvPr id="20" name="Text 18"/>
          <p:cNvSpPr/>
          <p:nvPr/>
        </p:nvSpPr>
        <p:spPr>
          <a:xfrm>
            <a:off x="6451600" y="2489200"/>
            <a:ext cx="486613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BE0"/>
                </a:solidFill>
                <a:latin typeface="Be Vietnam Pro" pitchFamily="34" charset="0"/>
                <a:ea typeface="Be Vietnam Pro" pitchFamily="34" charset="-122"/>
                <a:cs typeface="Be Vietnam Pro" pitchFamily="34" charset="-120"/>
              </a:rPr>
              <a:t>4.117 truy vấn thực · 12.351 trang web · nhãn khả năng trả lời 4 lớp</a:t>
            </a:r>
            <a:endParaRPr lang="en-US" sz="1300" dirty="0"/>
          </a:p>
        </p:txBody>
      </p:sp>
      <p:sp>
        <p:nvSpPr>
          <p:cNvPr id="21" name="Shape 19"/>
          <p:cNvSpPr/>
          <p:nvPr/>
        </p:nvSpPr>
        <p:spPr>
          <a:xfrm>
            <a:off x="6248400" y="3218182"/>
            <a:ext cx="5130800" cy="855980"/>
          </a:xfrm>
          <a:prstGeom prst="roundRect">
            <a:avLst>
              <a:gd name="adj" fmla="val 10386"/>
            </a:avLst>
          </a:prstGeom>
          <a:solidFill>
            <a:srgbClr val="14213D"/>
          </a:solidFill>
          <a:ln/>
        </p:spPr>
      </p:sp>
      <p:sp>
        <p:nvSpPr>
          <p:cNvPr id="22" name="Text 20"/>
          <p:cNvSpPr/>
          <p:nvPr/>
        </p:nvSpPr>
        <p:spPr>
          <a:xfrm>
            <a:off x="6451600" y="3383282"/>
            <a:ext cx="486613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Be Vietnam Pro" pitchFamily="34" charset="0"/>
                <a:ea typeface="Be Vietnam Pro" pitchFamily="34" charset="-122"/>
                <a:cs typeface="Be Vietnam Pro" pitchFamily="34" charset="-120"/>
              </a:rPr>
              <a:t>② Quy trình xây dựng</a:t>
            </a:r>
            <a:endParaRPr lang="en-US" sz="1600" dirty="0"/>
          </a:p>
        </p:txBody>
      </p:sp>
      <p:sp>
        <p:nvSpPr>
          <p:cNvPr id="23" name="Text 21"/>
          <p:cNvSpPr/>
          <p:nvPr/>
        </p:nvSpPr>
        <p:spPr>
          <a:xfrm>
            <a:off x="6451600" y="3677921"/>
            <a:ext cx="48661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BE0"/>
                </a:solidFill>
                <a:latin typeface="Be Vietnam Pro" pitchFamily="34" charset="0"/>
                <a:ea typeface="Be Vietnam Pro" pitchFamily="34" charset="-122"/>
                <a:cs typeface="Be Vietnam Pro" pitchFamily="34" charset="-120"/>
              </a:rPr>
              <a:t>LLM hỗ trợ, con người quyết định · κ = 0,744 (4 lớp)</a:t>
            </a:r>
            <a:endParaRPr lang="en-US" sz="1300" dirty="0"/>
          </a:p>
        </p:txBody>
      </p:sp>
      <p:sp>
        <p:nvSpPr>
          <p:cNvPr id="24" name="Shape 22"/>
          <p:cNvSpPr/>
          <p:nvPr/>
        </p:nvSpPr>
        <p:spPr>
          <a:xfrm>
            <a:off x="6248400" y="4175761"/>
            <a:ext cx="5130800" cy="1087120"/>
          </a:xfrm>
          <a:prstGeom prst="roundRect">
            <a:avLst>
              <a:gd name="adj" fmla="val 8178"/>
            </a:avLst>
          </a:prstGeom>
          <a:solidFill>
            <a:srgbClr val="14213D"/>
          </a:solidFill>
          <a:ln/>
        </p:spPr>
      </p:sp>
      <p:sp>
        <p:nvSpPr>
          <p:cNvPr id="25" name="Text 23"/>
          <p:cNvSpPr/>
          <p:nvPr/>
        </p:nvSpPr>
        <p:spPr>
          <a:xfrm>
            <a:off x="6451600" y="4340861"/>
            <a:ext cx="486613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Be Vietnam Pro" pitchFamily="34" charset="0"/>
                <a:ea typeface="Be Vietnam Pro" pitchFamily="34" charset="-122"/>
                <a:cs typeface="Be Vietnam Pro" pitchFamily="34" charset="-120"/>
              </a:rPr>
              <a:t>③ Khung đánh giá + kết quả</a:t>
            </a:r>
            <a:endParaRPr lang="en-US" sz="1600" dirty="0"/>
          </a:p>
        </p:txBody>
      </p:sp>
      <p:sp>
        <p:nvSpPr>
          <p:cNvPr id="26" name="Text 24"/>
          <p:cNvSpPr/>
          <p:nvPr/>
        </p:nvSpPr>
        <p:spPr>
          <a:xfrm>
            <a:off x="6451600" y="4635500"/>
            <a:ext cx="486613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BE0"/>
                </a:solidFill>
                <a:latin typeface="Be Vietnam Pro" pitchFamily="34" charset="0"/>
                <a:ea typeface="Be Vietnam Pro" pitchFamily="34" charset="-122"/>
                <a:cs typeface="Be Vietnam Pro" pitchFamily="34" charset="-120"/>
              </a:rPr>
              <a:t>Tách chất lượng câu trả lời và hành vi tại biên bằng chứng · 4 LLM</a:t>
            </a:r>
            <a:endParaRPr lang="en-US" sz="1300" dirty="0"/>
          </a:p>
        </p:txBody>
      </p:sp>
      <p:sp>
        <p:nvSpPr>
          <p:cNvPr id="27" name="Text 25"/>
          <p:cNvSpPr/>
          <p:nvPr/>
        </p:nvSpPr>
        <p:spPr>
          <a:xfrm>
            <a:off x="812800" y="6238239"/>
            <a:ext cx="26771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a:t>
            </a:r>
            <a:endParaRPr lang="en-US" sz="1200" dirty="0"/>
          </a:p>
        </p:txBody>
      </p:sp>
      <p:sp>
        <p:nvSpPr>
          <p:cNvPr id="28" name="Text 26"/>
          <p:cNvSpPr/>
          <p:nvPr/>
        </p:nvSpPr>
        <p:spPr>
          <a:xfrm>
            <a:off x="11227753" y="6238239"/>
            <a:ext cx="15144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BỘ DỮ LIỆU · ID 080392B5… · OPEN_DOMAIN</a:t>
            </a:r>
            <a:endParaRPr lang="en-US" sz="1200" dirty="0"/>
          </a:p>
        </p:txBody>
      </p:sp>
      <p:sp>
        <p:nvSpPr>
          <p:cNvPr id="3" name="Text 1"/>
          <p:cNvSpPr/>
          <p:nvPr>
            <p:ph type="title"/>
          </p:nvPr>
        </p:nvSpPr>
        <p:spPr>
          <a:xfrm>
            <a:off x="812800" y="1000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Một bản ghi ViFaithRAG</a:t>
            </a:r>
            <a:endParaRPr lang="en-US" sz="2800" dirty="0"/>
          </a:p>
        </p:txBody>
      </p:sp>
      <p:sp>
        <p:nvSpPr>
          <p:cNvPr id="4" name="Shape 2"/>
          <p:cNvSpPr/>
          <p:nvPr/>
        </p:nvSpPr>
        <p:spPr>
          <a:xfrm>
            <a:off x="812800" y="1536700"/>
            <a:ext cx="10566400" cy="477520"/>
          </a:xfrm>
          <a:prstGeom prst="roundRect">
            <a:avLst>
              <a:gd name="adj" fmla="val 18617"/>
            </a:avLst>
          </a:prstGeom>
          <a:solidFill>
            <a:srgbClr val="14213D"/>
          </a:solidFill>
          <a:ln/>
        </p:spPr>
      </p:sp>
      <p:sp>
        <p:nvSpPr>
          <p:cNvPr id="5" name="Text 3"/>
          <p:cNvSpPr/>
          <p:nvPr/>
        </p:nvSpPr>
        <p:spPr>
          <a:xfrm>
            <a:off x="990600" y="1668782"/>
            <a:ext cx="54873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B4FF"/>
                </a:solidFill>
                <a:latin typeface="Courier New" pitchFamily="49" charset="0"/>
                <a:ea typeface="Courier New" pitchFamily="49" charset="-122"/>
                <a:cs typeface="Courier New" pitchFamily="49" charset="-120"/>
              </a:rPr>
              <a:t>query</a:t>
            </a:r>
            <a:endParaRPr lang="en-US" sz="1200" dirty="0"/>
          </a:p>
        </p:txBody>
      </p:sp>
      <p:sp>
        <p:nvSpPr>
          <p:cNvPr id="6" name="Text 4"/>
          <p:cNvSpPr/>
          <p:nvPr/>
        </p:nvSpPr>
        <p:spPr>
          <a:xfrm>
            <a:off x="1600279" y="1651000"/>
            <a:ext cx="9889155"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F7F6F2"/>
                </a:solidFill>
                <a:latin typeface="Be Vietnam Pro" pitchFamily="34" charset="0"/>
                <a:ea typeface="Be Vietnam Pro" pitchFamily="34" charset="-122"/>
                <a:cs typeface="Be Vietnam Pro" pitchFamily="34" charset="-120"/>
              </a:rPr>
              <a:t>“lần cuối cùng manchester united giành được một chiếc cúp danh giá là khi nào?”</a:t>
            </a:r>
            <a:endParaRPr lang="en-US" sz="1400" dirty="0"/>
          </a:p>
        </p:txBody>
      </p:sp>
      <p:sp>
        <p:nvSpPr>
          <p:cNvPr id="7" name="Shape 5"/>
          <p:cNvSpPr/>
          <p:nvPr/>
        </p:nvSpPr>
        <p:spPr>
          <a:xfrm>
            <a:off x="822325" y="2150746"/>
            <a:ext cx="3415030" cy="1477010"/>
          </a:xfrm>
          <a:prstGeom prst="roundRect">
            <a:avLst>
              <a:gd name="adj" fmla="val 5374"/>
            </a:avLst>
          </a:prstGeom>
          <a:solidFill>
            <a:srgbClr val="FFFFFF"/>
          </a:solidFill>
          <a:ln w="19050">
            <a:solidFill>
              <a:srgbClr val="2F7D62"/>
            </a:solidFill>
            <a:prstDash val="solid"/>
          </a:ln>
        </p:spPr>
      </p:sp>
      <p:sp>
        <p:nvSpPr>
          <p:cNvPr id="8" name="Text 6"/>
          <p:cNvSpPr/>
          <p:nvPr/>
        </p:nvSpPr>
        <p:spPr>
          <a:xfrm>
            <a:off x="967740" y="2283461"/>
            <a:ext cx="118643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8494"/>
                </a:solidFill>
                <a:latin typeface="Be Vietnam Pro" pitchFamily="34" charset="0"/>
                <a:ea typeface="Be Vietnam Pro" pitchFamily="34" charset="-122"/>
                <a:cs typeface="Be Vietnam Pro" pitchFamily="34" charset="-120"/>
              </a:rPr>
              <a:t>Doc 1 · plo.vn</a:t>
            </a:r>
            <a:endParaRPr lang="en-US" sz="1200" dirty="0"/>
          </a:p>
        </p:txBody>
      </p:sp>
      <p:sp>
        <p:nvSpPr>
          <p:cNvPr id="9" name="Text 7"/>
          <p:cNvSpPr/>
          <p:nvPr/>
        </p:nvSpPr>
        <p:spPr>
          <a:xfrm>
            <a:off x="3460195" y="2270761"/>
            <a:ext cx="631746" cy="238760"/>
          </a:xfrm>
          <a:prstGeom prst="roundRect">
            <a:avLst>
              <a:gd name="adj" fmla="val 21277"/>
            </a:avLst>
          </a:prstGeom>
          <a:solidFill>
            <a:srgbClr val="2F7D62"/>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Hỗ trợ</a:t>
            </a:r>
            <a:endParaRPr lang="en-US" sz="1200" dirty="0"/>
          </a:p>
        </p:txBody>
      </p:sp>
      <p:sp>
        <p:nvSpPr>
          <p:cNvPr id="10" name="Text 8"/>
          <p:cNvSpPr/>
          <p:nvPr/>
        </p:nvSpPr>
        <p:spPr>
          <a:xfrm>
            <a:off x="967740" y="2560321"/>
            <a:ext cx="3217926"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Be Vietnam Pro" pitchFamily="34" charset="0"/>
                <a:ea typeface="Be Vietnam Pro" pitchFamily="34" charset="-122"/>
                <a:cs typeface="Be Vietnam Pro" pitchFamily="34" charset="-120"/>
              </a:rPr>
              <a:t>Thảm họa ở Manchester United</a:t>
            </a:r>
            <a:endParaRPr lang="en-US" sz="1200" dirty="0"/>
          </a:p>
        </p:txBody>
      </p:sp>
      <p:sp>
        <p:nvSpPr>
          <p:cNvPr id="11" name="Text 9"/>
          <p:cNvSpPr/>
          <p:nvPr/>
        </p:nvSpPr>
        <p:spPr>
          <a:xfrm>
            <a:off x="967740" y="2816861"/>
            <a:ext cx="3124200" cy="690880"/>
          </a:xfrm>
          <a:custGeom>
            <a:avLst/>
            <a:gdLst/>
            <a:ahLst/>
            <a:cxnLst/>
            <a:rect l="l" t="t" r="r" b="b"/>
            <a:pathLst>
              <a:path w="3124200" h="690880">
                <a:moveTo>
                  <a:pt x="38100" y="0"/>
                </a:moveTo>
                <a:lnTo>
                  <a:pt x="3086100" y="0"/>
                </a:lnTo>
                <a:arcTo hR="38100" wR="38100" stAng="16200000" swAng="5400000"/>
                <a:lnTo>
                  <a:pt x="3124200" y="652780"/>
                </a:lnTo>
                <a:arcTo hR="38100" wR="38100" stAng="0" swAng="5400000"/>
                <a:lnTo>
                  <a:pt x="38100" y="690880"/>
                </a:lnTo>
                <a:arcTo hR="38100" wR="38100" stAng="5400000" swAng="5400000"/>
                <a:lnTo>
                  <a:pt x="0" y="38100"/>
                </a:lnTo>
                <a:arcTo hR="38100" wR="38100" stAng="10800000" swAng="5400000"/>
                <a:close/>
              </a:path>
            </a:pathLst>
          </a:custGeom>
          <a:solidFill>
            <a:srgbClr val="E3F1EA"/>
          </a:solidFill>
          <a:ln/>
        </p:spPr>
        <p:txBody>
          <a:bodyPr wrap="square" lIns="50800" tIns="25400" rIns="0" bIns="0" rtlCol="0" anchor="t">
            <a:normAutofit/>
          </a:bodyPr>
          <a:lstStyle/>
          <a:p>
            <a:pPr algn="l" indent="0" marL="0">
              <a:lnSpc>
                <a:spcPts val="1680"/>
              </a:lnSpc>
              <a:buNone/>
            </a:pPr>
            <a:r>
              <a:rPr lang="en-US" sz="1200" i="1" dirty="0">
                <a:solidFill>
                  <a:srgbClr val="14213D"/>
                </a:solidFill>
                <a:latin typeface="Be Vietnam Pro" pitchFamily="34" charset="0"/>
                <a:ea typeface="Be Vietnam Pro" pitchFamily="34" charset="-122"/>
                <a:cs typeface="Be Vietnam Pro" pitchFamily="34" charset="-120"/>
              </a:rPr>
              <a:t>“Ngày 24-5-2017 là lần cuối cùng Manchester United giành được một danh hiệu lớn.”</a:t>
            </a:r>
            <a:endParaRPr lang="en-US" sz="1200" dirty="0"/>
          </a:p>
        </p:txBody>
      </p:sp>
      <p:sp>
        <p:nvSpPr>
          <p:cNvPr id="12" name="Shape 10"/>
          <p:cNvSpPr/>
          <p:nvPr/>
        </p:nvSpPr>
        <p:spPr>
          <a:xfrm>
            <a:off x="4402455" y="2144396"/>
            <a:ext cx="3407410" cy="1489710"/>
          </a:xfrm>
          <a:prstGeom prst="roundRect">
            <a:avLst>
              <a:gd name="adj" fmla="val 5754"/>
            </a:avLst>
          </a:prstGeom>
          <a:solidFill>
            <a:srgbClr val="FFFFFF"/>
          </a:solidFill>
          <a:ln w="6350">
            <a:solidFill>
              <a:srgbClr val="D5DBE5"/>
            </a:solidFill>
            <a:prstDash val="solid"/>
          </a:ln>
        </p:spPr>
      </p:sp>
      <p:sp>
        <p:nvSpPr>
          <p:cNvPr id="13" name="Text 11"/>
          <p:cNvSpPr/>
          <p:nvPr/>
        </p:nvSpPr>
        <p:spPr>
          <a:xfrm>
            <a:off x="4544060" y="2273300"/>
            <a:ext cx="173316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8494"/>
                </a:solidFill>
                <a:latin typeface="Be Vietnam Pro" pitchFamily="34" charset="0"/>
                <a:ea typeface="Be Vietnam Pro" pitchFamily="34" charset="-122"/>
                <a:cs typeface="Be Vietnam Pro" pitchFamily="34" charset="-120"/>
              </a:rPr>
              <a:t>Doc 2 · nhandan.vn</a:t>
            </a:r>
            <a:endParaRPr lang="en-US" sz="1200" dirty="0"/>
          </a:p>
        </p:txBody>
      </p:sp>
      <p:sp>
        <p:nvSpPr>
          <p:cNvPr id="14" name="Text 12"/>
          <p:cNvSpPr/>
          <p:nvPr/>
        </p:nvSpPr>
        <p:spPr>
          <a:xfrm>
            <a:off x="6566059" y="2260600"/>
            <a:ext cx="1102201" cy="238760"/>
          </a:xfrm>
          <a:prstGeom prst="roundRect">
            <a:avLst>
              <a:gd name="adj" fmla="val 21277"/>
            </a:avLst>
          </a:prstGeom>
          <a:solidFill>
            <a:srgbClr val="E3E7EE"/>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Cùng chủ đề</a:t>
            </a:r>
            <a:endParaRPr lang="en-US" sz="1200" dirty="0"/>
          </a:p>
        </p:txBody>
      </p:sp>
      <p:sp>
        <p:nvSpPr>
          <p:cNvPr id="15" name="Text 13"/>
          <p:cNvSpPr/>
          <p:nvPr/>
        </p:nvSpPr>
        <p:spPr>
          <a:xfrm>
            <a:off x="4544060" y="2550161"/>
            <a:ext cx="3217926"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Be Vietnam Pro" pitchFamily="34" charset="0"/>
                <a:ea typeface="Be Vietnam Pro" pitchFamily="34" charset="-122"/>
                <a:cs typeface="Be Vietnam Pro" pitchFamily="34" charset="-120"/>
              </a:rPr>
              <a:t>Man Utd trong ngày cuối cùng với Sir Alex Ferguson giờ nơi đâu?</a:t>
            </a:r>
            <a:endParaRPr lang="en-US" sz="1200" dirty="0"/>
          </a:p>
        </p:txBody>
      </p:sp>
      <p:sp>
        <p:nvSpPr>
          <p:cNvPr id="16" name="Text 14"/>
          <p:cNvSpPr/>
          <p:nvPr/>
        </p:nvSpPr>
        <p:spPr>
          <a:xfrm>
            <a:off x="4544060" y="3012439"/>
            <a:ext cx="3217926"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A5568"/>
                </a:solidFill>
                <a:latin typeface="Be Vietnam Pro" pitchFamily="34" charset="0"/>
                <a:ea typeface="Be Vietnam Pro" pitchFamily="34" charset="-122"/>
                <a:cs typeface="Be Vietnam Pro" pitchFamily="34" charset="-120"/>
              </a:rPr>
              <a:t>“Phil Jones từng một thời là trung vệ trẻ đáng kỳ vọng…”</a:t>
            </a:r>
            <a:endParaRPr lang="en-US" sz="1200" dirty="0"/>
          </a:p>
        </p:txBody>
      </p:sp>
      <p:sp>
        <p:nvSpPr>
          <p:cNvPr id="17" name="Shape 15"/>
          <p:cNvSpPr/>
          <p:nvPr/>
        </p:nvSpPr>
        <p:spPr>
          <a:xfrm>
            <a:off x="7968615" y="2144396"/>
            <a:ext cx="3407410" cy="1489710"/>
          </a:xfrm>
          <a:prstGeom prst="roundRect">
            <a:avLst>
              <a:gd name="adj" fmla="val 5754"/>
            </a:avLst>
          </a:prstGeom>
          <a:solidFill>
            <a:srgbClr val="FFFFFF"/>
          </a:solidFill>
          <a:ln w="6350">
            <a:solidFill>
              <a:srgbClr val="C4472B"/>
            </a:solidFill>
            <a:prstDash val="dash"/>
          </a:ln>
        </p:spPr>
      </p:sp>
      <p:sp>
        <p:nvSpPr>
          <p:cNvPr id="18" name="Text 16"/>
          <p:cNvSpPr/>
          <p:nvPr/>
        </p:nvSpPr>
        <p:spPr>
          <a:xfrm>
            <a:off x="8110220" y="2273300"/>
            <a:ext cx="195119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8494"/>
                </a:solidFill>
                <a:latin typeface="Be Vietnam Pro" pitchFamily="34" charset="0"/>
                <a:ea typeface="Be Vietnam Pro" pitchFamily="34" charset="-122"/>
                <a:cs typeface="Be Vietnam Pro" pitchFamily="34" charset="-120"/>
              </a:rPr>
              <a:t>Doc 3 · hapodecor.vn</a:t>
            </a:r>
            <a:endParaRPr lang="en-US" sz="1200" dirty="0"/>
          </a:p>
        </p:txBody>
      </p:sp>
      <p:sp>
        <p:nvSpPr>
          <p:cNvPr id="19" name="Text 17"/>
          <p:cNvSpPr/>
          <p:nvPr/>
        </p:nvSpPr>
        <p:spPr>
          <a:xfrm>
            <a:off x="10646252" y="2260600"/>
            <a:ext cx="588169" cy="238760"/>
          </a:xfrm>
          <a:prstGeom prst="roundRect">
            <a:avLst>
              <a:gd name="adj" fmla="val 21277"/>
            </a:avLst>
          </a:prstGeom>
          <a:solidFill>
            <a:srgbClr val="C4472B"/>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Nhiễu</a:t>
            </a:r>
            <a:endParaRPr lang="en-US" sz="1200" dirty="0"/>
          </a:p>
        </p:txBody>
      </p:sp>
      <p:sp>
        <p:nvSpPr>
          <p:cNvPr id="20" name="Text 18"/>
          <p:cNvSpPr/>
          <p:nvPr/>
        </p:nvSpPr>
        <p:spPr>
          <a:xfrm>
            <a:off x="8110220" y="2550161"/>
            <a:ext cx="3217926"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Be Vietnam Pro" pitchFamily="34" charset="0"/>
                <a:ea typeface="Be Vietnam Pro" pitchFamily="34" charset="-122"/>
                <a:cs typeface="Be Vietnam Pro" pitchFamily="34" charset="-120"/>
              </a:rPr>
              <a:t>MU Vô Địch Ngoại Hạng Anh Bao Nhiêu Lần? Chi Tiết Từng Mùa Giải</a:t>
            </a:r>
            <a:endParaRPr lang="en-US" sz="1200" dirty="0"/>
          </a:p>
        </p:txBody>
      </p:sp>
      <p:sp>
        <p:nvSpPr>
          <p:cNvPr id="21" name="Text 19"/>
          <p:cNvSpPr/>
          <p:nvPr/>
        </p:nvSpPr>
        <p:spPr>
          <a:xfrm>
            <a:off x="8110220" y="3012439"/>
            <a:ext cx="3217926"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A5568"/>
                </a:solidFill>
                <a:latin typeface="Be Vietnam Pro" pitchFamily="34" charset="0"/>
                <a:ea typeface="Be Vietnam Pro" pitchFamily="34" charset="-122"/>
                <a:cs typeface="Be Vietnam Pro" pitchFamily="34" charset="-120"/>
              </a:rPr>
              <a:t>Trang SEO trên web nội thất – trùng “danh giá”, hỏi chuyện khác</a:t>
            </a:r>
            <a:endParaRPr lang="en-US" sz="1200" dirty="0"/>
          </a:p>
        </p:txBody>
      </p:sp>
      <p:sp>
        <p:nvSpPr>
          <p:cNvPr id="22" name="Shape 20"/>
          <p:cNvSpPr/>
          <p:nvPr/>
        </p:nvSpPr>
        <p:spPr>
          <a:xfrm>
            <a:off x="815975" y="3767457"/>
            <a:ext cx="10560050" cy="1263650"/>
          </a:xfrm>
          <a:prstGeom prst="roundRect">
            <a:avLst>
              <a:gd name="adj" fmla="val 6784"/>
            </a:avLst>
          </a:prstGeom>
          <a:solidFill>
            <a:srgbClr val="FFFFFF"/>
          </a:solidFill>
          <a:ln w="6350">
            <a:solidFill>
              <a:srgbClr val="D5DBE5"/>
            </a:solidFill>
            <a:prstDash val="solid"/>
          </a:ln>
        </p:spPr>
      </p:sp>
      <p:sp>
        <p:nvSpPr>
          <p:cNvPr id="23" name="Text 21"/>
          <p:cNvSpPr/>
          <p:nvPr/>
        </p:nvSpPr>
        <p:spPr>
          <a:xfrm>
            <a:off x="970280" y="3896361"/>
            <a:ext cx="860504" cy="238760"/>
          </a:xfrm>
          <a:prstGeom prst="roundRect">
            <a:avLst>
              <a:gd name="adj" fmla="val 21277"/>
            </a:avLst>
          </a:prstGeom>
          <a:solidFill>
            <a:srgbClr val="E3F1EA"/>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label</a:t>
            </a:r>
            <a:r>
              <a:rPr lang="en-US" sz="1200" dirty="0">
                <a:solidFill>
                  <a:srgbClr val="14213D"/>
                </a:solidFill>
                <a:latin typeface="Be Vietnam Pro" pitchFamily="34" charset="0"/>
                <a:ea typeface="Be Vietnam Pro" pitchFamily="34" charset="-122"/>
                <a:cs typeface="Be Vietnam Pro" pitchFamily="34" charset="-120"/>
              </a:rPr>
              <a:t> YES</a:t>
            </a:r>
            <a:endParaRPr lang="en-US" sz="1200" dirty="0"/>
          </a:p>
        </p:txBody>
      </p:sp>
      <p:sp>
        <p:nvSpPr>
          <p:cNvPr id="24" name="Text 22"/>
          <p:cNvSpPr/>
          <p:nvPr/>
        </p:nvSpPr>
        <p:spPr>
          <a:xfrm>
            <a:off x="1894284" y="3896361"/>
            <a:ext cx="1637030" cy="238760"/>
          </a:xfrm>
          <a:prstGeom prst="roundRect">
            <a:avLst>
              <a:gd name="adj" fmla="val 21277"/>
            </a:avLst>
          </a:prstGeom>
          <a:solidFill>
            <a:srgbClr val="EEF1F5"/>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supporting_doc</a:t>
            </a:r>
            <a:r>
              <a:rPr lang="en-US" sz="1200" dirty="0">
                <a:solidFill>
                  <a:srgbClr val="14213D"/>
                </a:solidFill>
                <a:latin typeface="Be Vietnam Pro" pitchFamily="34" charset="0"/>
                <a:ea typeface="Be Vietnam Pro" pitchFamily="34" charset="-122"/>
                <a:cs typeface="Be Vietnam Pro" pitchFamily="34" charset="-120"/>
              </a:rPr>
              <a:t> [1]</a:t>
            </a:r>
            <a:endParaRPr lang="en-US" sz="1200" dirty="0"/>
          </a:p>
        </p:txBody>
      </p:sp>
      <p:sp>
        <p:nvSpPr>
          <p:cNvPr id="25" name="Text 23"/>
          <p:cNvSpPr/>
          <p:nvPr/>
        </p:nvSpPr>
        <p:spPr>
          <a:xfrm>
            <a:off x="970280" y="4198621"/>
            <a:ext cx="1055898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8494"/>
                </a:solidFill>
                <a:latin typeface="Courier New" pitchFamily="49" charset="0"/>
                <a:ea typeface="Courier New" pitchFamily="49" charset="-122"/>
                <a:cs typeface="Courier New" pitchFamily="49" charset="-120"/>
              </a:rPr>
              <a:t>answer_with_citations</a:t>
            </a:r>
            <a:endParaRPr lang="en-US" sz="1200" dirty="0"/>
          </a:p>
        </p:txBody>
      </p:sp>
      <p:sp>
        <p:nvSpPr>
          <p:cNvPr id="26" name="Text 24"/>
          <p:cNvSpPr/>
          <p:nvPr/>
        </p:nvSpPr>
        <p:spPr>
          <a:xfrm>
            <a:off x="970280" y="4475482"/>
            <a:ext cx="1055898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Lần cuối cùng Manchester United giành được một danh hiệu lớn là vào ngày 24-5-2017 với chức vô địch Europa League dưới thời Jose Mourinho </a:t>
            </a:r>
            <a:r>
              <a:rPr lang="en-US" sz="1200" b="1" dirty="0">
                <a:solidFill>
                  <a:srgbClr val="14213D"/>
                </a:solidFill>
                <a:latin typeface="Be Vietnam Pro" pitchFamily="34" charset="0"/>
                <a:ea typeface="Be Vietnam Pro" pitchFamily="34" charset="-122"/>
                <a:cs typeface="Be Vietnam Pro" pitchFamily="34" charset="-120"/>
              </a:rPr>
              <a:t>[Doc 1]</a:t>
            </a:r>
            <a:r>
              <a:rPr lang="en-US" sz="1200" dirty="0">
                <a:solidFill>
                  <a:srgbClr val="14213D"/>
                </a:solidFill>
                <a:latin typeface="Be Vietnam Pro" pitchFamily="34" charset="0"/>
                <a:ea typeface="Be Vietnam Pro" pitchFamily="34" charset="-122"/>
                <a:cs typeface="Be Vietnam Pro" pitchFamily="34" charset="-120"/>
              </a:rPr>
              <a:t>.</a:t>
            </a:r>
            <a:endParaRPr lang="en-US" sz="1200" dirty="0"/>
          </a:p>
        </p:txBody>
      </p:sp>
      <p:sp>
        <p:nvSpPr>
          <p:cNvPr id="27" name="Text 25"/>
          <p:cNvSpPr/>
          <p:nvPr/>
        </p:nvSpPr>
        <p:spPr>
          <a:xfrm>
            <a:off x="812800" y="6238239"/>
            <a:ext cx="93113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Bản ghi thật, trích ngắn – ngữ cảnh lưu toàn văn 3 trang (thu thập 04/11/2025)</a:t>
            </a:r>
            <a:endParaRPr lang="en-US" sz="1200" dirty="0"/>
          </a:p>
        </p:txBody>
      </p:sp>
      <p:sp>
        <p:nvSpPr>
          <p:cNvPr id="28" name="Text 26"/>
          <p:cNvSpPr/>
          <p:nvPr/>
        </p:nvSpPr>
        <p:spPr>
          <a:xfrm>
            <a:off x="11224737" y="6238239"/>
            <a:ext cx="15446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BỘ DỮ LIỆU · QUY TRÌNH XÂY DỰNG</a:t>
            </a:r>
            <a:endParaRPr lang="en-US" sz="1200" dirty="0"/>
          </a:p>
        </p:txBody>
      </p:sp>
      <p:sp>
        <p:nvSpPr>
          <p:cNvPr id="3" name="Text 1"/>
          <p:cNvSpPr/>
          <p:nvPr>
            <p:ph type="title"/>
          </p:nvPr>
        </p:nvSpPr>
        <p:spPr>
          <a:xfrm>
            <a:off x="812800" y="1000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LLM hỗ trợ, con người quyết định</a:t>
            </a:r>
            <a:endParaRPr lang="en-US" sz="2800" dirty="0"/>
          </a:p>
        </p:txBody>
      </p:sp>
      <p:sp>
        <p:nvSpPr>
          <p:cNvPr id="4" name="Text 2"/>
          <p:cNvSpPr/>
          <p:nvPr/>
        </p:nvSpPr>
        <p:spPr>
          <a:xfrm>
            <a:off x="2070100" y="1612900"/>
            <a:ext cx="1765300" cy="340360"/>
          </a:xfrm>
          <a:prstGeom prst="roundRect">
            <a:avLst>
              <a:gd name="adj" fmla="val 50000"/>
            </a:avLst>
          </a:prstGeom>
          <a:solidFill>
            <a:srgbClr val="DCE3F0"/>
          </a:solidFill>
          <a:ln/>
        </p:spPr>
        <p:txBody>
          <a:bodyPr wrap="square" lIns="26356" tIns="13656" rIns="26356" bIns="0" rtlCol="0" anchor="t">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1 · Thu thập</a:t>
            </a:r>
            <a:endParaRPr lang="en-US" sz="1200" dirty="0"/>
          </a:p>
        </p:txBody>
      </p:sp>
      <p:sp>
        <p:nvSpPr>
          <p:cNvPr id="5" name="Text 3"/>
          <p:cNvSpPr/>
          <p:nvPr/>
        </p:nvSpPr>
        <p:spPr>
          <a:xfrm>
            <a:off x="3937000" y="1612900"/>
            <a:ext cx="1765300" cy="340360"/>
          </a:xfrm>
          <a:prstGeom prst="roundRect">
            <a:avLst>
              <a:gd name="adj" fmla="val 50000"/>
            </a:avLst>
          </a:prstGeom>
          <a:solidFill>
            <a:srgbClr val="DCE3F0"/>
          </a:solidFill>
          <a:ln/>
        </p:spPr>
        <p:txBody>
          <a:bodyPr wrap="square" lIns="26356" tIns="13656" rIns="26356" bIns="0" rtlCol="0" anchor="t">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2 · Truy xuất</a:t>
            </a:r>
            <a:endParaRPr lang="en-US" sz="1200" dirty="0"/>
          </a:p>
        </p:txBody>
      </p:sp>
      <p:sp>
        <p:nvSpPr>
          <p:cNvPr id="6" name="Text 4"/>
          <p:cNvSpPr/>
          <p:nvPr/>
        </p:nvSpPr>
        <p:spPr>
          <a:xfrm>
            <a:off x="5803900" y="1612900"/>
            <a:ext cx="1765300" cy="340360"/>
          </a:xfrm>
          <a:prstGeom prst="roundRect">
            <a:avLst>
              <a:gd name="adj" fmla="val 50000"/>
            </a:avLst>
          </a:prstGeom>
          <a:solidFill>
            <a:srgbClr val="DCE3F0"/>
          </a:solidFill>
          <a:ln/>
        </p:spPr>
        <p:txBody>
          <a:bodyPr wrap="square" lIns="26356" tIns="13656" rIns="26356" bIns="0" rtlCol="0" anchor="t">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3 · Gán nhãn</a:t>
            </a:r>
            <a:endParaRPr lang="en-US" sz="1200" dirty="0"/>
          </a:p>
        </p:txBody>
      </p:sp>
      <p:sp>
        <p:nvSpPr>
          <p:cNvPr id="7" name="Text 5"/>
          <p:cNvSpPr/>
          <p:nvPr/>
        </p:nvSpPr>
        <p:spPr>
          <a:xfrm>
            <a:off x="7670800" y="1612900"/>
            <a:ext cx="1765300" cy="340360"/>
          </a:xfrm>
          <a:prstGeom prst="roundRect">
            <a:avLst>
              <a:gd name="adj" fmla="val 50000"/>
            </a:avLst>
          </a:prstGeom>
          <a:solidFill>
            <a:srgbClr val="DCE3F0"/>
          </a:solidFill>
          <a:ln/>
        </p:spPr>
        <p:txBody>
          <a:bodyPr wrap="square" lIns="26356" tIns="13656" rIns="26356" bIns="0" rtlCol="0" anchor="t">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4 · Phân xử</a:t>
            </a:r>
            <a:endParaRPr lang="en-US" sz="1200" dirty="0"/>
          </a:p>
        </p:txBody>
      </p:sp>
      <p:sp>
        <p:nvSpPr>
          <p:cNvPr id="8" name="Text 6"/>
          <p:cNvSpPr/>
          <p:nvPr/>
        </p:nvSpPr>
        <p:spPr>
          <a:xfrm>
            <a:off x="9537700" y="1612900"/>
            <a:ext cx="1765300" cy="340360"/>
          </a:xfrm>
          <a:prstGeom prst="roundRect">
            <a:avLst>
              <a:gd name="adj" fmla="val 50000"/>
            </a:avLst>
          </a:prstGeom>
          <a:solidFill>
            <a:srgbClr val="DCE3F0"/>
          </a:solidFill>
          <a:ln/>
        </p:spPr>
        <p:txBody>
          <a:bodyPr wrap="square" lIns="26356" tIns="13656" rIns="26356" bIns="0" rtlCol="0" anchor="t">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5 · Tham chiếu</a:t>
            </a:r>
            <a:endParaRPr lang="en-US" sz="1200" dirty="0"/>
          </a:p>
        </p:txBody>
      </p:sp>
      <p:sp>
        <p:nvSpPr>
          <p:cNvPr id="9" name="Shape 7"/>
          <p:cNvSpPr/>
          <p:nvPr/>
        </p:nvSpPr>
        <p:spPr>
          <a:xfrm>
            <a:off x="812800" y="2016761"/>
            <a:ext cx="10566400" cy="1079500"/>
          </a:xfrm>
          <a:prstGeom prst="roundRect">
            <a:avLst>
              <a:gd name="adj" fmla="val 10588"/>
            </a:avLst>
          </a:prstGeom>
          <a:solidFill>
            <a:srgbClr val="E9ECF1"/>
          </a:solidFill>
          <a:ln/>
        </p:spPr>
      </p:sp>
      <p:pic>
        <p:nvPicPr>
          <p:cNvPr id="10" name="Image 0" descr="Settings">    </p:cNvPr>
          <p:cNvPicPr>
            <a:picLocks noChangeAspect="1"/>
          </p:cNvPicPr>
          <p:nvPr/>
        </p:nvPicPr>
        <p:blipFill>
          <a:blip r:embed="rId1"/>
          <a:srcRect l="0" r="0" t="0" b="0"/>
          <a:stretch/>
        </p:blipFill>
        <p:spPr>
          <a:xfrm>
            <a:off x="939800" y="2298700"/>
            <a:ext cx="228600" cy="228600"/>
          </a:xfrm>
          <a:prstGeom prst="rect">
            <a:avLst/>
          </a:prstGeom>
        </p:spPr>
      </p:pic>
      <p:sp>
        <p:nvSpPr>
          <p:cNvPr id="11" name="Text 8"/>
          <p:cNvSpPr/>
          <p:nvPr/>
        </p:nvSpPr>
        <p:spPr>
          <a:xfrm>
            <a:off x="939800" y="2565400"/>
            <a:ext cx="10287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656"/>
                </a:solidFill>
                <a:latin typeface="Be Vietnam Pro" pitchFamily="34" charset="0"/>
                <a:ea typeface="Be Vietnam Pro" pitchFamily="34" charset="-122"/>
                <a:cs typeface="Be Vietnam Pro" pitchFamily="34" charset="-120"/>
              </a:rPr>
              <a:t>Tự động</a:t>
            </a:r>
            <a:endParaRPr lang="en-US" sz="1400" dirty="0"/>
          </a:p>
        </p:txBody>
      </p:sp>
      <p:sp>
        <p:nvSpPr>
          <p:cNvPr id="12" name="Shape 9"/>
          <p:cNvSpPr/>
          <p:nvPr/>
        </p:nvSpPr>
        <p:spPr>
          <a:xfrm>
            <a:off x="2073275" y="2096136"/>
            <a:ext cx="1758950" cy="920750"/>
          </a:xfrm>
          <a:prstGeom prst="roundRect">
            <a:avLst>
              <a:gd name="adj" fmla="val 7931"/>
            </a:avLst>
          </a:prstGeom>
          <a:solidFill>
            <a:srgbClr val="FFFFFF"/>
          </a:solidFill>
          <a:ln w="6350">
            <a:solidFill>
              <a:srgbClr val="D5DBE5"/>
            </a:solidFill>
            <a:prstDash val="solid"/>
          </a:ln>
        </p:spPr>
      </p:sp>
      <p:sp>
        <p:nvSpPr>
          <p:cNvPr id="13" name="Text 10"/>
          <p:cNvSpPr/>
          <p:nvPr/>
        </p:nvSpPr>
        <p:spPr>
          <a:xfrm>
            <a:off x="2176780" y="2199639"/>
            <a:ext cx="160274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30K → 4.117</a:t>
            </a:r>
            <a:endParaRPr lang="en-US" sz="1400" dirty="0"/>
          </a:p>
        </p:txBody>
      </p:sp>
      <p:sp>
        <p:nvSpPr>
          <p:cNvPr id="14" name="Text 11"/>
          <p:cNvSpPr/>
          <p:nvPr/>
        </p:nvSpPr>
        <p:spPr>
          <a:xfrm>
            <a:off x="2176780" y="2486661"/>
            <a:ext cx="16027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truy vấn sau lọc luật, khử trùng BGE-M3</a:t>
            </a:r>
            <a:endParaRPr lang="en-US" sz="1200" dirty="0"/>
          </a:p>
        </p:txBody>
      </p:sp>
      <p:sp>
        <p:nvSpPr>
          <p:cNvPr id="15" name="Shape 12"/>
          <p:cNvSpPr/>
          <p:nvPr/>
        </p:nvSpPr>
        <p:spPr>
          <a:xfrm>
            <a:off x="3940175" y="2096136"/>
            <a:ext cx="1758950" cy="920750"/>
          </a:xfrm>
          <a:prstGeom prst="roundRect">
            <a:avLst>
              <a:gd name="adj" fmla="val 7931"/>
            </a:avLst>
          </a:prstGeom>
          <a:solidFill>
            <a:srgbClr val="FFFFFF"/>
          </a:solidFill>
          <a:ln w="6350">
            <a:solidFill>
              <a:srgbClr val="D5DBE5"/>
            </a:solidFill>
            <a:prstDash val="solid"/>
          </a:ln>
        </p:spPr>
      </p:sp>
      <p:sp>
        <p:nvSpPr>
          <p:cNvPr id="16" name="Text 13"/>
          <p:cNvSpPr/>
          <p:nvPr/>
        </p:nvSpPr>
        <p:spPr>
          <a:xfrm>
            <a:off x="4043680" y="2199639"/>
            <a:ext cx="160274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Be Vietnam Pro" pitchFamily="34" charset="0"/>
                <a:ea typeface="Be Vietnam Pro" pitchFamily="34" charset="-122"/>
                <a:cs typeface="Be Vietnam Pro" pitchFamily="34" charset="-120"/>
              </a:rPr>
              <a:t>12.351 trang</a:t>
            </a:r>
            <a:endParaRPr lang="en-US" sz="1400" dirty="0"/>
          </a:p>
        </p:txBody>
      </p:sp>
      <p:sp>
        <p:nvSpPr>
          <p:cNvPr id="17" name="Text 14"/>
          <p:cNvSpPr/>
          <p:nvPr/>
        </p:nvSpPr>
        <p:spPr>
          <a:xfrm>
            <a:off x="4043680" y="2486661"/>
            <a:ext cx="16027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Google top-3, toàn văn, không chọn lọc</a:t>
            </a:r>
            <a:endParaRPr lang="en-US" sz="1200" dirty="0"/>
          </a:p>
        </p:txBody>
      </p:sp>
      <p:sp>
        <p:nvSpPr>
          <p:cNvPr id="18" name="Shape 15"/>
          <p:cNvSpPr/>
          <p:nvPr/>
        </p:nvSpPr>
        <p:spPr>
          <a:xfrm>
            <a:off x="812800" y="3159761"/>
            <a:ext cx="10566400" cy="1318260"/>
          </a:xfrm>
          <a:prstGeom prst="roundRect">
            <a:avLst>
              <a:gd name="adj" fmla="val 8671"/>
            </a:avLst>
          </a:prstGeom>
          <a:solidFill>
            <a:srgbClr val="E3EAFD"/>
          </a:solidFill>
          <a:ln/>
        </p:spPr>
      </p:sp>
      <p:pic>
        <p:nvPicPr>
          <p:cNvPr id="19" name="Image 1" descr="Lightning">    </p:cNvPr>
          <p:cNvPicPr>
            <a:picLocks noChangeAspect="1"/>
          </p:cNvPicPr>
          <p:nvPr/>
        </p:nvPicPr>
        <p:blipFill>
          <a:blip r:embed="rId2"/>
          <a:srcRect l="0" r="0" t="0" b="0"/>
          <a:stretch/>
        </p:blipFill>
        <p:spPr>
          <a:xfrm>
            <a:off x="939800" y="3435350"/>
            <a:ext cx="228600" cy="228600"/>
          </a:xfrm>
          <a:prstGeom prst="rect">
            <a:avLst/>
          </a:prstGeom>
        </p:spPr>
      </p:pic>
      <p:sp>
        <p:nvSpPr>
          <p:cNvPr id="20" name="Text 16"/>
          <p:cNvSpPr/>
          <p:nvPr/>
        </p:nvSpPr>
        <p:spPr>
          <a:xfrm>
            <a:off x="939800" y="3702050"/>
            <a:ext cx="10287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3FAF"/>
                </a:solidFill>
                <a:latin typeface="Be Vietnam Pro" pitchFamily="34" charset="0"/>
                <a:ea typeface="Be Vietnam Pro" pitchFamily="34" charset="-122"/>
                <a:cs typeface="Be Vietnam Pro" pitchFamily="34" charset="-120"/>
              </a:rPr>
              <a:t>LLM</a:t>
            </a:r>
            <a:endParaRPr lang="en-US" sz="1400" dirty="0"/>
          </a:p>
        </p:txBody>
      </p:sp>
      <p:sp>
        <p:nvSpPr>
          <p:cNvPr id="21" name="Text 17"/>
          <p:cNvSpPr/>
          <p:nvPr/>
        </p:nvSpPr>
        <p:spPr>
          <a:xfrm>
            <a:off x="939800" y="3989071"/>
            <a:ext cx="1028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EA"/>
                </a:solidFill>
                <a:latin typeface="Be Vietnam Pro" pitchFamily="34" charset="0"/>
                <a:ea typeface="Be Vietnam Pro" pitchFamily="34" charset="-122"/>
                <a:cs typeface="Be Vietnam Pro" pitchFamily="34" charset="-120"/>
              </a:rPr>
              <a:t>gợi ý</a:t>
            </a:r>
            <a:endParaRPr lang="en-US" sz="1200" dirty="0"/>
          </a:p>
        </p:txBody>
      </p:sp>
      <p:sp>
        <p:nvSpPr>
          <p:cNvPr id="22" name="Shape 18"/>
          <p:cNvSpPr/>
          <p:nvPr/>
        </p:nvSpPr>
        <p:spPr>
          <a:xfrm>
            <a:off x="5803900" y="3235961"/>
            <a:ext cx="1765300" cy="1165860"/>
          </a:xfrm>
          <a:prstGeom prst="roundRect">
            <a:avLst>
              <a:gd name="adj" fmla="val 6536"/>
            </a:avLst>
          </a:prstGeom>
          <a:solidFill>
            <a:srgbClr val="FFFFFF"/>
          </a:solidFill>
          <a:ln/>
        </p:spPr>
      </p:sp>
      <p:sp>
        <p:nvSpPr>
          <p:cNvPr id="23" name="Shape 19"/>
          <p:cNvSpPr/>
          <p:nvPr/>
        </p:nvSpPr>
        <p:spPr>
          <a:xfrm>
            <a:off x="5803900" y="3235961"/>
            <a:ext cx="1765300" cy="1165860"/>
          </a:xfrm>
          <a:custGeom>
            <a:avLst/>
            <a:gdLst/>
            <a:ahLst/>
            <a:cxnLst/>
            <a:rect l="l" t="t" r="r" b="b"/>
            <a:pathLst>
              <a:path w="1765300" h="1165860">
                <a:moveTo>
                  <a:pt x="76200" y="1165860"/>
                </a:moveTo>
                <a:lnTo>
                  <a:pt x="76200" y="1165860"/>
                </a:lnTo>
                <a:arcTo hR="76200" wR="76200" stAng="5400000" swAng="5400000"/>
                <a:lnTo>
                  <a:pt x="0" y="76200"/>
                </a:lnTo>
                <a:arcTo hR="76200" wR="76200" stAng="10800000" swAng="5400000"/>
                <a:lnTo>
                  <a:pt x="76200" y="0"/>
                </a:lnTo>
                <a:arcTo hR="76200" wR="38100" stAng="16200000" swAng="-5400000"/>
                <a:lnTo>
                  <a:pt x="38100" y="1089660"/>
                </a:lnTo>
                <a:arcTo hR="76200" wR="38100" stAng="10800000" swAng="-5400000"/>
                <a:close/>
              </a:path>
            </a:pathLst>
          </a:custGeom>
          <a:solidFill>
            <a:srgbClr val="2F5BEA"/>
          </a:solidFill>
          <a:ln/>
        </p:spPr>
      </p:sp>
      <p:sp>
        <p:nvSpPr>
          <p:cNvPr id="24" name="Text 20"/>
          <p:cNvSpPr/>
          <p:nvPr/>
        </p:nvSpPr>
        <p:spPr>
          <a:xfrm>
            <a:off x="5941060" y="3337561"/>
            <a:ext cx="157734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3FAF"/>
                </a:solidFill>
                <a:latin typeface="Be Vietnam Pro" pitchFamily="34" charset="0"/>
                <a:ea typeface="Be Vietnam Pro" pitchFamily="34" charset="-122"/>
                <a:cs typeface="Be Vietnam Pro" pitchFamily="34" charset="-120"/>
              </a:rPr>
              <a:t>GPT-5.5 + Gemini</a:t>
            </a:r>
            <a:endParaRPr lang="en-US" sz="1400" dirty="0"/>
          </a:p>
        </p:txBody>
      </p:sp>
      <p:sp>
        <p:nvSpPr>
          <p:cNvPr id="25" name="Text 21"/>
          <p:cNvSpPr/>
          <p:nvPr/>
        </p:nvSpPr>
        <p:spPr>
          <a:xfrm>
            <a:off x="5941060" y="3873500"/>
            <a:ext cx="1577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gợi ý nhãn sơ bộ cho người gán</a:t>
            </a:r>
            <a:endParaRPr lang="en-US" sz="1200" dirty="0"/>
          </a:p>
        </p:txBody>
      </p:sp>
      <p:sp>
        <p:nvSpPr>
          <p:cNvPr id="26" name="Text 22"/>
          <p:cNvSpPr/>
          <p:nvPr/>
        </p:nvSpPr>
        <p:spPr>
          <a:xfrm>
            <a:off x="7677150" y="3242311"/>
            <a:ext cx="1752600" cy="1153160"/>
          </a:xfrm>
          <a:prstGeom prst="roundRect">
            <a:avLst>
              <a:gd name="adj" fmla="val 6057"/>
            </a:avLst>
          </a:prstGeom>
          <a:noFill/>
          <a:ln w="12700">
            <a:solidFill>
              <a:srgbClr val="9FB3EE"/>
            </a:solidFill>
            <a:prstDash val="dash"/>
          </a:ln>
        </p:spPr>
        <p:txBody>
          <a:bodyPr wrap="square" lIns="59551" tIns="84952" rIns="59552" bIns="84952" rtlCol="0" anchor="ctr">
            <a:normAutofit/>
          </a:bodyPr>
          <a:lstStyle/>
          <a:p>
            <a:pPr algn="ctr" indent="0" marL="0">
              <a:lnSpc>
                <a:spcPts val="1680"/>
              </a:lnSpc>
              <a:buNone/>
            </a:pPr>
            <a:r>
              <a:rPr lang="en-US" sz="1200" dirty="0">
                <a:solidFill>
                  <a:srgbClr val="2F5BEA"/>
                </a:solidFill>
                <a:latin typeface="Be Vietnam Pro" pitchFamily="34" charset="0"/>
                <a:ea typeface="Be Vietnam Pro" pitchFamily="34" charset="-122"/>
                <a:cs typeface="Be Vietnam Pro" pitchFamily="34" charset="-120"/>
              </a:rPr>
              <a:t>LLM không tham gia phân xử</a:t>
            </a:r>
            <a:endParaRPr lang="en-US" sz="1200" dirty="0"/>
          </a:p>
        </p:txBody>
      </p:sp>
      <p:sp>
        <p:nvSpPr>
          <p:cNvPr id="27" name="Shape 23"/>
          <p:cNvSpPr/>
          <p:nvPr/>
        </p:nvSpPr>
        <p:spPr>
          <a:xfrm>
            <a:off x="9537700" y="3235961"/>
            <a:ext cx="1765300" cy="1165860"/>
          </a:xfrm>
          <a:prstGeom prst="roundRect">
            <a:avLst>
              <a:gd name="adj" fmla="val 6536"/>
            </a:avLst>
          </a:prstGeom>
          <a:solidFill>
            <a:srgbClr val="FFFFFF"/>
          </a:solidFill>
          <a:ln/>
        </p:spPr>
      </p:sp>
      <p:sp>
        <p:nvSpPr>
          <p:cNvPr id="28" name="Shape 24"/>
          <p:cNvSpPr/>
          <p:nvPr/>
        </p:nvSpPr>
        <p:spPr>
          <a:xfrm>
            <a:off x="9537700" y="3235961"/>
            <a:ext cx="1765300" cy="1165860"/>
          </a:xfrm>
          <a:custGeom>
            <a:avLst/>
            <a:gdLst/>
            <a:ahLst/>
            <a:cxnLst/>
            <a:rect l="l" t="t" r="r" b="b"/>
            <a:pathLst>
              <a:path w="1765300" h="1165860">
                <a:moveTo>
                  <a:pt x="76200" y="1165860"/>
                </a:moveTo>
                <a:lnTo>
                  <a:pt x="76200" y="1165860"/>
                </a:lnTo>
                <a:arcTo hR="76200" wR="76200" stAng="5400000" swAng="5400000"/>
                <a:lnTo>
                  <a:pt x="0" y="76200"/>
                </a:lnTo>
                <a:arcTo hR="76200" wR="76200" stAng="10800000" swAng="5400000"/>
                <a:lnTo>
                  <a:pt x="76200" y="0"/>
                </a:lnTo>
                <a:arcTo hR="76200" wR="38100" stAng="16200000" swAng="-5400000"/>
                <a:lnTo>
                  <a:pt x="38100" y="1089660"/>
                </a:lnTo>
                <a:arcTo hR="76200" wR="38100" stAng="10800000" swAng="-5400000"/>
                <a:close/>
              </a:path>
            </a:pathLst>
          </a:custGeom>
          <a:solidFill>
            <a:srgbClr val="2F5BEA"/>
          </a:solidFill>
          <a:ln/>
        </p:spPr>
      </p:sp>
      <p:sp>
        <p:nvSpPr>
          <p:cNvPr id="29" name="Text 25"/>
          <p:cNvSpPr/>
          <p:nvPr/>
        </p:nvSpPr>
        <p:spPr>
          <a:xfrm>
            <a:off x="9674860" y="3337561"/>
            <a:ext cx="157734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3FAF"/>
                </a:solidFill>
                <a:latin typeface="Be Vietnam Pro" pitchFamily="34" charset="0"/>
                <a:ea typeface="Be Vietnam Pro" pitchFamily="34" charset="-122"/>
                <a:cs typeface="Be Vietnam Pro" pitchFamily="34" charset="-120"/>
              </a:rPr>
              <a:t>Gemini 3.1 Pro</a:t>
            </a:r>
            <a:endParaRPr lang="en-US" sz="1400" dirty="0"/>
          </a:p>
        </p:txBody>
      </p:sp>
      <p:sp>
        <p:nvSpPr>
          <p:cNvPr id="30" name="Text 26"/>
          <p:cNvSpPr/>
          <p:nvPr/>
        </p:nvSpPr>
        <p:spPr>
          <a:xfrm>
            <a:off x="9674860" y="3624582"/>
            <a:ext cx="1577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soạn nháp câu trả lời có trích dẫn</a:t>
            </a:r>
            <a:endParaRPr lang="en-US" sz="1200" dirty="0"/>
          </a:p>
        </p:txBody>
      </p:sp>
      <p:sp>
        <p:nvSpPr>
          <p:cNvPr id="31" name="Shape 27"/>
          <p:cNvSpPr/>
          <p:nvPr/>
        </p:nvSpPr>
        <p:spPr>
          <a:xfrm>
            <a:off x="812800" y="4541521"/>
            <a:ext cx="10566400" cy="1069340"/>
          </a:xfrm>
          <a:prstGeom prst="roundRect">
            <a:avLst>
              <a:gd name="adj" fmla="val 10689"/>
            </a:avLst>
          </a:prstGeom>
          <a:solidFill>
            <a:srgbClr val="14213D"/>
          </a:solidFill>
          <a:ln/>
        </p:spPr>
      </p:sp>
      <p:pic>
        <p:nvPicPr>
          <p:cNvPr id="32" name="Image 2" descr="Users">    </p:cNvPr>
          <p:cNvPicPr>
            <a:picLocks noChangeAspect="1"/>
          </p:cNvPicPr>
          <p:nvPr/>
        </p:nvPicPr>
        <p:blipFill>
          <a:blip r:embed="rId3"/>
          <a:srcRect l="0" r="0" t="0" b="0"/>
          <a:stretch/>
        </p:blipFill>
        <p:spPr>
          <a:xfrm>
            <a:off x="939800" y="4692650"/>
            <a:ext cx="228600" cy="228600"/>
          </a:xfrm>
          <a:prstGeom prst="rect">
            <a:avLst/>
          </a:prstGeom>
        </p:spPr>
      </p:pic>
      <p:sp>
        <p:nvSpPr>
          <p:cNvPr id="33" name="Text 28"/>
          <p:cNvSpPr/>
          <p:nvPr/>
        </p:nvSpPr>
        <p:spPr>
          <a:xfrm>
            <a:off x="939800" y="4959350"/>
            <a:ext cx="10287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6F2"/>
                </a:solidFill>
                <a:latin typeface="Be Vietnam Pro" pitchFamily="34" charset="0"/>
                <a:ea typeface="Be Vietnam Pro" pitchFamily="34" charset="-122"/>
                <a:cs typeface="Be Vietnam Pro" pitchFamily="34" charset="-120"/>
              </a:rPr>
              <a:t>Con người</a:t>
            </a:r>
            <a:endParaRPr lang="en-US" sz="1400" dirty="0"/>
          </a:p>
        </p:txBody>
      </p:sp>
      <p:sp>
        <p:nvSpPr>
          <p:cNvPr id="34" name="Text 29"/>
          <p:cNvSpPr/>
          <p:nvPr/>
        </p:nvSpPr>
        <p:spPr>
          <a:xfrm>
            <a:off x="939800" y="5246371"/>
            <a:ext cx="1028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33D"/>
                </a:solidFill>
                <a:latin typeface="Be Vietnam Pro" pitchFamily="34" charset="0"/>
                <a:ea typeface="Be Vietnam Pro" pitchFamily="34" charset="-122"/>
                <a:cs typeface="Be Vietnam Pro" pitchFamily="34" charset="-120"/>
              </a:rPr>
              <a:t>quyết định</a:t>
            </a:r>
            <a:endParaRPr lang="en-US" sz="1200" dirty="0"/>
          </a:p>
        </p:txBody>
      </p:sp>
      <p:sp>
        <p:nvSpPr>
          <p:cNvPr id="35" name="Shape 30"/>
          <p:cNvSpPr/>
          <p:nvPr/>
        </p:nvSpPr>
        <p:spPr>
          <a:xfrm>
            <a:off x="5803900" y="4617721"/>
            <a:ext cx="1765300" cy="916940"/>
          </a:xfrm>
          <a:prstGeom prst="roundRect">
            <a:avLst>
              <a:gd name="adj" fmla="val 8310"/>
            </a:avLst>
          </a:prstGeom>
          <a:solidFill>
            <a:srgbClr val="24345A"/>
          </a:solidFill>
          <a:ln/>
        </p:spPr>
      </p:sp>
      <p:sp>
        <p:nvSpPr>
          <p:cNvPr id="36" name="Text 31"/>
          <p:cNvSpPr/>
          <p:nvPr/>
        </p:nvSpPr>
        <p:spPr>
          <a:xfrm>
            <a:off x="5905500" y="4719321"/>
            <a:ext cx="16129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B33D"/>
                </a:solidFill>
                <a:latin typeface="Be Vietnam Pro" pitchFamily="34" charset="0"/>
                <a:ea typeface="Be Vietnam Pro" pitchFamily="34" charset="-122"/>
                <a:cs typeface="Be Vietnam Pro" pitchFamily="34" charset="-120"/>
              </a:rPr>
              <a:t>2 người gán</a:t>
            </a:r>
            <a:endParaRPr lang="en-US" sz="1400" dirty="0"/>
          </a:p>
        </p:txBody>
      </p:sp>
      <p:sp>
        <p:nvSpPr>
          <p:cNvPr id="37" name="Text 32"/>
          <p:cNvSpPr/>
          <p:nvPr/>
        </p:nvSpPr>
        <p:spPr>
          <a:xfrm>
            <a:off x="5905500" y="5006339"/>
            <a:ext cx="16129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F0"/>
                </a:solidFill>
                <a:latin typeface="Be Vietnam Pro" pitchFamily="34" charset="0"/>
                <a:ea typeface="Be Vietnam Pro" pitchFamily="34" charset="-122"/>
                <a:cs typeface="Be Vietnam Pro" pitchFamily="34" charset="-120"/>
              </a:rPr>
              <a:t>độc lập · κ = 0,744 (4 lớp)</a:t>
            </a:r>
            <a:endParaRPr lang="en-US" sz="1200" dirty="0"/>
          </a:p>
        </p:txBody>
      </p:sp>
      <p:sp>
        <p:nvSpPr>
          <p:cNvPr id="38" name="Shape 33"/>
          <p:cNvSpPr/>
          <p:nvPr/>
        </p:nvSpPr>
        <p:spPr>
          <a:xfrm>
            <a:off x="7670800" y="4617721"/>
            <a:ext cx="1765300" cy="916940"/>
          </a:xfrm>
          <a:prstGeom prst="roundRect">
            <a:avLst>
              <a:gd name="adj" fmla="val 8310"/>
            </a:avLst>
          </a:prstGeom>
          <a:solidFill>
            <a:srgbClr val="24345A"/>
          </a:solidFill>
          <a:ln/>
        </p:spPr>
      </p:sp>
      <p:sp>
        <p:nvSpPr>
          <p:cNvPr id="39" name="Text 34"/>
          <p:cNvSpPr/>
          <p:nvPr/>
        </p:nvSpPr>
        <p:spPr>
          <a:xfrm>
            <a:off x="7772400" y="4719321"/>
            <a:ext cx="16129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B33D"/>
                </a:solidFill>
                <a:latin typeface="Be Vietnam Pro" pitchFamily="34" charset="0"/>
                <a:ea typeface="Be Vietnam Pro" pitchFamily="34" charset="-122"/>
                <a:cs typeface="Be Vietnam Pro" pitchFamily="34" charset="-120"/>
              </a:rPr>
              <a:t>521 bất đồng</a:t>
            </a:r>
            <a:endParaRPr lang="en-US" sz="1400" dirty="0"/>
          </a:p>
        </p:txBody>
      </p:sp>
      <p:sp>
        <p:nvSpPr>
          <p:cNvPr id="40" name="Text 35"/>
          <p:cNvSpPr/>
          <p:nvPr/>
        </p:nvSpPr>
        <p:spPr>
          <a:xfrm>
            <a:off x="7772400" y="5006339"/>
            <a:ext cx="16129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F0"/>
                </a:solidFill>
                <a:latin typeface="Be Vietnam Pro" pitchFamily="34" charset="0"/>
                <a:ea typeface="Be Vietnam Pro" pitchFamily="34" charset="-122"/>
                <a:cs typeface="Be Vietnam Pro" pitchFamily="34" charset="-120"/>
              </a:rPr>
              <a:t>phân xử, không xem gợi ý LLM</a:t>
            </a:r>
            <a:endParaRPr lang="en-US" sz="1200" dirty="0"/>
          </a:p>
        </p:txBody>
      </p:sp>
      <p:sp>
        <p:nvSpPr>
          <p:cNvPr id="41" name="Shape 36"/>
          <p:cNvSpPr/>
          <p:nvPr/>
        </p:nvSpPr>
        <p:spPr>
          <a:xfrm>
            <a:off x="9537700" y="4617721"/>
            <a:ext cx="1765300" cy="916940"/>
          </a:xfrm>
          <a:prstGeom prst="roundRect">
            <a:avLst>
              <a:gd name="adj" fmla="val 8310"/>
            </a:avLst>
          </a:prstGeom>
          <a:solidFill>
            <a:srgbClr val="24345A"/>
          </a:solidFill>
          <a:ln/>
        </p:spPr>
      </p:sp>
      <p:sp>
        <p:nvSpPr>
          <p:cNvPr id="42" name="Text 37"/>
          <p:cNvSpPr/>
          <p:nvPr/>
        </p:nvSpPr>
        <p:spPr>
          <a:xfrm>
            <a:off x="9639300" y="4719321"/>
            <a:ext cx="16129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B33D"/>
                </a:solidFill>
                <a:latin typeface="Be Vietnam Pro" pitchFamily="34" charset="0"/>
                <a:ea typeface="Be Vietnam Pro" pitchFamily="34" charset="-122"/>
                <a:cs typeface="Be Vietnam Pro" pitchFamily="34" charset="-120"/>
              </a:rPr>
              <a:t>54 nhãn sửa</a:t>
            </a:r>
            <a:endParaRPr lang="en-US" sz="1400" dirty="0"/>
          </a:p>
        </p:txBody>
      </p:sp>
      <p:sp>
        <p:nvSpPr>
          <p:cNvPr id="43" name="Text 38"/>
          <p:cNvSpPr/>
          <p:nvPr/>
        </p:nvSpPr>
        <p:spPr>
          <a:xfrm>
            <a:off x="9639300" y="5006339"/>
            <a:ext cx="16129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F0"/>
                </a:solidFill>
                <a:latin typeface="Be Vietnam Pro" pitchFamily="34" charset="0"/>
                <a:ea typeface="Be Vietnam Pro" pitchFamily="34" charset="-122"/>
                <a:cs typeface="Be Vietnam Pro" pitchFamily="34" charset="-120"/>
              </a:rPr>
              <a:t>rà soát nháp → phân xử vòng 2</a:t>
            </a:r>
            <a:endParaRPr lang="en-US" sz="1200" dirty="0"/>
          </a:p>
        </p:txBody>
      </p:sp>
      <p:sp>
        <p:nvSpPr>
          <p:cNvPr id="44" name="Text 39"/>
          <p:cNvSpPr/>
          <p:nvPr/>
        </p:nvSpPr>
        <p:spPr>
          <a:xfrm>
            <a:off x="812800" y="6238239"/>
            <a:ext cx="72225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Độ tin cậy: κ = 0,744 (4 lớp), κ = 0,839 (nhị phân)</a:t>
            </a:r>
            <a:endParaRPr lang="en-US" sz="1200" dirty="0"/>
          </a:p>
        </p:txBody>
      </p:sp>
      <p:sp>
        <p:nvSpPr>
          <p:cNvPr id="45" name="Text 40"/>
          <p:cNvSpPr/>
          <p:nvPr/>
        </p:nvSpPr>
        <p:spPr>
          <a:xfrm>
            <a:off x="11237833" y="6238239"/>
            <a:ext cx="1413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PHÁT HIỆN VỀ DỮ LIỆU · RQ2</a:t>
            </a:r>
            <a:endParaRPr lang="en-US" sz="1200" dirty="0"/>
          </a:p>
        </p:txBody>
      </p:sp>
      <p:sp>
        <p:nvSpPr>
          <p:cNvPr id="3" name="Text 1"/>
          <p:cNvSpPr/>
          <p:nvPr>
            <p:ph type="title"/>
          </p:nvPr>
        </p:nvSpPr>
        <p:spPr>
          <a:xfrm>
            <a:off x="812800" y="1000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Truy xuất thực tế thường không đủ – và nhiễu</a:t>
            </a:r>
            <a:endParaRPr lang="en-US" sz="2800" dirty="0"/>
          </a:p>
        </p:txBody>
      </p:sp>
      <p:sp>
        <p:nvSpPr>
          <p:cNvPr id="4" name="Text 2"/>
          <p:cNvSpPr/>
          <p:nvPr/>
        </p:nvSpPr>
        <p:spPr>
          <a:xfrm>
            <a:off x="812800" y="1689100"/>
            <a:ext cx="2924016" cy="905510"/>
          </a:xfrm>
          <a:prstGeom prst="rect">
            <a:avLst/>
          </a:prstGeom>
          <a:noFill/>
          <a:ln/>
        </p:spPr>
        <p:txBody>
          <a:bodyPr wrap="square" lIns="0" tIns="0" rIns="0" bIns="0" rtlCol="0" anchor="t">
            <a:normAutofit/>
          </a:bodyPr>
          <a:lstStyle/>
          <a:p>
            <a:pPr algn="l" indent="0" marL="0">
              <a:lnSpc>
                <a:spcPts val="6930"/>
              </a:lnSpc>
              <a:buNone/>
            </a:pPr>
            <a:r>
              <a:rPr lang="en-US" sz="6600" b="1" dirty="0">
                <a:solidFill>
                  <a:srgbClr val="C4472B"/>
                </a:solidFill>
                <a:latin typeface="Be Vietnam Pro" pitchFamily="34" charset="0"/>
                <a:ea typeface="Be Vietnam Pro" pitchFamily="34" charset="-122"/>
                <a:cs typeface="Be Vietnam Pro" pitchFamily="34" charset="-120"/>
              </a:rPr>
              <a:t>35,3%</a:t>
            </a:r>
            <a:endParaRPr lang="en-US" sz="6600" dirty="0"/>
          </a:p>
        </p:txBody>
      </p:sp>
      <p:sp>
        <p:nvSpPr>
          <p:cNvPr id="5" name="Text 3"/>
          <p:cNvSpPr/>
          <p:nvPr/>
        </p:nvSpPr>
        <p:spPr>
          <a:xfrm>
            <a:off x="3736816" y="1729107"/>
            <a:ext cx="321269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Be Vietnam Pro" pitchFamily="34" charset="0"/>
                <a:ea typeface="Be Vietnam Pro" pitchFamily="34" charset="-122"/>
                <a:cs typeface="Be Vietnam Pro" pitchFamily="34" charset="-120"/>
              </a:rPr>
              <a:t>truy vấn </a:t>
            </a:r>
            <a:r>
              <a:rPr lang="en-US" sz="1500" b="1" dirty="0">
                <a:solidFill>
                  <a:srgbClr val="14213D"/>
                </a:solidFill>
                <a:latin typeface="Be Vietnam Pro" pitchFamily="34" charset="0"/>
                <a:ea typeface="Be Vietnam Pro" pitchFamily="34" charset="-122"/>
                <a:cs typeface="Be Vietnam Pro" pitchFamily="34" charset="-120"/>
              </a:rPr>
              <a:t>không thể trả lời đầy đủ và rõ ràng</a:t>
            </a:r>
            <a:r>
              <a:rPr lang="en-US" sz="1500" dirty="0">
                <a:solidFill>
                  <a:srgbClr val="14213D"/>
                </a:solidFill>
                <a:latin typeface="Be Vietnam Pro" pitchFamily="34" charset="0"/>
                <a:ea typeface="Be Vietnam Pro" pitchFamily="34" charset="-122"/>
                <a:cs typeface="Be Vietnam Pro" pitchFamily="34" charset="-120"/>
              </a:rPr>
              <a:t> từ ba kết quả đầu tiên từ Google</a:t>
            </a:r>
            <a:endParaRPr lang="en-US" sz="1500" dirty="0"/>
          </a:p>
        </p:txBody>
      </p:sp>
      <p:sp>
        <p:nvSpPr>
          <p:cNvPr id="6" name="Text 4"/>
          <p:cNvSpPr/>
          <p:nvPr/>
        </p:nvSpPr>
        <p:spPr>
          <a:xfrm>
            <a:off x="812800" y="2805432"/>
            <a:ext cx="1130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Pháp luật</a:t>
            </a:r>
            <a:endParaRPr lang="en-US" sz="1200" dirty="0"/>
          </a:p>
        </p:txBody>
      </p:sp>
      <p:sp>
        <p:nvSpPr>
          <p:cNvPr id="7" name="Text 5"/>
          <p:cNvSpPr/>
          <p:nvPr/>
        </p:nvSpPr>
        <p:spPr>
          <a:xfrm>
            <a:off x="2019300" y="2747011"/>
            <a:ext cx="2952750" cy="330200"/>
          </a:xfrm>
          <a:prstGeom prst="rect">
            <a:avLst/>
          </a:prstGeom>
          <a:solidFill>
            <a:srgbClr val="2F7D62"/>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66,5%</a:t>
            </a:r>
            <a:endParaRPr lang="en-US" sz="1200" dirty="0"/>
          </a:p>
        </p:txBody>
      </p:sp>
      <p:sp>
        <p:nvSpPr>
          <p:cNvPr id="8" name="Text 6"/>
          <p:cNvSpPr/>
          <p:nvPr/>
        </p:nvSpPr>
        <p:spPr>
          <a:xfrm>
            <a:off x="4972050" y="2747011"/>
            <a:ext cx="304800" cy="330200"/>
          </a:xfrm>
          <a:prstGeom prst="rect">
            <a:avLst/>
          </a:prstGeom>
          <a:solidFill>
            <a:srgbClr val="E3A33B"/>
          </a:solidFill>
          <a:ln/>
        </p:spPr>
        <p:txBody>
          <a:bodyPr wrap="square" lIns="0" tIns="0" rIns="0" bIns="0" rtlCol="0" anchor="ctr">
            <a:normAutofit/>
          </a:bodyPr>
          <a:lstStyle/>
          <a:p>
            <a:pPr algn="ctr"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7</a:t>
            </a:r>
            <a:endParaRPr lang="en-US" sz="1200" dirty="0"/>
          </a:p>
        </p:txBody>
      </p:sp>
      <p:sp>
        <p:nvSpPr>
          <p:cNvPr id="9" name="Text 7"/>
          <p:cNvSpPr/>
          <p:nvPr/>
        </p:nvSpPr>
        <p:spPr>
          <a:xfrm>
            <a:off x="5276850" y="2747011"/>
            <a:ext cx="1149350" cy="330200"/>
          </a:xfrm>
          <a:prstGeom prst="rect">
            <a:avLst/>
          </a:prstGeom>
          <a:solidFill>
            <a:srgbClr val="C4472B"/>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25,8%</a:t>
            </a:r>
            <a:endParaRPr lang="en-US" sz="1200" dirty="0"/>
          </a:p>
        </p:txBody>
      </p:sp>
      <p:sp>
        <p:nvSpPr>
          <p:cNvPr id="10" name="Shape 8"/>
          <p:cNvSpPr/>
          <p:nvPr/>
        </p:nvSpPr>
        <p:spPr>
          <a:xfrm>
            <a:off x="6426200" y="2747011"/>
            <a:ext cx="38100" cy="330200"/>
          </a:xfrm>
          <a:prstGeom prst="rect">
            <a:avLst/>
          </a:prstGeom>
          <a:solidFill>
            <a:srgbClr val="8C96A5"/>
          </a:solidFill>
          <a:ln/>
        </p:spPr>
      </p:sp>
      <p:sp>
        <p:nvSpPr>
          <p:cNvPr id="11" name="Text 9"/>
          <p:cNvSpPr/>
          <p:nvPr/>
        </p:nvSpPr>
        <p:spPr>
          <a:xfrm>
            <a:off x="812800" y="3224532"/>
            <a:ext cx="1130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Miền mở</a:t>
            </a:r>
            <a:endParaRPr lang="en-US" sz="1200" dirty="0"/>
          </a:p>
        </p:txBody>
      </p:sp>
      <p:sp>
        <p:nvSpPr>
          <p:cNvPr id="12" name="Text 10"/>
          <p:cNvSpPr/>
          <p:nvPr/>
        </p:nvSpPr>
        <p:spPr>
          <a:xfrm>
            <a:off x="2019300" y="3166111"/>
            <a:ext cx="2844800" cy="330200"/>
          </a:xfrm>
          <a:prstGeom prst="rect">
            <a:avLst/>
          </a:prstGeom>
          <a:solidFill>
            <a:srgbClr val="2F7D62"/>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64,0%</a:t>
            </a:r>
            <a:endParaRPr lang="en-US" sz="1200" dirty="0"/>
          </a:p>
        </p:txBody>
      </p:sp>
      <p:sp>
        <p:nvSpPr>
          <p:cNvPr id="13" name="Text 11"/>
          <p:cNvSpPr/>
          <p:nvPr/>
        </p:nvSpPr>
        <p:spPr>
          <a:xfrm>
            <a:off x="4864100" y="3166111"/>
            <a:ext cx="387350" cy="330200"/>
          </a:xfrm>
          <a:prstGeom prst="rect">
            <a:avLst/>
          </a:prstGeom>
          <a:solidFill>
            <a:srgbClr val="E3A33B"/>
          </a:solidFill>
          <a:ln/>
        </p:spPr>
        <p:txBody>
          <a:bodyPr wrap="square" lIns="0" tIns="0" rIns="0" bIns="0" rtlCol="0" anchor="ctr">
            <a:normAutofit/>
          </a:bodyPr>
          <a:lstStyle/>
          <a:p>
            <a:pPr algn="ctr"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9</a:t>
            </a:r>
            <a:endParaRPr lang="en-US" sz="1200" dirty="0"/>
          </a:p>
        </p:txBody>
      </p:sp>
      <p:sp>
        <p:nvSpPr>
          <p:cNvPr id="14" name="Text 12"/>
          <p:cNvSpPr/>
          <p:nvPr/>
        </p:nvSpPr>
        <p:spPr>
          <a:xfrm>
            <a:off x="5251450" y="3166111"/>
            <a:ext cx="1155700" cy="330200"/>
          </a:xfrm>
          <a:prstGeom prst="rect">
            <a:avLst/>
          </a:prstGeom>
          <a:solidFill>
            <a:srgbClr val="C4472B"/>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26,1%</a:t>
            </a:r>
            <a:endParaRPr lang="en-US" sz="1200" dirty="0"/>
          </a:p>
        </p:txBody>
      </p:sp>
      <p:sp>
        <p:nvSpPr>
          <p:cNvPr id="15" name="Shape 13"/>
          <p:cNvSpPr/>
          <p:nvPr/>
        </p:nvSpPr>
        <p:spPr>
          <a:xfrm>
            <a:off x="6407150" y="3166111"/>
            <a:ext cx="57150" cy="330200"/>
          </a:xfrm>
          <a:prstGeom prst="rect">
            <a:avLst/>
          </a:prstGeom>
          <a:solidFill>
            <a:srgbClr val="8C96A5"/>
          </a:solidFill>
          <a:ln/>
        </p:spPr>
      </p:sp>
      <p:sp>
        <p:nvSpPr>
          <p:cNvPr id="16" name="Text 14"/>
          <p:cNvSpPr/>
          <p:nvPr/>
        </p:nvSpPr>
        <p:spPr>
          <a:xfrm>
            <a:off x="812800" y="3643632"/>
            <a:ext cx="1130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Toàn bộ</a:t>
            </a:r>
            <a:endParaRPr lang="en-US" sz="1200" dirty="0"/>
          </a:p>
        </p:txBody>
      </p:sp>
      <p:sp>
        <p:nvSpPr>
          <p:cNvPr id="17" name="Text 15"/>
          <p:cNvSpPr/>
          <p:nvPr/>
        </p:nvSpPr>
        <p:spPr>
          <a:xfrm>
            <a:off x="2019300" y="3585211"/>
            <a:ext cx="2876550" cy="330200"/>
          </a:xfrm>
          <a:prstGeom prst="rect">
            <a:avLst/>
          </a:prstGeom>
          <a:solidFill>
            <a:srgbClr val="2F7D62"/>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64,7%</a:t>
            </a:r>
            <a:endParaRPr lang="en-US" sz="1200" dirty="0"/>
          </a:p>
        </p:txBody>
      </p:sp>
      <p:sp>
        <p:nvSpPr>
          <p:cNvPr id="18" name="Text 16"/>
          <p:cNvSpPr/>
          <p:nvPr/>
        </p:nvSpPr>
        <p:spPr>
          <a:xfrm>
            <a:off x="4895850" y="3585211"/>
            <a:ext cx="361950" cy="330200"/>
          </a:xfrm>
          <a:prstGeom prst="rect">
            <a:avLst/>
          </a:prstGeom>
          <a:solidFill>
            <a:srgbClr val="E3A33B"/>
          </a:solidFill>
          <a:ln/>
        </p:spPr>
        <p:txBody>
          <a:bodyPr wrap="square" lIns="0" tIns="0" rIns="0" bIns="0" rtlCol="0" anchor="ctr">
            <a:normAutofit/>
          </a:bodyPr>
          <a:lstStyle/>
          <a:p>
            <a:pPr algn="ctr"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8</a:t>
            </a:r>
            <a:endParaRPr lang="en-US" sz="1200" dirty="0"/>
          </a:p>
        </p:txBody>
      </p:sp>
      <p:sp>
        <p:nvSpPr>
          <p:cNvPr id="19" name="Text 17"/>
          <p:cNvSpPr/>
          <p:nvPr/>
        </p:nvSpPr>
        <p:spPr>
          <a:xfrm>
            <a:off x="5257800" y="3585211"/>
            <a:ext cx="1155700" cy="330200"/>
          </a:xfrm>
          <a:prstGeom prst="rect">
            <a:avLst/>
          </a:prstGeom>
          <a:solidFill>
            <a:srgbClr val="C4472B"/>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26,0%</a:t>
            </a:r>
            <a:endParaRPr lang="en-US" sz="1200" dirty="0"/>
          </a:p>
        </p:txBody>
      </p:sp>
      <p:sp>
        <p:nvSpPr>
          <p:cNvPr id="20" name="Shape 18"/>
          <p:cNvSpPr/>
          <p:nvPr/>
        </p:nvSpPr>
        <p:spPr>
          <a:xfrm>
            <a:off x="6413500" y="3585211"/>
            <a:ext cx="50800" cy="330200"/>
          </a:xfrm>
          <a:prstGeom prst="rect">
            <a:avLst/>
          </a:prstGeom>
          <a:solidFill>
            <a:srgbClr val="8C96A5"/>
          </a:solidFill>
          <a:ln/>
        </p:spPr>
      </p:sp>
      <p:sp>
        <p:nvSpPr>
          <p:cNvPr id="21" name="Text 19"/>
          <p:cNvSpPr/>
          <p:nvPr/>
        </p:nvSpPr>
        <p:spPr>
          <a:xfrm>
            <a:off x="812800" y="4093214"/>
            <a:ext cx="62244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7D62"/>
                </a:solidFill>
                <a:latin typeface="Be Vietnam Pro" pitchFamily="34" charset="0"/>
                <a:ea typeface="Be Vietnam Pro" pitchFamily="34" charset="-122"/>
                <a:cs typeface="Be Vietnam Pro" pitchFamily="34" charset="-120"/>
              </a:rPr>
              <a:t>■</a:t>
            </a:r>
            <a:r>
              <a:rPr lang="en-US" sz="1200" dirty="0">
                <a:solidFill>
                  <a:srgbClr val="4A5568"/>
                </a:solidFill>
                <a:latin typeface="Be Vietnam Pro" pitchFamily="34" charset="0"/>
                <a:ea typeface="Be Vietnam Pro" pitchFamily="34" charset="-122"/>
                <a:cs typeface="Be Vietnam Pro" pitchFamily="34" charset="-120"/>
              </a:rPr>
              <a:t> YES </a:t>
            </a:r>
            <a:r>
              <a:rPr lang="en-US" sz="1200" dirty="0">
                <a:solidFill>
                  <a:srgbClr val="E3A33B"/>
                </a:solidFill>
                <a:latin typeface="Be Vietnam Pro" pitchFamily="34" charset="0"/>
                <a:ea typeface="Be Vietnam Pro" pitchFamily="34" charset="-122"/>
                <a:cs typeface="Be Vietnam Pro" pitchFamily="34" charset="-120"/>
              </a:rPr>
              <a:t>■</a:t>
            </a:r>
            <a:r>
              <a:rPr lang="en-US" sz="1200" dirty="0">
                <a:solidFill>
                  <a:srgbClr val="4A5568"/>
                </a:solidFill>
                <a:latin typeface="Be Vietnam Pro" pitchFamily="34" charset="0"/>
                <a:ea typeface="Be Vietnam Pro" pitchFamily="34" charset="-122"/>
                <a:cs typeface="Be Vietnam Pro" pitchFamily="34" charset="-120"/>
              </a:rPr>
              <a:t> PARTIAL (8,1%) </a:t>
            </a:r>
            <a:r>
              <a:rPr lang="en-US" sz="1200" dirty="0">
                <a:solidFill>
                  <a:srgbClr val="C4472B"/>
                </a:solidFill>
                <a:latin typeface="Be Vietnam Pro" pitchFamily="34" charset="0"/>
                <a:ea typeface="Be Vietnam Pro" pitchFamily="34" charset="-122"/>
                <a:cs typeface="Be Vietnam Pro" pitchFamily="34" charset="-120"/>
              </a:rPr>
              <a:t>■</a:t>
            </a:r>
            <a:r>
              <a:rPr lang="en-US" sz="1200" dirty="0">
                <a:solidFill>
                  <a:srgbClr val="4A5568"/>
                </a:solidFill>
                <a:latin typeface="Be Vietnam Pro" pitchFamily="34" charset="0"/>
                <a:ea typeface="Be Vietnam Pro" pitchFamily="34" charset="-122"/>
                <a:cs typeface="Be Vietnam Pro" pitchFamily="34" charset="-120"/>
              </a:rPr>
              <a:t> NO </a:t>
            </a:r>
            <a:r>
              <a:rPr lang="en-US" sz="1200" dirty="0">
                <a:solidFill>
                  <a:srgbClr val="8C96A5"/>
                </a:solidFill>
                <a:latin typeface="Be Vietnam Pro" pitchFamily="34" charset="0"/>
                <a:ea typeface="Be Vietnam Pro" pitchFamily="34" charset="-122"/>
                <a:cs typeface="Be Vietnam Pro" pitchFamily="34" charset="-120"/>
              </a:rPr>
              <a:t>■</a:t>
            </a:r>
            <a:r>
              <a:rPr lang="en-US" sz="1200" dirty="0">
                <a:solidFill>
                  <a:srgbClr val="4A5568"/>
                </a:solidFill>
                <a:latin typeface="Be Vietnam Pro" pitchFamily="34" charset="0"/>
                <a:ea typeface="Be Vietnam Pro" pitchFamily="34" charset="-122"/>
                <a:cs typeface="Be Vietnam Pro" pitchFamily="34" charset="-120"/>
              </a:rPr>
              <a:t> AMBIGUOUS (1,2%) · Không đầy đủ: pháp luật 33,5% – miền mở 36,1%</a:t>
            </a:r>
            <a:endParaRPr lang="en-US" sz="1200" dirty="0"/>
          </a:p>
        </p:txBody>
      </p:sp>
      <p:sp>
        <p:nvSpPr>
          <p:cNvPr id="22" name="Shape 20"/>
          <p:cNvSpPr/>
          <p:nvPr/>
        </p:nvSpPr>
        <p:spPr>
          <a:xfrm>
            <a:off x="7214712" y="1692275"/>
            <a:ext cx="4161314" cy="1164590"/>
          </a:xfrm>
          <a:prstGeom prst="roundRect">
            <a:avLst>
              <a:gd name="adj" fmla="val 8451"/>
            </a:avLst>
          </a:prstGeom>
          <a:solidFill>
            <a:srgbClr val="FFFFFF"/>
          </a:solidFill>
          <a:ln w="6350">
            <a:solidFill>
              <a:srgbClr val="D5DBE5"/>
            </a:solidFill>
            <a:prstDash val="solid"/>
          </a:ln>
        </p:spPr>
      </p:sp>
      <p:sp>
        <p:nvSpPr>
          <p:cNvPr id="23" name="Text 21"/>
          <p:cNvSpPr/>
          <p:nvPr/>
        </p:nvSpPr>
        <p:spPr>
          <a:xfrm>
            <a:off x="7394416" y="1846582"/>
            <a:ext cx="391596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Be Vietnam Pro" pitchFamily="34" charset="0"/>
                <a:ea typeface="Be Vietnam Pro" pitchFamily="34" charset="-122"/>
                <a:cs typeface="Be Vietnam Pro" pitchFamily="34" charset="-120"/>
              </a:rPr>
              <a:t>≈ 1/2</a:t>
            </a:r>
            <a:endParaRPr lang="en-US" sz="2200" dirty="0"/>
          </a:p>
        </p:txBody>
      </p:sp>
      <p:sp>
        <p:nvSpPr>
          <p:cNvPr id="24" name="Text 22"/>
          <p:cNvSpPr/>
          <p:nvPr/>
        </p:nvSpPr>
        <p:spPr>
          <a:xfrm>
            <a:off x="7394416" y="2275839"/>
            <a:ext cx="39159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bản ghi trả lời được vẫn có tài liệu gây nhiễu trong ngữ cảnh.</a:t>
            </a:r>
            <a:endParaRPr lang="en-US" sz="1200" dirty="0"/>
          </a:p>
        </p:txBody>
      </p:sp>
      <p:sp>
        <p:nvSpPr>
          <p:cNvPr id="25" name="Shape 23"/>
          <p:cNvSpPr/>
          <p:nvPr/>
        </p:nvSpPr>
        <p:spPr>
          <a:xfrm>
            <a:off x="7214712" y="2990214"/>
            <a:ext cx="4161314" cy="1164590"/>
          </a:xfrm>
          <a:prstGeom prst="roundRect">
            <a:avLst>
              <a:gd name="adj" fmla="val 8451"/>
            </a:avLst>
          </a:prstGeom>
          <a:solidFill>
            <a:srgbClr val="FFFFFF"/>
          </a:solidFill>
          <a:ln w="6350">
            <a:solidFill>
              <a:srgbClr val="D5DBE5"/>
            </a:solidFill>
            <a:prstDash val="solid"/>
          </a:ln>
        </p:spPr>
      </p:sp>
      <p:sp>
        <p:nvSpPr>
          <p:cNvPr id="26" name="Text 24"/>
          <p:cNvSpPr/>
          <p:nvPr/>
        </p:nvSpPr>
        <p:spPr>
          <a:xfrm>
            <a:off x="7394416" y="3144521"/>
            <a:ext cx="391596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Be Vietnam Pro" pitchFamily="34" charset="0"/>
                <a:ea typeface="Be Vietnam Pro" pitchFamily="34" charset="-122"/>
                <a:cs typeface="Be Vietnam Pro" pitchFamily="34" charset="-120"/>
              </a:rPr>
              <a:t>AUC 0,668</a:t>
            </a:r>
            <a:endParaRPr lang="en-US" sz="2200" dirty="0"/>
          </a:p>
        </p:txBody>
      </p:sp>
      <p:sp>
        <p:nvSpPr>
          <p:cNvPr id="27" name="Text 25"/>
          <p:cNvSpPr/>
          <p:nvPr/>
        </p:nvSpPr>
        <p:spPr>
          <a:xfrm>
            <a:off x="7394416" y="3573782"/>
            <a:ext cx="39159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độ tương đồng BGE-M3 khi phân biệt tài liệu hỗ trợ – liên quan chủ đề ≠ có câu trả lời.</a:t>
            </a:r>
            <a:endParaRPr lang="en-US" sz="1200" dirty="0"/>
          </a:p>
        </p:txBody>
      </p:sp>
      <p:sp>
        <p:nvSpPr>
          <p:cNvPr id="28" name="Shape 26"/>
          <p:cNvSpPr/>
          <p:nvPr/>
        </p:nvSpPr>
        <p:spPr>
          <a:xfrm>
            <a:off x="7214712" y="4288154"/>
            <a:ext cx="4161314" cy="1075690"/>
          </a:xfrm>
          <a:prstGeom prst="roundRect">
            <a:avLst>
              <a:gd name="adj" fmla="val 9150"/>
            </a:avLst>
          </a:prstGeom>
          <a:solidFill>
            <a:srgbClr val="FFFFFF"/>
          </a:solidFill>
          <a:ln w="6350">
            <a:solidFill>
              <a:srgbClr val="D5DBE5"/>
            </a:solidFill>
            <a:prstDash val="solid"/>
          </a:ln>
        </p:spPr>
      </p:sp>
      <p:sp>
        <p:nvSpPr>
          <p:cNvPr id="29" name="Text 27"/>
          <p:cNvSpPr/>
          <p:nvPr/>
        </p:nvSpPr>
        <p:spPr>
          <a:xfrm>
            <a:off x="7394416" y="4442464"/>
            <a:ext cx="391596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Be Vietnam Pro" pitchFamily="34" charset="0"/>
                <a:ea typeface="Be Vietnam Pro" pitchFamily="34" charset="-122"/>
                <a:cs typeface="Be Vietnam Pro" pitchFamily="34" charset="-120"/>
              </a:rPr>
              <a:t>Số lượng · thời gian · nguyên nhân</a:t>
            </a:r>
            <a:endParaRPr lang="en-US" sz="1700" dirty="0"/>
          </a:p>
        </p:txBody>
      </p:sp>
      <p:sp>
        <p:nvSpPr>
          <p:cNvPr id="30" name="Text 28"/>
          <p:cNvSpPr/>
          <p:nvPr/>
        </p:nvSpPr>
        <p:spPr>
          <a:xfrm>
            <a:off x="7394416" y="4782821"/>
            <a:ext cx="39159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dạng câu hỏi khó nhất – gần một nửa không trả lời đầy đủ được.</a:t>
            </a:r>
            <a:endParaRPr lang="en-US" sz="1200" dirty="0"/>
          </a:p>
        </p:txBody>
      </p:sp>
      <p:sp>
        <p:nvSpPr>
          <p:cNvPr id="31" name="Text 29"/>
          <p:cNvSpPr/>
          <p:nvPr/>
        </p:nvSpPr>
        <p:spPr>
          <a:xfrm>
            <a:off x="812800" y="6238242"/>
            <a:ext cx="67481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4.117 bản ghi: 1.171 pháp luật, 2.946 miền mở</a:t>
            </a:r>
            <a:endParaRPr lang="en-US" sz="1200" dirty="0"/>
          </a:p>
        </p:txBody>
      </p:sp>
      <p:sp>
        <p:nvSpPr>
          <p:cNvPr id="32" name="Text 30"/>
          <p:cNvSpPr/>
          <p:nvPr/>
        </p:nvSpPr>
        <p:spPr>
          <a:xfrm>
            <a:off x="11231721" y="6238242"/>
            <a:ext cx="147479"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KHUNG ĐÁNH GIÁ · RQ3</a:t>
            </a:r>
            <a:endParaRPr lang="en-US" sz="1200" dirty="0"/>
          </a:p>
        </p:txBody>
      </p:sp>
      <p:sp>
        <p:nvSpPr>
          <p:cNvPr id="3" name="Text 1"/>
          <p:cNvSpPr/>
          <p:nvPr>
            <p:ph type="title"/>
          </p:nvPr>
        </p:nvSpPr>
        <p:spPr>
          <a:xfrm>
            <a:off x="812800" y="1000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Chấm điểm theo nhãn của từng bản ghi</a:t>
            </a:r>
            <a:endParaRPr lang="en-US" sz="2800" dirty="0"/>
          </a:p>
        </p:txBody>
      </p:sp>
      <p:sp>
        <p:nvSpPr>
          <p:cNvPr id="4" name="Shape 2"/>
          <p:cNvSpPr/>
          <p:nvPr/>
        </p:nvSpPr>
        <p:spPr>
          <a:xfrm>
            <a:off x="812800" y="2597150"/>
            <a:ext cx="1841500" cy="1270000"/>
          </a:xfrm>
          <a:prstGeom prst="roundRect">
            <a:avLst>
              <a:gd name="adj" fmla="val 9000"/>
            </a:avLst>
          </a:prstGeom>
          <a:solidFill>
            <a:srgbClr val="14213D"/>
          </a:solidFill>
          <a:ln/>
        </p:spPr>
      </p:sp>
      <p:pic>
        <p:nvPicPr>
          <p:cNvPr id="5" name="Image 0" descr="Chat">    </p:cNvPr>
          <p:cNvPicPr>
            <a:picLocks noChangeAspect="1"/>
          </p:cNvPicPr>
          <p:nvPr/>
        </p:nvPicPr>
        <p:blipFill>
          <a:blip r:embed="rId1"/>
          <a:srcRect l="-323" r="-323" t="0" b="0"/>
          <a:stretch/>
        </p:blipFill>
        <p:spPr>
          <a:xfrm>
            <a:off x="965200" y="2749550"/>
            <a:ext cx="254000" cy="233442"/>
          </a:xfrm>
          <a:prstGeom prst="rect">
            <a:avLst/>
          </a:prstGeom>
        </p:spPr>
      </p:pic>
      <p:sp>
        <p:nvSpPr>
          <p:cNvPr id="6" name="Text 3"/>
          <p:cNvSpPr/>
          <p:nvPr/>
        </p:nvSpPr>
        <p:spPr>
          <a:xfrm>
            <a:off x="965200" y="3046493"/>
            <a:ext cx="1587500" cy="434022"/>
          </a:xfrm>
          <a:prstGeom prst="rect">
            <a:avLst/>
          </a:prstGeom>
          <a:noFill/>
          <a:ln/>
        </p:spPr>
        <p:txBody>
          <a:bodyPr wrap="square" lIns="0" tIns="0" rIns="0" bIns="0" rtlCol="0" anchor="t">
            <a:normAutofit/>
          </a:bodyPr>
          <a:lstStyle/>
          <a:p>
            <a:pPr algn="l" indent="0" marL="0">
              <a:lnSpc>
                <a:spcPts val="1608"/>
              </a:lnSpc>
              <a:buNone/>
            </a:pPr>
            <a:r>
              <a:rPr lang="en-US" sz="1286" b="1" dirty="0">
                <a:solidFill>
                  <a:srgbClr val="F7F6F2"/>
                </a:solidFill>
                <a:latin typeface="Be Vietnam Pro" pitchFamily="34" charset="0"/>
                <a:ea typeface="Be Vietnam Pro" pitchFamily="34" charset="-122"/>
                <a:cs typeface="Be Vietnam Pro" pitchFamily="34" charset="-120"/>
              </a:rPr>
              <a:t>Câu trả lời của mô hình</a:t>
            </a:r>
            <a:endParaRPr lang="en-US" sz="1286" dirty="0"/>
          </a:p>
        </p:txBody>
      </p:sp>
      <p:sp>
        <p:nvSpPr>
          <p:cNvPr id="7" name="Text 4"/>
          <p:cNvSpPr/>
          <p:nvPr/>
        </p:nvSpPr>
        <p:spPr>
          <a:xfrm>
            <a:off x="965200" y="3518613"/>
            <a:ext cx="1587500" cy="221536"/>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BFCBE0"/>
                </a:solidFill>
                <a:latin typeface="Be Vietnam Pro" pitchFamily="34" charset="0"/>
                <a:ea typeface="Be Vietnam Pro" pitchFamily="34" charset="-122"/>
                <a:cs typeface="Be Vietnam Pro" pitchFamily="34" charset="-120"/>
              </a:rPr>
              <a:t>rẽ nhánh theo nhãn</a:t>
            </a:r>
            <a:endParaRPr lang="en-US" sz="1121" dirty="0"/>
          </a:p>
        </p:txBody>
      </p:sp>
      <p:sp>
        <p:nvSpPr>
          <p:cNvPr id="8" name="Shape 5"/>
          <p:cNvSpPr/>
          <p:nvPr/>
        </p:nvSpPr>
        <p:spPr>
          <a:xfrm>
            <a:off x="3162300" y="1587500"/>
            <a:ext cx="5397500" cy="698500"/>
          </a:xfrm>
          <a:prstGeom prst="roundRect">
            <a:avLst>
              <a:gd name="adj" fmla="val 12727"/>
            </a:avLst>
          </a:prstGeom>
          <a:solidFill>
            <a:srgbClr val="FFFFFF"/>
          </a:solidFill>
          <a:ln/>
        </p:spPr>
      </p:sp>
      <p:sp>
        <p:nvSpPr>
          <p:cNvPr id="9" name="Shape 6"/>
          <p:cNvSpPr/>
          <p:nvPr/>
        </p:nvSpPr>
        <p:spPr>
          <a:xfrm>
            <a:off x="3162300" y="1587500"/>
            <a:ext cx="5397500" cy="698500"/>
          </a:xfrm>
          <a:custGeom>
            <a:avLst/>
            <a:gdLst/>
            <a:ahLst/>
            <a:cxnLst/>
            <a:rect l="l" t="t" r="r" b="b"/>
            <a:pathLst>
              <a:path w="5397500" h="698500">
                <a:moveTo>
                  <a:pt x="88900" y="698500"/>
                </a:moveTo>
                <a:lnTo>
                  <a:pt x="88900" y="698500"/>
                </a:lnTo>
                <a:arcTo hR="88900" wR="88900" stAng="5400000" swAng="5400000"/>
                <a:lnTo>
                  <a:pt x="0" y="88900"/>
                </a:lnTo>
                <a:arcTo hR="88900" wR="88900" stAng="10800000" swAng="5400000"/>
                <a:lnTo>
                  <a:pt x="88900" y="0"/>
                </a:lnTo>
                <a:arcTo hR="88900" wR="38100" stAng="16200000" swAng="-5400000"/>
                <a:lnTo>
                  <a:pt x="50800" y="609600"/>
                </a:lnTo>
                <a:arcTo hR="88900" wR="38100" stAng="10800000" swAng="-5400000"/>
                <a:close/>
              </a:path>
            </a:pathLst>
          </a:custGeom>
          <a:solidFill>
            <a:srgbClr val="2F7D62"/>
          </a:solidFill>
          <a:ln/>
        </p:spPr>
      </p:sp>
      <p:sp>
        <p:nvSpPr>
          <p:cNvPr id="10" name="Text 7"/>
          <p:cNvSpPr/>
          <p:nvPr/>
        </p:nvSpPr>
        <p:spPr>
          <a:xfrm>
            <a:off x="3365500" y="1770379"/>
            <a:ext cx="1206500" cy="332740"/>
          </a:xfrm>
          <a:custGeom>
            <a:avLst/>
            <a:gdLst/>
            <a:ahLst/>
            <a:cxnLst/>
            <a:rect l="l" t="t" r="r" b="b"/>
            <a:pathLst>
              <a:path w="1206500" h="332740">
                <a:moveTo>
                  <a:pt x="63500" y="0"/>
                </a:moveTo>
                <a:lnTo>
                  <a:pt x="1143000" y="0"/>
                </a:lnTo>
                <a:arcTo hR="63500" wR="63500" stAng="16200000" swAng="5400000"/>
                <a:lnTo>
                  <a:pt x="1206500" y="269240"/>
                </a:lnTo>
                <a:arcTo hR="63500" wR="63500" stAng="0" swAng="5400000"/>
                <a:lnTo>
                  <a:pt x="63500" y="332740"/>
                </a:lnTo>
                <a:arcTo hR="63500" wR="63500" stAng="5400000" swAng="5400000"/>
                <a:lnTo>
                  <a:pt x="0" y="63500"/>
                </a:lnTo>
                <a:arcTo hR="63500" wR="63500" stAng="10800000" swAng="5400000"/>
                <a:close/>
              </a:path>
            </a:pathLst>
          </a:custGeom>
          <a:solidFill>
            <a:srgbClr val="2F7D62"/>
          </a:solidFill>
          <a:ln/>
        </p:spPr>
        <p:txBody>
          <a:bodyPr wrap="square" lIns="38100" tIns="50800" rIns="38100" bIns="25400" rtlCol="0" anchor="t">
            <a:normAutofit/>
          </a:bodyPr>
          <a:lstStyle/>
          <a:p>
            <a:pPr algn="ctr"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YES</a:t>
            </a:r>
            <a:endParaRPr lang="en-US" sz="1300" dirty="0"/>
          </a:p>
        </p:txBody>
      </p:sp>
      <p:sp>
        <p:nvSpPr>
          <p:cNvPr id="11" name="Text 8"/>
          <p:cNvSpPr/>
          <p:nvPr/>
        </p:nvSpPr>
        <p:spPr>
          <a:xfrm>
            <a:off x="4724400" y="1717042"/>
            <a:ext cx="3793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Tách mệnh đề, đối chiếu tham chiếu</a:t>
            </a:r>
            <a:endParaRPr lang="en-US" sz="1200" dirty="0"/>
          </a:p>
        </p:txBody>
      </p:sp>
      <p:sp>
        <p:nvSpPr>
          <p:cNvPr id="12" name="Text 9"/>
          <p:cNvSpPr/>
          <p:nvPr/>
        </p:nvSpPr>
        <p:spPr>
          <a:xfrm>
            <a:off x="4724400" y="1943100"/>
            <a:ext cx="3793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Mệnh đề có căn cứ? Bao phủ điểm chính?</a:t>
            </a:r>
            <a:endParaRPr lang="en-US" sz="1200" dirty="0"/>
          </a:p>
        </p:txBody>
      </p:sp>
      <p:sp>
        <p:nvSpPr>
          <p:cNvPr id="13" name="Shape 10"/>
          <p:cNvSpPr/>
          <p:nvPr/>
        </p:nvSpPr>
        <p:spPr>
          <a:xfrm>
            <a:off x="3162300" y="2451100"/>
            <a:ext cx="5397500" cy="698500"/>
          </a:xfrm>
          <a:prstGeom prst="roundRect">
            <a:avLst>
              <a:gd name="adj" fmla="val 12727"/>
            </a:avLst>
          </a:prstGeom>
          <a:solidFill>
            <a:srgbClr val="FFFFFF"/>
          </a:solidFill>
          <a:ln/>
        </p:spPr>
      </p:sp>
      <p:sp>
        <p:nvSpPr>
          <p:cNvPr id="14" name="Shape 11"/>
          <p:cNvSpPr/>
          <p:nvPr/>
        </p:nvSpPr>
        <p:spPr>
          <a:xfrm>
            <a:off x="3162300" y="2451100"/>
            <a:ext cx="5397500" cy="698500"/>
          </a:xfrm>
          <a:custGeom>
            <a:avLst/>
            <a:gdLst/>
            <a:ahLst/>
            <a:cxnLst/>
            <a:rect l="l" t="t" r="r" b="b"/>
            <a:pathLst>
              <a:path w="5397500" h="698500">
                <a:moveTo>
                  <a:pt x="88900" y="698500"/>
                </a:moveTo>
                <a:lnTo>
                  <a:pt x="88900" y="698500"/>
                </a:lnTo>
                <a:arcTo hR="88900" wR="88900" stAng="5400000" swAng="5400000"/>
                <a:lnTo>
                  <a:pt x="0" y="88900"/>
                </a:lnTo>
                <a:arcTo hR="88900" wR="88900" stAng="10800000" swAng="5400000"/>
                <a:lnTo>
                  <a:pt x="88900" y="0"/>
                </a:lnTo>
                <a:arcTo hR="88900" wR="38100" stAng="16200000" swAng="-5400000"/>
                <a:lnTo>
                  <a:pt x="50800" y="609600"/>
                </a:lnTo>
                <a:arcTo hR="88900" wR="38100" stAng="10800000" swAng="-5400000"/>
                <a:close/>
              </a:path>
            </a:pathLst>
          </a:custGeom>
          <a:solidFill>
            <a:srgbClr val="E3A33B"/>
          </a:solidFill>
          <a:ln/>
        </p:spPr>
      </p:sp>
      <p:sp>
        <p:nvSpPr>
          <p:cNvPr id="15" name="Text 12"/>
          <p:cNvSpPr/>
          <p:nvPr/>
        </p:nvSpPr>
        <p:spPr>
          <a:xfrm>
            <a:off x="3365500" y="2633979"/>
            <a:ext cx="1206500" cy="332740"/>
          </a:xfrm>
          <a:custGeom>
            <a:avLst/>
            <a:gdLst/>
            <a:ahLst/>
            <a:cxnLst/>
            <a:rect l="l" t="t" r="r" b="b"/>
            <a:pathLst>
              <a:path w="1206500" h="332740">
                <a:moveTo>
                  <a:pt x="63500" y="0"/>
                </a:moveTo>
                <a:lnTo>
                  <a:pt x="1143000" y="0"/>
                </a:lnTo>
                <a:arcTo hR="63500" wR="63500" stAng="16200000" swAng="5400000"/>
                <a:lnTo>
                  <a:pt x="1206500" y="269240"/>
                </a:lnTo>
                <a:arcTo hR="63500" wR="63500" stAng="0" swAng="5400000"/>
                <a:lnTo>
                  <a:pt x="63500" y="332740"/>
                </a:lnTo>
                <a:arcTo hR="63500" wR="63500" stAng="5400000" swAng="5400000"/>
                <a:lnTo>
                  <a:pt x="0" y="63500"/>
                </a:lnTo>
                <a:arcTo hR="63500" wR="63500" stAng="10800000" swAng="5400000"/>
                <a:close/>
              </a:path>
            </a:pathLst>
          </a:custGeom>
          <a:solidFill>
            <a:srgbClr val="E3A33B"/>
          </a:solidFill>
          <a:ln/>
        </p:spPr>
        <p:txBody>
          <a:bodyPr wrap="square" lIns="38100" tIns="50800" rIns="38100" bIns="25400" rtlCol="0" anchor="t">
            <a:normAutofit/>
          </a:bodyPr>
          <a:lstStyle/>
          <a:p>
            <a:pPr algn="ctr" indent="0" marL="0">
              <a:lnSpc>
                <a:spcPts val="1820"/>
              </a:lnSpc>
              <a:buNone/>
            </a:pPr>
            <a:r>
              <a:rPr lang="en-US" sz="1300" b="1" dirty="0">
                <a:solidFill>
                  <a:srgbClr val="14213D"/>
                </a:solidFill>
                <a:latin typeface="Be Vietnam Pro" pitchFamily="34" charset="0"/>
                <a:ea typeface="Be Vietnam Pro" pitchFamily="34" charset="-122"/>
                <a:cs typeface="Be Vietnam Pro" pitchFamily="34" charset="-120"/>
              </a:rPr>
              <a:t>PARTIAL</a:t>
            </a:r>
            <a:endParaRPr lang="en-US" sz="1300" dirty="0"/>
          </a:p>
        </p:txBody>
      </p:sp>
      <p:sp>
        <p:nvSpPr>
          <p:cNvPr id="16" name="Text 13"/>
          <p:cNvSpPr/>
          <p:nvPr/>
        </p:nvSpPr>
        <p:spPr>
          <a:xfrm>
            <a:off x="4724400" y="2580642"/>
            <a:ext cx="3793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Như YES + kiểm tra phạm vi</a:t>
            </a:r>
            <a:endParaRPr lang="en-US" sz="1200" dirty="0"/>
          </a:p>
        </p:txBody>
      </p:sp>
      <p:sp>
        <p:nvSpPr>
          <p:cNvPr id="17" name="Text 14"/>
          <p:cNvSpPr/>
          <p:nvPr/>
        </p:nvSpPr>
        <p:spPr>
          <a:xfrm>
            <a:off x="4724400" y="2806700"/>
            <a:ext cx="3793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Có khẳng định vượt bằng chứng không?</a:t>
            </a:r>
            <a:endParaRPr lang="en-US" sz="1200" dirty="0"/>
          </a:p>
        </p:txBody>
      </p:sp>
      <p:sp>
        <p:nvSpPr>
          <p:cNvPr id="18" name="Shape 15"/>
          <p:cNvSpPr/>
          <p:nvPr/>
        </p:nvSpPr>
        <p:spPr>
          <a:xfrm>
            <a:off x="3162300" y="3314700"/>
            <a:ext cx="5397500" cy="698500"/>
          </a:xfrm>
          <a:prstGeom prst="roundRect">
            <a:avLst>
              <a:gd name="adj" fmla="val 12727"/>
            </a:avLst>
          </a:prstGeom>
          <a:solidFill>
            <a:srgbClr val="FFFFFF"/>
          </a:solidFill>
          <a:ln/>
        </p:spPr>
      </p:sp>
      <p:sp>
        <p:nvSpPr>
          <p:cNvPr id="19" name="Shape 16"/>
          <p:cNvSpPr/>
          <p:nvPr/>
        </p:nvSpPr>
        <p:spPr>
          <a:xfrm>
            <a:off x="3162300" y="3314700"/>
            <a:ext cx="5397500" cy="698500"/>
          </a:xfrm>
          <a:custGeom>
            <a:avLst/>
            <a:gdLst/>
            <a:ahLst/>
            <a:cxnLst/>
            <a:rect l="l" t="t" r="r" b="b"/>
            <a:pathLst>
              <a:path w="5397500" h="698500">
                <a:moveTo>
                  <a:pt x="88900" y="698500"/>
                </a:moveTo>
                <a:lnTo>
                  <a:pt x="88900" y="698500"/>
                </a:lnTo>
                <a:arcTo hR="88900" wR="88900" stAng="5400000" swAng="5400000"/>
                <a:lnTo>
                  <a:pt x="0" y="88900"/>
                </a:lnTo>
                <a:arcTo hR="88900" wR="88900" stAng="10800000" swAng="5400000"/>
                <a:lnTo>
                  <a:pt x="88900" y="0"/>
                </a:lnTo>
                <a:arcTo hR="88900" wR="38100" stAng="16200000" swAng="-5400000"/>
                <a:lnTo>
                  <a:pt x="50800" y="609600"/>
                </a:lnTo>
                <a:arcTo hR="88900" wR="38100" stAng="10800000" swAng="-5400000"/>
                <a:close/>
              </a:path>
            </a:pathLst>
          </a:custGeom>
          <a:solidFill>
            <a:srgbClr val="C4472B"/>
          </a:solidFill>
          <a:ln/>
        </p:spPr>
      </p:sp>
      <p:sp>
        <p:nvSpPr>
          <p:cNvPr id="20" name="Text 17"/>
          <p:cNvSpPr/>
          <p:nvPr/>
        </p:nvSpPr>
        <p:spPr>
          <a:xfrm>
            <a:off x="3365500" y="3497579"/>
            <a:ext cx="1206500" cy="332740"/>
          </a:xfrm>
          <a:custGeom>
            <a:avLst/>
            <a:gdLst/>
            <a:ahLst/>
            <a:cxnLst/>
            <a:rect l="l" t="t" r="r" b="b"/>
            <a:pathLst>
              <a:path w="1206500" h="332740">
                <a:moveTo>
                  <a:pt x="63500" y="0"/>
                </a:moveTo>
                <a:lnTo>
                  <a:pt x="1143000" y="0"/>
                </a:lnTo>
                <a:arcTo hR="63500" wR="63500" stAng="16200000" swAng="5400000"/>
                <a:lnTo>
                  <a:pt x="1206500" y="269240"/>
                </a:lnTo>
                <a:arcTo hR="63500" wR="63500" stAng="0" swAng="5400000"/>
                <a:lnTo>
                  <a:pt x="63500" y="332740"/>
                </a:lnTo>
                <a:arcTo hR="63500" wR="63500" stAng="5400000" swAng="5400000"/>
                <a:lnTo>
                  <a:pt x="0" y="63500"/>
                </a:lnTo>
                <a:arcTo hR="63500" wR="63500" stAng="10800000" swAng="5400000"/>
                <a:close/>
              </a:path>
            </a:pathLst>
          </a:custGeom>
          <a:solidFill>
            <a:srgbClr val="C4472B"/>
          </a:solidFill>
          <a:ln/>
        </p:spPr>
        <p:txBody>
          <a:bodyPr wrap="square" lIns="38100" tIns="50800" rIns="38100" bIns="25400" rtlCol="0" anchor="t">
            <a:normAutofit/>
          </a:bodyPr>
          <a:lstStyle/>
          <a:p>
            <a:pPr algn="ctr"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NO</a:t>
            </a:r>
            <a:endParaRPr lang="en-US" sz="1300" dirty="0"/>
          </a:p>
        </p:txBody>
      </p:sp>
      <p:sp>
        <p:nvSpPr>
          <p:cNvPr id="21" name="Text 18"/>
          <p:cNvSpPr/>
          <p:nvPr/>
        </p:nvSpPr>
        <p:spPr>
          <a:xfrm>
            <a:off x="4724400" y="3444242"/>
            <a:ext cx="3793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Phân loại hành vi</a:t>
            </a:r>
            <a:endParaRPr lang="en-US" sz="1200" dirty="0"/>
          </a:p>
        </p:txBody>
      </p:sp>
      <p:sp>
        <p:nvSpPr>
          <p:cNvPr id="22" name="Text 19"/>
          <p:cNvSpPr/>
          <p:nvPr/>
        </p:nvSpPr>
        <p:spPr>
          <a:xfrm>
            <a:off x="4724400" y="3670300"/>
            <a:ext cx="3793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Từ chối · Bịa đặt · Từ chối giả</a:t>
            </a:r>
            <a:endParaRPr lang="en-US" sz="1200" dirty="0"/>
          </a:p>
        </p:txBody>
      </p:sp>
      <p:sp>
        <p:nvSpPr>
          <p:cNvPr id="23" name="Shape 20"/>
          <p:cNvSpPr/>
          <p:nvPr/>
        </p:nvSpPr>
        <p:spPr>
          <a:xfrm>
            <a:off x="3162300" y="4178300"/>
            <a:ext cx="5397500" cy="698500"/>
          </a:xfrm>
          <a:prstGeom prst="roundRect">
            <a:avLst>
              <a:gd name="adj" fmla="val 12727"/>
            </a:avLst>
          </a:prstGeom>
          <a:solidFill>
            <a:srgbClr val="FFFFFF"/>
          </a:solidFill>
          <a:ln/>
        </p:spPr>
      </p:sp>
      <p:sp>
        <p:nvSpPr>
          <p:cNvPr id="24" name="Shape 21"/>
          <p:cNvSpPr/>
          <p:nvPr/>
        </p:nvSpPr>
        <p:spPr>
          <a:xfrm>
            <a:off x="3162300" y="4178300"/>
            <a:ext cx="5397500" cy="698500"/>
          </a:xfrm>
          <a:custGeom>
            <a:avLst/>
            <a:gdLst/>
            <a:ahLst/>
            <a:cxnLst/>
            <a:rect l="l" t="t" r="r" b="b"/>
            <a:pathLst>
              <a:path w="5397500" h="698500">
                <a:moveTo>
                  <a:pt x="88900" y="698500"/>
                </a:moveTo>
                <a:lnTo>
                  <a:pt x="88900" y="698500"/>
                </a:lnTo>
                <a:arcTo hR="88900" wR="88900" stAng="5400000" swAng="5400000"/>
                <a:lnTo>
                  <a:pt x="0" y="88900"/>
                </a:lnTo>
                <a:arcTo hR="88900" wR="88900" stAng="10800000" swAng="5400000"/>
                <a:lnTo>
                  <a:pt x="88900" y="0"/>
                </a:lnTo>
                <a:arcTo hR="88900" wR="38100" stAng="16200000" swAng="-5400000"/>
                <a:lnTo>
                  <a:pt x="50800" y="609600"/>
                </a:lnTo>
                <a:arcTo hR="88900" wR="38100" stAng="10800000" swAng="-5400000"/>
                <a:close/>
              </a:path>
            </a:pathLst>
          </a:custGeom>
          <a:solidFill>
            <a:srgbClr val="8C96A5"/>
          </a:solidFill>
          <a:ln/>
        </p:spPr>
      </p:sp>
      <p:sp>
        <p:nvSpPr>
          <p:cNvPr id="25" name="Text 22"/>
          <p:cNvSpPr/>
          <p:nvPr/>
        </p:nvSpPr>
        <p:spPr>
          <a:xfrm>
            <a:off x="3365500" y="4361179"/>
            <a:ext cx="1206500" cy="332740"/>
          </a:xfrm>
          <a:custGeom>
            <a:avLst/>
            <a:gdLst/>
            <a:ahLst/>
            <a:cxnLst/>
            <a:rect l="l" t="t" r="r" b="b"/>
            <a:pathLst>
              <a:path w="1206500" h="332740">
                <a:moveTo>
                  <a:pt x="63500" y="0"/>
                </a:moveTo>
                <a:lnTo>
                  <a:pt x="1143000" y="0"/>
                </a:lnTo>
                <a:arcTo hR="63500" wR="63500" stAng="16200000" swAng="5400000"/>
                <a:lnTo>
                  <a:pt x="1206500" y="269240"/>
                </a:lnTo>
                <a:arcTo hR="63500" wR="63500" stAng="0" swAng="5400000"/>
                <a:lnTo>
                  <a:pt x="63500" y="332740"/>
                </a:lnTo>
                <a:arcTo hR="63500" wR="63500" stAng="5400000" swAng="5400000"/>
                <a:lnTo>
                  <a:pt x="0" y="63500"/>
                </a:lnTo>
                <a:arcTo hR="63500" wR="63500" stAng="10800000" swAng="5400000"/>
                <a:close/>
              </a:path>
            </a:pathLst>
          </a:custGeom>
          <a:solidFill>
            <a:srgbClr val="6B7585"/>
          </a:solidFill>
          <a:ln/>
        </p:spPr>
        <p:txBody>
          <a:bodyPr wrap="square" lIns="38100" tIns="50800" rIns="38100" bIns="25400" rtlCol="0" anchor="t">
            <a:normAutofit/>
          </a:bodyPr>
          <a:lstStyle/>
          <a:p>
            <a:pPr algn="ctr"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AMBIGUOUS</a:t>
            </a:r>
            <a:endParaRPr lang="en-US" sz="1300" dirty="0"/>
          </a:p>
        </p:txBody>
      </p:sp>
      <p:sp>
        <p:nvSpPr>
          <p:cNvPr id="26" name="Text 23"/>
          <p:cNvSpPr/>
          <p:nvPr/>
        </p:nvSpPr>
        <p:spPr>
          <a:xfrm>
            <a:off x="4724400" y="4307842"/>
            <a:ext cx="3793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Kiểm tra làm rõ</a:t>
            </a:r>
            <a:endParaRPr lang="en-US" sz="1200" dirty="0"/>
          </a:p>
        </p:txBody>
      </p:sp>
      <p:sp>
        <p:nvSpPr>
          <p:cNvPr id="27" name="Text 24"/>
          <p:cNvSpPr/>
          <p:nvPr/>
        </p:nvSpPr>
        <p:spPr>
          <a:xfrm>
            <a:off x="4724400" y="4533900"/>
            <a:ext cx="3793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Mô hình có hỏi lại người dùng không?</a:t>
            </a:r>
            <a:endParaRPr lang="en-US" sz="1200" dirty="0"/>
          </a:p>
        </p:txBody>
      </p:sp>
      <p:sp>
        <p:nvSpPr>
          <p:cNvPr id="28" name="Shape 25"/>
          <p:cNvSpPr/>
          <p:nvPr/>
        </p:nvSpPr>
        <p:spPr>
          <a:xfrm>
            <a:off x="8966200" y="1587500"/>
            <a:ext cx="2413000" cy="698500"/>
          </a:xfrm>
          <a:prstGeom prst="roundRect">
            <a:avLst>
              <a:gd name="adj" fmla="val 12727"/>
            </a:avLst>
          </a:prstGeom>
          <a:solidFill>
            <a:srgbClr val="FFFFFF"/>
          </a:solidFill>
          <a:ln/>
        </p:spPr>
      </p:sp>
      <p:sp>
        <p:nvSpPr>
          <p:cNvPr id="29" name="Text 26"/>
          <p:cNvSpPr/>
          <p:nvPr/>
        </p:nvSpPr>
        <p:spPr>
          <a:xfrm>
            <a:off x="9067800" y="1642746"/>
            <a:ext cx="1073309" cy="264160"/>
          </a:xfrm>
          <a:prstGeom prst="roundRect">
            <a:avLst>
              <a:gd name="adj" fmla="val 19231"/>
            </a:avLst>
          </a:prstGeom>
          <a:solidFill>
            <a:srgbClr val="E3EAFD"/>
          </a:solidFill>
          <a:ln/>
        </p:spPr>
        <p:txBody>
          <a:bodyPr wrap="none" lIns="0" tIns="0" rIns="0" bIns="0" rtlCol="0" anchor="ctr">
            <a:normAutofit/>
          </a:bodyPr>
          <a:lstStyle/>
          <a:p>
            <a:pPr algn="ctr" indent="0" marL="0">
              <a:lnSpc>
                <a:spcPts val="1680"/>
              </a:lnSpc>
              <a:buNone/>
            </a:pPr>
            <a:r>
              <a:rPr lang="en-US" sz="1200" b="1" dirty="0">
                <a:solidFill>
                  <a:srgbClr val="1D3FAF"/>
                </a:solidFill>
                <a:latin typeface="Be Vietnam Pro" pitchFamily="34" charset="0"/>
                <a:ea typeface="Be Vietnam Pro" pitchFamily="34" charset="-122"/>
                <a:cs typeface="Be Vietnam Pro" pitchFamily="34" charset="-120"/>
              </a:rPr>
              <a:t>Trung thực F</a:t>
            </a:r>
            <a:endParaRPr lang="en-US" sz="1200" dirty="0"/>
          </a:p>
        </p:txBody>
      </p:sp>
      <p:sp>
        <p:nvSpPr>
          <p:cNvPr id="30" name="Text 27"/>
          <p:cNvSpPr/>
          <p:nvPr/>
        </p:nvSpPr>
        <p:spPr>
          <a:xfrm>
            <a:off x="10191909" y="1642746"/>
            <a:ext cx="820579" cy="264160"/>
          </a:xfrm>
          <a:prstGeom prst="roundRect">
            <a:avLst>
              <a:gd name="adj" fmla="val 19231"/>
            </a:avLst>
          </a:prstGeom>
          <a:solidFill>
            <a:srgbClr val="E3EAFD"/>
          </a:solidFill>
          <a:ln/>
        </p:spPr>
        <p:txBody>
          <a:bodyPr wrap="none" lIns="0" tIns="0" rIns="0" bIns="0" rtlCol="0" anchor="ctr">
            <a:normAutofit/>
          </a:bodyPr>
          <a:lstStyle/>
          <a:p>
            <a:pPr algn="ctr" indent="0" marL="0">
              <a:lnSpc>
                <a:spcPts val="1680"/>
              </a:lnSpc>
              <a:buNone/>
            </a:pPr>
            <a:r>
              <a:rPr lang="en-US" sz="1200" b="1" dirty="0">
                <a:solidFill>
                  <a:srgbClr val="1D3FAF"/>
                </a:solidFill>
                <a:latin typeface="Be Vietnam Pro" pitchFamily="34" charset="0"/>
                <a:ea typeface="Be Vietnam Pro" pitchFamily="34" charset="-122"/>
                <a:cs typeface="Be Vietnam Pro" pitchFamily="34" charset="-120"/>
              </a:rPr>
              <a:t>Đầy đủ C</a:t>
            </a:r>
            <a:endParaRPr lang="en-US" sz="1200" dirty="0"/>
          </a:p>
        </p:txBody>
      </p:sp>
      <p:sp>
        <p:nvSpPr>
          <p:cNvPr id="31" name="Text 28"/>
          <p:cNvSpPr/>
          <p:nvPr/>
        </p:nvSpPr>
        <p:spPr>
          <a:xfrm>
            <a:off x="9067800" y="1966596"/>
            <a:ext cx="1069023" cy="264160"/>
          </a:xfrm>
          <a:prstGeom prst="roundRect">
            <a:avLst>
              <a:gd name="adj" fmla="val 19231"/>
            </a:avLst>
          </a:prstGeom>
          <a:solidFill>
            <a:srgbClr val="FCEBD0"/>
          </a:solidFill>
          <a:ln/>
        </p:spPr>
        <p:txBody>
          <a:bodyPr wrap="none" lIns="0" tIns="0" rIns="0" bIns="0" rtlCol="0" anchor="ctr">
            <a:normAutofit/>
          </a:bodyPr>
          <a:lstStyle/>
          <a:p>
            <a:pPr algn="ctr" indent="0" marL="0">
              <a:lnSpc>
                <a:spcPts val="1680"/>
              </a:lnSpc>
              <a:buNone/>
            </a:pPr>
            <a:r>
              <a:rPr lang="en-US" sz="1200" b="1" dirty="0">
                <a:solidFill>
                  <a:srgbClr val="7A4F05"/>
                </a:solidFill>
                <a:latin typeface="Be Vietnam Pro" pitchFamily="34" charset="0"/>
                <a:ea typeface="Be Vietnam Pro" pitchFamily="34" charset="-122"/>
                <a:cs typeface="Be Vietnam Pro" pitchFamily="34" charset="-120"/>
              </a:rPr>
              <a:t>Từ chối thừa</a:t>
            </a:r>
            <a:endParaRPr lang="en-US" sz="1200" dirty="0"/>
          </a:p>
        </p:txBody>
      </p:sp>
      <p:sp>
        <p:nvSpPr>
          <p:cNvPr id="32" name="Shape 29"/>
          <p:cNvSpPr/>
          <p:nvPr/>
        </p:nvSpPr>
        <p:spPr>
          <a:xfrm>
            <a:off x="8966200" y="2451100"/>
            <a:ext cx="2413000" cy="698500"/>
          </a:xfrm>
          <a:prstGeom prst="roundRect">
            <a:avLst>
              <a:gd name="adj" fmla="val 12727"/>
            </a:avLst>
          </a:prstGeom>
          <a:solidFill>
            <a:srgbClr val="FFFFFF"/>
          </a:solidFill>
          <a:ln/>
        </p:spPr>
      </p:sp>
      <p:sp>
        <p:nvSpPr>
          <p:cNvPr id="33" name="Text 30"/>
          <p:cNvSpPr/>
          <p:nvPr/>
        </p:nvSpPr>
        <p:spPr>
          <a:xfrm>
            <a:off x="9067800" y="2668271"/>
            <a:ext cx="457121" cy="264160"/>
          </a:xfrm>
          <a:prstGeom prst="roundRect">
            <a:avLst>
              <a:gd name="adj" fmla="val 19231"/>
            </a:avLst>
          </a:prstGeom>
          <a:solidFill>
            <a:srgbClr val="E3EAFD"/>
          </a:solidFill>
          <a:ln/>
        </p:spPr>
        <p:txBody>
          <a:bodyPr wrap="none" lIns="0" tIns="0" rIns="0" bIns="0" rtlCol="0" anchor="ctr">
            <a:normAutofit/>
          </a:bodyPr>
          <a:lstStyle/>
          <a:p>
            <a:pPr algn="ctr" indent="0" marL="0">
              <a:lnSpc>
                <a:spcPts val="1680"/>
              </a:lnSpc>
              <a:buNone/>
            </a:pPr>
            <a:r>
              <a:rPr lang="en-US" sz="1200" b="1" dirty="0">
                <a:solidFill>
                  <a:srgbClr val="1D3FAF"/>
                </a:solidFill>
                <a:latin typeface="Be Vietnam Pro" pitchFamily="34" charset="0"/>
                <a:ea typeface="Be Vietnam Pro" pitchFamily="34" charset="-122"/>
                <a:cs typeface="Be Vietnam Pro" pitchFamily="34" charset="-120"/>
              </a:rPr>
              <a:t>F · C</a:t>
            </a:r>
            <a:endParaRPr lang="en-US" sz="1200" dirty="0"/>
          </a:p>
        </p:txBody>
      </p:sp>
      <p:sp>
        <p:nvSpPr>
          <p:cNvPr id="34" name="Text 31"/>
          <p:cNvSpPr/>
          <p:nvPr/>
        </p:nvSpPr>
        <p:spPr>
          <a:xfrm>
            <a:off x="9575721" y="2668271"/>
            <a:ext cx="1377632" cy="264160"/>
          </a:xfrm>
          <a:prstGeom prst="roundRect">
            <a:avLst>
              <a:gd name="adj" fmla="val 19231"/>
            </a:avLst>
          </a:prstGeom>
          <a:solidFill>
            <a:srgbClr val="FCEBD0"/>
          </a:solidFill>
          <a:ln/>
        </p:spPr>
        <p:txBody>
          <a:bodyPr wrap="none" lIns="0" tIns="0" rIns="0" bIns="0" rtlCol="0" anchor="ctr">
            <a:normAutofit/>
          </a:bodyPr>
          <a:lstStyle/>
          <a:p>
            <a:pPr algn="ctr" indent="0" marL="0">
              <a:lnSpc>
                <a:spcPts val="1680"/>
              </a:lnSpc>
              <a:buNone/>
            </a:pPr>
            <a:r>
              <a:rPr lang="en-US" sz="1200" b="1" dirty="0">
                <a:solidFill>
                  <a:srgbClr val="7A4F05"/>
                </a:solidFill>
                <a:latin typeface="Be Vietnam Pro" pitchFamily="34" charset="0"/>
                <a:ea typeface="Be Vietnam Pro" pitchFamily="34" charset="-122"/>
                <a:cs typeface="Be Vietnam Pro" pitchFamily="34" charset="-120"/>
              </a:rPr>
              <a:t>Vi phạm phạm vi</a:t>
            </a:r>
            <a:endParaRPr lang="en-US" sz="1200" dirty="0"/>
          </a:p>
        </p:txBody>
      </p:sp>
      <p:sp>
        <p:nvSpPr>
          <p:cNvPr id="35" name="Shape 32"/>
          <p:cNvSpPr/>
          <p:nvPr/>
        </p:nvSpPr>
        <p:spPr>
          <a:xfrm>
            <a:off x="8966200" y="3314700"/>
            <a:ext cx="2413000" cy="698500"/>
          </a:xfrm>
          <a:prstGeom prst="roundRect">
            <a:avLst>
              <a:gd name="adj" fmla="val 12727"/>
            </a:avLst>
          </a:prstGeom>
          <a:solidFill>
            <a:srgbClr val="FFFFFF"/>
          </a:solidFill>
          <a:ln/>
        </p:spPr>
      </p:sp>
      <p:sp>
        <p:nvSpPr>
          <p:cNvPr id="36" name="Text 33"/>
          <p:cNvSpPr/>
          <p:nvPr/>
        </p:nvSpPr>
        <p:spPr>
          <a:xfrm>
            <a:off x="9067800" y="3531871"/>
            <a:ext cx="1390729" cy="264160"/>
          </a:xfrm>
          <a:prstGeom prst="roundRect">
            <a:avLst>
              <a:gd name="adj" fmla="val 19231"/>
            </a:avLst>
          </a:prstGeom>
          <a:solidFill>
            <a:srgbClr val="FCEBD0"/>
          </a:solidFill>
          <a:ln/>
        </p:spPr>
        <p:txBody>
          <a:bodyPr wrap="none" lIns="0" tIns="0" rIns="0" bIns="0" rtlCol="0" anchor="ctr">
            <a:normAutofit/>
          </a:bodyPr>
          <a:lstStyle/>
          <a:p>
            <a:pPr algn="ctr" indent="0" marL="0">
              <a:lnSpc>
                <a:spcPts val="1680"/>
              </a:lnSpc>
              <a:buNone/>
            </a:pPr>
            <a:r>
              <a:rPr lang="en-US" sz="1200" b="1" dirty="0">
                <a:solidFill>
                  <a:srgbClr val="7A4F05"/>
                </a:solidFill>
                <a:latin typeface="Be Vietnam Pro" pitchFamily="34" charset="0"/>
                <a:ea typeface="Be Vietnam Pro" pitchFamily="34" charset="-122"/>
                <a:cs typeface="Be Vietnam Pro" pitchFamily="34" charset="-120"/>
              </a:rPr>
              <a:t>Từ chối P / R / F1</a:t>
            </a:r>
            <a:endParaRPr lang="en-US" sz="1200" dirty="0"/>
          </a:p>
        </p:txBody>
      </p:sp>
      <p:sp>
        <p:nvSpPr>
          <p:cNvPr id="37" name="Shape 34"/>
          <p:cNvSpPr/>
          <p:nvPr/>
        </p:nvSpPr>
        <p:spPr>
          <a:xfrm>
            <a:off x="8966200" y="4178300"/>
            <a:ext cx="2413000" cy="698500"/>
          </a:xfrm>
          <a:prstGeom prst="roundRect">
            <a:avLst>
              <a:gd name="adj" fmla="val 12727"/>
            </a:avLst>
          </a:prstGeom>
          <a:solidFill>
            <a:srgbClr val="FFFFFF"/>
          </a:solidFill>
          <a:ln/>
        </p:spPr>
      </p:sp>
      <p:sp>
        <p:nvSpPr>
          <p:cNvPr id="38" name="Text 35"/>
          <p:cNvSpPr/>
          <p:nvPr/>
        </p:nvSpPr>
        <p:spPr>
          <a:xfrm>
            <a:off x="9067800" y="4395471"/>
            <a:ext cx="1213485" cy="264160"/>
          </a:xfrm>
          <a:prstGeom prst="roundRect">
            <a:avLst>
              <a:gd name="adj" fmla="val 19231"/>
            </a:avLst>
          </a:prstGeom>
          <a:solidFill>
            <a:srgbClr val="FCEBD0"/>
          </a:solidFill>
          <a:ln/>
        </p:spPr>
        <p:txBody>
          <a:bodyPr wrap="none" lIns="0" tIns="0" rIns="0" bIns="0" rtlCol="0" anchor="ctr">
            <a:normAutofit/>
          </a:bodyPr>
          <a:lstStyle/>
          <a:p>
            <a:pPr algn="ctr" indent="0" marL="0">
              <a:lnSpc>
                <a:spcPts val="1680"/>
              </a:lnSpc>
              <a:buNone/>
            </a:pPr>
            <a:r>
              <a:rPr lang="en-US" sz="1200" b="1" dirty="0">
                <a:solidFill>
                  <a:srgbClr val="7A4F05"/>
                </a:solidFill>
                <a:latin typeface="Be Vietnam Pro" pitchFamily="34" charset="0"/>
                <a:ea typeface="Be Vietnam Pro" pitchFamily="34" charset="-122"/>
                <a:cs typeface="Be Vietnam Pro" pitchFamily="34" charset="-120"/>
              </a:rPr>
              <a:t>Tỉ lệ làm rõ CR</a:t>
            </a:r>
            <a:endParaRPr lang="en-US" sz="1200" dirty="0"/>
          </a:p>
        </p:txBody>
      </p:sp>
      <p:pic>
        <p:nvPicPr>
          <p:cNvPr id="39" name="Image 1" descr="connector">    </p:cNvPr>
          <p:cNvPicPr>
            <a:picLocks noChangeAspect="1"/>
          </p:cNvPicPr>
          <p:nvPr/>
        </p:nvPicPr>
        <p:blipFill>
          <a:blip r:embed="rId2"/>
          <a:srcRect l="0" r="0" t="0" b="0"/>
          <a:stretch/>
        </p:blipFill>
        <p:spPr>
          <a:xfrm>
            <a:off x="2603500" y="1885950"/>
            <a:ext cx="609600" cy="1397000"/>
          </a:xfrm>
          <a:prstGeom prst="rect">
            <a:avLst/>
          </a:prstGeom>
        </p:spPr>
      </p:pic>
      <p:pic>
        <p:nvPicPr>
          <p:cNvPr id="40" name="Image 2" descr="connector">    </p:cNvPr>
          <p:cNvPicPr>
            <a:picLocks noChangeAspect="1"/>
          </p:cNvPicPr>
          <p:nvPr/>
        </p:nvPicPr>
        <p:blipFill>
          <a:blip r:embed="rId3"/>
          <a:srcRect l="0" r="0" t="0" b="0"/>
          <a:stretch/>
        </p:blipFill>
        <p:spPr>
          <a:xfrm>
            <a:off x="2603500" y="2749550"/>
            <a:ext cx="609600" cy="533400"/>
          </a:xfrm>
          <a:prstGeom prst="rect">
            <a:avLst/>
          </a:prstGeom>
        </p:spPr>
      </p:pic>
      <p:pic>
        <p:nvPicPr>
          <p:cNvPr id="41" name="Image 3" descr="connector">    </p:cNvPr>
          <p:cNvPicPr>
            <a:picLocks noChangeAspect="1"/>
          </p:cNvPicPr>
          <p:nvPr/>
        </p:nvPicPr>
        <p:blipFill>
          <a:blip r:embed="rId4"/>
          <a:srcRect l="0" r="0" t="0" b="0"/>
          <a:stretch/>
        </p:blipFill>
        <p:spPr>
          <a:xfrm>
            <a:off x="2603500" y="3181350"/>
            <a:ext cx="609600" cy="533400"/>
          </a:xfrm>
          <a:prstGeom prst="rect">
            <a:avLst/>
          </a:prstGeom>
        </p:spPr>
      </p:pic>
      <p:pic>
        <p:nvPicPr>
          <p:cNvPr id="42" name="Image 4" descr="connector">    </p:cNvPr>
          <p:cNvPicPr>
            <a:picLocks noChangeAspect="1"/>
          </p:cNvPicPr>
          <p:nvPr/>
        </p:nvPicPr>
        <p:blipFill>
          <a:blip r:embed="rId5"/>
          <a:srcRect l="0" r="0" t="0" b="0"/>
          <a:stretch/>
        </p:blipFill>
        <p:spPr>
          <a:xfrm>
            <a:off x="2603500" y="3181350"/>
            <a:ext cx="609600" cy="1397000"/>
          </a:xfrm>
          <a:prstGeom prst="rect">
            <a:avLst/>
          </a:prstGeom>
        </p:spPr>
      </p:pic>
      <p:pic>
        <p:nvPicPr>
          <p:cNvPr id="43" name="Image 5" descr="connector">    </p:cNvPr>
          <p:cNvPicPr>
            <a:picLocks noChangeAspect="1"/>
          </p:cNvPicPr>
          <p:nvPr/>
        </p:nvPicPr>
        <p:blipFill>
          <a:blip r:embed="rId6"/>
          <a:srcRect l="0" r="0" t="0" b="0"/>
          <a:stretch/>
        </p:blipFill>
        <p:spPr>
          <a:xfrm>
            <a:off x="8509000" y="1885950"/>
            <a:ext cx="508000" cy="101600"/>
          </a:xfrm>
          <a:prstGeom prst="rect">
            <a:avLst/>
          </a:prstGeom>
        </p:spPr>
      </p:pic>
      <p:pic>
        <p:nvPicPr>
          <p:cNvPr id="44" name="Image 6" descr="connector">    </p:cNvPr>
          <p:cNvPicPr>
            <a:picLocks noChangeAspect="1"/>
          </p:cNvPicPr>
          <p:nvPr/>
        </p:nvPicPr>
        <p:blipFill>
          <a:blip r:embed="rId7"/>
          <a:srcRect l="0" r="0" t="0" b="0"/>
          <a:stretch/>
        </p:blipFill>
        <p:spPr>
          <a:xfrm>
            <a:off x="8509000" y="2749550"/>
            <a:ext cx="508000" cy="101600"/>
          </a:xfrm>
          <a:prstGeom prst="rect">
            <a:avLst/>
          </a:prstGeom>
        </p:spPr>
      </p:pic>
      <p:pic>
        <p:nvPicPr>
          <p:cNvPr id="45" name="Image 7" descr="connector">    </p:cNvPr>
          <p:cNvPicPr>
            <a:picLocks noChangeAspect="1"/>
          </p:cNvPicPr>
          <p:nvPr/>
        </p:nvPicPr>
        <p:blipFill>
          <a:blip r:embed="rId8"/>
          <a:srcRect l="0" r="0" t="0" b="0"/>
          <a:stretch/>
        </p:blipFill>
        <p:spPr>
          <a:xfrm>
            <a:off x="8509000" y="3613150"/>
            <a:ext cx="508000" cy="101600"/>
          </a:xfrm>
          <a:prstGeom prst="rect">
            <a:avLst/>
          </a:prstGeom>
        </p:spPr>
      </p:pic>
      <p:pic>
        <p:nvPicPr>
          <p:cNvPr id="46" name="Image 8" descr="connector">    </p:cNvPr>
          <p:cNvPicPr>
            <a:picLocks noChangeAspect="1"/>
          </p:cNvPicPr>
          <p:nvPr/>
        </p:nvPicPr>
        <p:blipFill>
          <a:blip r:embed="rId9"/>
          <a:srcRect l="0" r="0" t="0" b="0"/>
          <a:stretch/>
        </p:blipFill>
        <p:spPr>
          <a:xfrm>
            <a:off x="8509000" y="4476750"/>
            <a:ext cx="508000" cy="101600"/>
          </a:xfrm>
          <a:prstGeom prst="rect">
            <a:avLst/>
          </a:prstGeom>
        </p:spPr>
      </p:pic>
      <p:sp>
        <p:nvSpPr>
          <p:cNvPr id="47" name="Shape 36"/>
          <p:cNvSpPr/>
          <p:nvPr/>
        </p:nvSpPr>
        <p:spPr>
          <a:xfrm>
            <a:off x="812800" y="5067300"/>
            <a:ext cx="3437414" cy="604520"/>
          </a:xfrm>
          <a:prstGeom prst="roundRect">
            <a:avLst>
              <a:gd name="adj" fmla="val 14706"/>
            </a:avLst>
          </a:prstGeom>
          <a:solidFill>
            <a:srgbClr val="FFFFFF"/>
          </a:solidFill>
          <a:ln/>
        </p:spPr>
      </p:sp>
      <p:sp>
        <p:nvSpPr>
          <p:cNvPr id="48" name="Text 37"/>
          <p:cNvSpPr/>
          <p:nvPr/>
        </p:nvSpPr>
        <p:spPr>
          <a:xfrm>
            <a:off x="939800" y="5237479"/>
            <a:ext cx="669608" cy="264160"/>
          </a:xfrm>
          <a:prstGeom prst="roundRect">
            <a:avLst>
              <a:gd name="adj" fmla="val 19231"/>
            </a:avLst>
          </a:prstGeom>
          <a:solidFill>
            <a:srgbClr val="E3EAFD"/>
          </a:solidFill>
          <a:ln/>
        </p:spPr>
        <p:txBody>
          <a:bodyPr wrap="none" lIns="0" tIns="0" rIns="0" bIns="0" rtlCol="0" anchor="ctr">
            <a:normAutofit/>
          </a:bodyPr>
          <a:lstStyle/>
          <a:p>
            <a:pPr algn="ctr" indent="0" marL="0">
              <a:lnSpc>
                <a:spcPts val="1680"/>
              </a:lnSpc>
              <a:buNone/>
            </a:pPr>
            <a:r>
              <a:rPr lang="en-US" sz="1200" b="1" dirty="0">
                <a:solidFill>
                  <a:srgbClr val="1D3FAF"/>
                </a:solidFill>
                <a:latin typeface="Be Vietnam Pro" pitchFamily="34" charset="0"/>
                <a:ea typeface="Be Vietnam Pro" pitchFamily="34" charset="-122"/>
                <a:cs typeface="Be Vietnam Pro" pitchFamily="34" charset="-120"/>
              </a:rPr>
              <a:t>Nhóm 1</a:t>
            </a:r>
            <a:endParaRPr lang="en-US" sz="1200" dirty="0"/>
          </a:p>
        </p:txBody>
      </p:sp>
      <p:sp>
        <p:nvSpPr>
          <p:cNvPr id="49" name="Text 38"/>
          <p:cNvSpPr/>
          <p:nvPr/>
        </p:nvSpPr>
        <p:spPr>
          <a:xfrm>
            <a:off x="1698308" y="5262879"/>
            <a:ext cx="24976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Chất lượng câu trả lời · F–C F1</a:t>
            </a:r>
            <a:endParaRPr lang="en-US" sz="1200" dirty="0"/>
          </a:p>
        </p:txBody>
      </p:sp>
      <p:sp>
        <p:nvSpPr>
          <p:cNvPr id="50" name="Shape 39"/>
          <p:cNvSpPr/>
          <p:nvPr/>
        </p:nvSpPr>
        <p:spPr>
          <a:xfrm>
            <a:off x="4377214" y="5067300"/>
            <a:ext cx="3437493" cy="604520"/>
          </a:xfrm>
          <a:prstGeom prst="roundRect">
            <a:avLst>
              <a:gd name="adj" fmla="val 14706"/>
            </a:avLst>
          </a:prstGeom>
          <a:solidFill>
            <a:srgbClr val="FFFFFF"/>
          </a:solidFill>
          <a:ln/>
        </p:spPr>
      </p:sp>
      <p:sp>
        <p:nvSpPr>
          <p:cNvPr id="51" name="Text 40"/>
          <p:cNvSpPr/>
          <p:nvPr/>
        </p:nvSpPr>
        <p:spPr>
          <a:xfrm>
            <a:off x="4504214" y="5237479"/>
            <a:ext cx="705088" cy="264160"/>
          </a:xfrm>
          <a:prstGeom prst="roundRect">
            <a:avLst>
              <a:gd name="adj" fmla="val 19231"/>
            </a:avLst>
          </a:prstGeom>
          <a:solidFill>
            <a:srgbClr val="FCEBD0"/>
          </a:solidFill>
          <a:ln/>
        </p:spPr>
        <p:txBody>
          <a:bodyPr wrap="none" lIns="0" tIns="0" rIns="0" bIns="0" rtlCol="0" anchor="ctr">
            <a:normAutofit/>
          </a:bodyPr>
          <a:lstStyle/>
          <a:p>
            <a:pPr algn="ctr" indent="0" marL="0">
              <a:lnSpc>
                <a:spcPts val="1680"/>
              </a:lnSpc>
              <a:buNone/>
            </a:pPr>
            <a:r>
              <a:rPr lang="en-US" sz="1200" b="1" dirty="0">
                <a:solidFill>
                  <a:srgbClr val="7A4F05"/>
                </a:solidFill>
                <a:latin typeface="Be Vietnam Pro" pitchFamily="34" charset="0"/>
                <a:ea typeface="Be Vietnam Pro" pitchFamily="34" charset="-122"/>
                <a:cs typeface="Be Vietnam Pro" pitchFamily="34" charset="-120"/>
              </a:rPr>
              <a:t>Nhóm 2</a:t>
            </a:r>
            <a:endParaRPr lang="en-US" sz="1200" dirty="0"/>
          </a:p>
        </p:txBody>
      </p:sp>
      <p:sp>
        <p:nvSpPr>
          <p:cNvPr id="52" name="Text 41"/>
          <p:cNvSpPr/>
          <p:nvPr/>
        </p:nvSpPr>
        <p:spPr>
          <a:xfrm>
            <a:off x="5298202" y="5262879"/>
            <a:ext cx="24611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Hành vi tại biên bằng chứng</a:t>
            </a:r>
            <a:endParaRPr lang="en-US" sz="1200" dirty="0"/>
          </a:p>
        </p:txBody>
      </p:sp>
      <p:sp>
        <p:nvSpPr>
          <p:cNvPr id="53" name="Shape 42"/>
          <p:cNvSpPr/>
          <p:nvPr/>
        </p:nvSpPr>
        <p:spPr>
          <a:xfrm>
            <a:off x="7941707" y="5067300"/>
            <a:ext cx="3437493" cy="604520"/>
          </a:xfrm>
          <a:prstGeom prst="roundRect">
            <a:avLst>
              <a:gd name="adj" fmla="val 14706"/>
            </a:avLst>
          </a:prstGeom>
          <a:solidFill>
            <a:srgbClr val="14213D"/>
          </a:solidFill>
          <a:ln/>
        </p:spPr>
      </p:sp>
      <p:pic>
        <p:nvPicPr>
          <p:cNvPr id="54" name="Image 9" descr="Verified">    </p:cNvPr>
          <p:cNvPicPr>
            <a:picLocks noChangeAspect="1"/>
          </p:cNvPicPr>
          <p:nvPr/>
        </p:nvPicPr>
        <p:blipFill>
          <a:blip r:embed="rId10"/>
          <a:srcRect l="0" r="0" t="0" b="0"/>
          <a:stretch/>
        </p:blipFill>
        <p:spPr>
          <a:xfrm>
            <a:off x="8068707" y="5255264"/>
            <a:ext cx="228600" cy="228600"/>
          </a:xfrm>
          <a:prstGeom prst="rect">
            <a:avLst/>
          </a:prstGeom>
        </p:spPr>
      </p:pic>
      <p:sp>
        <p:nvSpPr>
          <p:cNvPr id="55" name="Text 43"/>
          <p:cNvSpPr/>
          <p:nvPr/>
        </p:nvSpPr>
        <p:spPr>
          <a:xfrm>
            <a:off x="8386207" y="5156200"/>
            <a:ext cx="29519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Be Vietnam Pro" pitchFamily="34" charset="0"/>
                <a:ea typeface="Be Vietnam Pro" pitchFamily="34" charset="-122"/>
                <a:cs typeface="Be Vietnam Pro" pitchFamily="34" charset="-120"/>
              </a:rPr>
              <a:t>Giám khảo Claude Sonnet 4.6 · 94,5% khớp người</a:t>
            </a:r>
            <a:endParaRPr lang="en-US" sz="1200" dirty="0"/>
          </a:p>
        </p:txBody>
      </p:sp>
      <p:sp>
        <p:nvSpPr>
          <p:cNvPr id="56" name="Text 44"/>
          <p:cNvSpPr/>
          <p:nvPr/>
        </p:nvSpPr>
        <p:spPr>
          <a:xfrm>
            <a:off x="812800" y="6238242"/>
            <a:ext cx="58982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Giám khảo kiểm định trên 200 mẫu</a:t>
            </a:r>
            <a:endParaRPr lang="en-US" sz="1200" dirty="0"/>
          </a:p>
        </p:txBody>
      </p:sp>
      <p:sp>
        <p:nvSpPr>
          <p:cNvPr id="57" name="Text 45"/>
          <p:cNvSpPr/>
          <p:nvPr/>
        </p:nvSpPr>
        <p:spPr>
          <a:xfrm>
            <a:off x="11224737" y="6238242"/>
            <a:ext cx="15446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KHUNG ĐÁNH GIÁ · RQ3</a:t>
            </a:r>
            <a:endParaRPr lang="en-US" sz="1200" dirty="0"/>
          </a:p>
        </p:txBody>
      </p:sp>
      <p:sp>
        <p:nvSpPr>
          <p:cNvPr id="3" name="Text 1"/>
          <p:cNvSpPr/>
          <p:nvPr>
            <p:ph type="title"/>
          </p:nvPr>
        </p:nvSpPr>
        <p:spPr>
          <a:xfrm>
            <a:off x="812800" y="1000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Các độ đo</a:t>
            </a:r>
            <a:endParaRPr lang="en-US" sz="2800" dirty="0"/>
          </a:p>
        </p:txBody>
      </p:sp>
      <p:sp>
        <p:nvSpPr>
          <p:cNvPr id="4" name="Text 2"/>
          <p:cNvSpPr/>
          <p:nvPr/>
        </p:nvSpPr>
        <p:spPr>
          <a:xfrm>
            <a:off x="812800" y="1587500"/>
            <a:ext cx="695008" cy="264160"/>
          </a:xfrm>
          <a:prstGeom prst="roundRect">
            <a:avLst>
              <a:gd name="adj" fmla="val 19231"/>
            </a:avLst>
          </a:prstGeom>
          <a:solidFill>
            <a:srgbClr val="E3EAFD"/>
          </a:solidFill>
          <a:ln/>
        </p:spPr>
        <p:txBody>
          <a:bodyPr wrap="none" lIns="0" tIns="0" rIns="0" bIns="0" rtlCol="0" anchor="ctr">
            <a:normAutofit/>
          </a:bodyPr>
          <a:lstStyle/>
          <a:p>
            <a:pPr algn="ctr" indent="0" marL="0">
              <a:lnSpc>
                <a:spcPts val="1680"/>
              </a:lnSpc>
              <a:buNone/>
            </a:pPr>
            <a:r>
              <a:rPr lang="en-US" sz="1200" b="1" dirty="0">
                <a:solidFill>
                  <a:srgbClr val="1D3FAF"/>
                </a:solidFill>
                <a:latin typeface="Be Vietnam Pro" pitchFamily="34" charset="0"/>
                <a:ea typeface="Be Vietnam Pro" pitchFamily="34" charset="-122"/>
                <a:cs typeface="Be Vietnam Pro" pitchFamily="34" charset="-120"/>
              </a:rPr>
              <a:t>Nhóm 1</a:t>
            </a:r>
            <a:endParaRPr lang="en-US" sz="1200" dirty="0"/>
          </a:p>
        </p:txBody>
      </p:sp>
      <p:sp>
        <p:nvSpPr>
          <p:cNvPr id="5" name="Text 3"/>
          <p:cNvSpPr/>
          <p:nvPr/>
        </p:nvSpPr>
        <p:spPr>
          <a:xfrm>
            <a:off x="1596707" y="1604014"/>
            <a:ext cx="368789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Be Vietnam Pro" pitchFamily="34" charset="0"/>
                <a:ea typeface="Be Vietnam Pro" pitchFamily="34" charset="-122"/>
                <a:cs typeface="Be Vietnam Pro" pitchFamily="34" charset="-120"/>
              </a:rPr>
              <a:t>Chất lượng câu trả lời · YES/PARTIAL</a:t>
            </a:r>
            <a:endParaRPr lang="en-US" sz="1300" dirty="0"/>
          </a:p>
        </p:txBody>
      </p:sp>
      <p:sp>
        <p:nvSpPr>
          <p:cNvPr id="6" name="Shape 4"/>
          <p:cNvSpPr/>
          <p:nvPr/>
        </p:nvSpPr>
        <p:spPr>
          <a:xfrm>
            <a:off x="812800" y="1953264"/>
            <a:ext cx="2540000" cy="1445260"/>
          </a:xfrm>
          <a:prstGeom prst="roundRect">
            <a:avLst>
              <a:gd name="adj" fmla="val 6151"/>
            </a:avLst>
          </a:prstGeom>
          <a:solidFill>
            <a:srgbClr val="FFFFFF"/>
          </a:solidFill>
          <a:ln/>
        </p:spPr>
      </p:sp>
      <p:sp>
        <p:nvSpPr>
          <p:cNvPr id="7" name="Shape 5"/>
          <p:cNvSpPr/>
          <p:nvPr/>
        </p:nvSpPr>
        <p:spPr>
          <a:xfrm>
            <a:off x="812800" y="1953264"/>
            <a:ext cx="2540000" cy="1445260"/>
          </a:xfrm>
          <a:custGeom>
            <a:avLst/>
            <a:gdLst/>
            <a:ahLst/>
            <a:cxnLst/>
            <a:rect l="l" t="t" r="r" b="b"/>
            <a:pathLst>
              <a:path w="2540000" h="1445260">
                <a:moveTo>
                  <a:pt x="0" y="88900"/>
                </a:moveTo>
                <a:lnTo>
                  <a:pt x="0" y="88900"/>
                </a:lnTo>
                <a:arcTo hR="88900" wR="88900" stAng="10800000" swAng="5400000"/>
                <a:lnTo>
                  <a:pt x="2451100" y="0"/>
                </a:lnTo>
                <a:arcTo hR="88900" wR="88900" stAng="16200000" swAng="5400000"/>
                <a:lnTo>
                  <a:pt x="2540000" y="88900"/>
                </a:lnTo>
                <a:arcTo hR="50800" wR="88900" stAng="0" swAng="-5400000"/>
                <a:lnTo>
                  <a:pt x="88900" y="38100"/>
                </a:lnTo>
                <a:arcTo hR="50800" wR="88900" stAng="16200000" swAng="-5400000"/>
                <a:close/>
              </a:path>
            </a:pathLst>
          </a:custGeom>
          <a:solidFill>
            <a:srgbClr val="2F5BEA"/>
          </a:solidFill>
          <a:ln/>
        </p:spPr>
      </p:sp>
      <p:sp>
        <p:nvSpPr>
          <p:cNvPr id="8" name="Text 6"/>
          <p:cNvSpPr/>
          <p:nvPr/>
        </p:nvSpPr>
        <p:spPr>
          <a:xfrm>
            <a:off x="965200" y="2128521"/>
            <a:ext cx="23022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3FAF"/>
                </a:solidFill>
                <a:latin typeface="Be Vietnam Pro" pitchFamily="34" charset="0"/>
                <a:ea typeface="Be Vietnam Pro" pitchFamily="34" charset="-122"/>
                <a:cs typeface="Be Vietnam Pro" pitchFamily="34" charset="-120"/>
              </a:rPr>
              <a:t>F · Trung thực</a:t>
            </a:r>
            <a:endParaRPr lang="en-US" sz="1400" dirty="0"/>
          </a:p>
        </p:txBody>
      </p:sp>
      <p:sp>
        <p:nvSpPr>
          <p:cNvPr id="9" name="Text 7"/>
          <p:cNvSpPr/>
          <p:nvPr/>
        </p:nvSpPr>
        <p:spPr>
          <a:xfrm>
            <a:off x="1162971" y="2453642"/>
            <a:ext cx="1839659"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mệnh đề được hỗ trợ</a:t>
            </a:r>
            <a:endParaRPr lang="en-US" sz="1200" dirty="0"/>
          </a:p>
        </p:txBody>
      </p:sp>
      <p:sp>
        <p:nvSpPr>
          <p:cNvPr id="10" name="Shape 8"/>
          <p:cNvSpPr/>
          <p:nvPr/>
        </p:nvSpPr>
        <p:spPr>
          <a:xfrm>
            <a:off x="1130300" y="2705100"/>
            <a:ext cx="1905000" cy="12700"/>
          </a:xfrm>
          <a:prstGeom prst="rect">
            <a:avLst/>
          </a:prstGeom>
          <a:solidFill>
            <a:srgbClr val="14213D"/>
          </a:solidFill>
          <a:ln/>
        </p:spPr>
      </p:sp>
      <p:sp>
        <p:nvSpPr>
          <p:cNvPr id="11" name="Text 9"/>
          <p:cNvSpPr/>
          <p:nvPr/>
        </p:nvSpPr>
        <p:spPr>
          <a:xfrm>
            <a:off x="1471486" y="2755900"/>
            <a:ext cx="1222629"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tổng mệnh đề</a:t>
            </a:r>
            <a:endParaRPr lang="en-US" sz="1200" dirty="0"/>
          </a:p>
        </p:txBody>
      </p:sp>
      <p:sp>
        <p:nvSpPr>
          <p:cNvPr id="12" name="Text 10"/>
          <p:cNvSpPr/>
          <p:nvPr/>
        </p:nvSpPr>
        <p:spPr>
          <a:xfrm>
            <a:off x="965200" y="3045464"/>
            <a:ext cx="23022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kiểu precision</a:t>
            </a:r>
            <a:endParaRPr lang="en-US" sz="1200" dirty="0"/>
          </a:p>
        </p:txBody>
      </p:sp>
      <p:sp>
        <p:nvSpPr>
          <p:cNvPr id="13" name="Shape 11"/>
          <p:cNvSpPr/>
          <p:nvPr/>
        </p:nvSpPr>
        <p:spPr>
          <a:xfrm>
            <a:off x="3454400" y="1953264"/>
            <a:ext cx="2540000" cy="1445260"/>
          </a:xfrm>
          <a:prstGeom prst="roundRect">
            <a:avLst>
              <a:gd name="adj" fmla="val 6151"/>
            </a:avLst>
          </a:prstGeom>
          <a:solidFill>
            <a:srgbClr val="FFFFFF"/>
          </a:solidFill>
          <a:ln/>
        </p:spPr>
      </p:sp>
      <p:sp>
        <p:nvSpPr>
          <p:cNvPr id="14" name="Shape 12"/>
          <p:cNvSpPr/>
          <p:nvPr/>
        </p:nvSpPr>
        <p:spPr>
          <a:xfrm>
            <a:off x="3454400" y="1953264"/>
            <a:ext cx="2540000" cy="1445260"/>
          </a:xfrm>
          <a:custGeom>
            <a:avLst/>
            <a:gdLst/>
            <a:ahLst/>
            <a:cxnLst/>
            <a:rect l="l" t="t" r="r" b="b"/>
            <a:pathLst>
              <a:path w="2540000" h="1445260">
                <a:moveTo>
                  <a:pt x="0" y="88900"/>
                </a:moveTo>
                <a:lnTo>
                  <a:pt x="0" y="88900"/>
                </a:lnTo>
                <a:arcTo hR="88900" wR="88900" stAng="10800000" swAng="5400000"/>
                <a:lnTo>
                  <a:pt x="2451100" y="0"/>
                </a:lnTo>
                <a:arcTo hR="88900" wR="88900" stAng="16200000" swAng="5400000"/>
                <a:lnTo>
                  <a:pt x="2540000" y="88900"/>
                </a:lnTo>
                <a:arcTo hR="50800" wR="88900" stAng="0" swAng="-5400000"/>
                <a:lnTo>
                  <a:pt x="88900" y="38100"/>
                </a:lnTo>
                <a:arcTo hR="50800" wR="88900" stAng="16200000" swAng="-5400000"/>
                <a:close/>
              </a:path>
            </a:pathLst>
          </a:custGeom>
          <a:solidFill>
            <a:srgbClr val="2F5BEA"/>
          </a:solidFill>
          <a:ln/>
        </p:spPr>
      </p:sp>
      <p:sp>
        <p:nvSpPr>
          <p:cNvPr id="15" name="Text 13"/>
          <p:cNvSpPr/>
          <p:nvPr/>
        </p:nvSpPr>
        <p:spPr>
          <a:xfrm>
            <a:off x="3606800" y="2128521"/>
            <a:ext cx="23022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3FAF"/>
                </a:solidFill>
                <a:latin typeface="Be Vietnam Pro" pitchFamily="34" charset="0"/>
                <a:ea typeface="Be Vietnam Pro" pitchFamily="34" charset="-122"/>
                <a:cs typeface="Be Vietnam Pro" pitchFamily="34" charset="-120"/>
              </a:rPr>
              <a:t>C · Đầy đủ</a:t>
            </a:r>
            <a:endParaRPr lang="en-US" sz="1400" dirty="0"/>
          </a:p>
        </p:txBody>
      </p:sp>
      <p:sp>
        <p:nvSpPr>
          <p:cNvPr id="16" name="Text 14"/>
          <p:cNvSpPr/>
          <p:nvPr/>
        </p:nvSpPr>
        <p:spPr>
          <a:xfrm>
            <a:off x="3605498" y="2453642"/>
            <a:ext cx="223780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điểm chính được bao phủ</a:t>
            </a:r>
            <a:endParaRPr lang="en-US" sz="1200" dirty="0"/>
          </a:p>
        </p:txBody>
      </p:sp>
      <p:sp>
        <p:nvSpPr>
          <p:cNvPr id="17" name="Shape 15"/>
          <p:cNvSpPr/>
          <p:nvPr/>
        </p:nvSpPr>
        <p:spPr>
          <a:xfrm>
            <a:off x="3771900" y="2705100"/>
            <a:ext cx="1905000" cy="12700"/>
          </a:xfrm>
          <a:prstGeom prst="rect">
            <a:avLst/>
          </a:prstGeom>
          <a:solidFill>
            <a:srgbClr val="14213D"/>
          </a:solidFill>
          <a:ln/>
        </p:spPr>
      </p:sp>
      <p:sp>
        <p:nvSpPr>
          <p:cNvPr id="18" name="Text 16"/>
          <p:cNvSpPr/>
          <p:nvPr/>
        </p:nvSpPr>
        <p:spPr>
          <a:xfrm>
            <a:off x="4010025" y="2755900"/>
            <a:ext cx="142875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tổng điểm chính</a:t>
            </a:r>
            <a:endParaRPr lang="en-US" sz="1200" dirty="0"/>
          </a:p>
        </p:txBody>
      </p:sp>
      <p:sp>
        <p:nvSpPr>
          <p:cNvPr id="19" name="Text 17"/>
          <p:cNvSpPr/>
          <p:nvPr/>
        </p:nvSpPr>
        <p:spPr>
          <a:xfrm>
            <a:off x="3606800" y="3045464"/>
            <a:ext cx="23022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kiểu recall</a:t>
            </a:r>
            <a:endParaRPr lang="en-US" sz="1200" dirty="0"/>
          </a:p>
        </p:txBody>
      </p:sp>
      <p:sp>
        <p:nvSpPr>
          <p:cNvPr id="20" name="Shape 18"/>
          <p:cNvSpPr/>
          <p:nvPr/>
        </p:nvSpPr>
        <p:spPr>
          <a:xfrm>
            <a:off x="812800" y="3500121"/>
            <a:ext cx="5181600" cy="452120"/>
          </a:xfrm>
          <a:prstGeom prst="roundRect">
            <a:avLst>
              <a:gd name="adj" fmla="val 19663"/>
            </a:avLst>
          </a:prstGeom>
          <a:solidFill>
            <a:srgbClr val="FFFFFF"/>
          </a:solidFill>
          <a:ln/>
        </p:spPr>
      </p:sp>
      <p:sp>
        <p:nvSpPr>
          <p:cNvPr id="21" name="Text 19"/>
          <p:cNvSpPr/>
          <p:nvPr/>
        </p:nvSpPr>
        <p:spPr>
          <a:xfrm>
            <a:off x="965200" y="3601721"/>
            <a:ext cx="204088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3FAF"/>
                </a:solidFill>
                <a:latin typeface="Be Vietnam Pro" pitchFamily="34" charset="0"/>
                <a:ea typeface="Be Vietnam Pro" pitchFamily="34" charset="-122"/>
                <a:cs typeface="Be Vietnam Pro" pitchFamily="34" charset="-120"/>
              </a:rPr>
              <a:t>F–C F1 = 2FC / (F + C)</a:t>
            </a:r>
            <a:endParaRPr lang="en-US" sz="1400" dirty="0"/>
          </a:p>
        </p:txBody>
      </p:sp>
      <p:sp>
        <p:nvSpPr>
          <p:cNvPr id="22" name="Text 20"/>
          <p:cNvSpPr/>
          <p:nvPr/>
        </p:nvSpPr>
        <p:spPr>
          <a:xfrm>
            <a:off x="2964425" y="3619500"/>
            <a:ext cx="287757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trung bình theo bản ghi</a:t>
            </a:r>
            <a:endParaRPr lang="en-US" sz="1200" dirty="0"/>
          </a:p>
        </p:txBody>
      </p:sp>
      <p:sp>
        <p:nvSpPr>
          <p:cNvPr id="23" name="Shape 21"/>
          <p:cNvSpPr/>
          <p:nvPr/>
        </p:nvSpPr>
        <p:spPr>
          <a:xfrm>
            <a:off x="812800" y="4053842"/>
            <a:ext cx="5181600" cy="932180"/>
          </a:xfrm>
          <a:prstGeom prst="roundRect">
            <a:avLst>
              <a:gd name="adj" fmla="val 9537"/>
            </a:avLst>
          </a:prstGeom>
          <a:solidFill>
            <a:srgbClr val="14213D"/>
          </a:solidFill>
          <a:ln/>
        </p:spPr>
      </p:sp>
      <p:sp>
        <p:nvSpPr>
          <p:cNvPr id="24" name="Text 22"/>
          <p:cNvSpPr/>
          <p:nvPr/>
        </p:nvSpPr>
        <p:spPr>
          <a:xfrm>
            <a:off x="965200" y="4180842"/>
            <a:ext cx="502310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33D"/>
                </a:solidFill>
                <a:latin typeface="Be Vietnam Pro" pitchFamily="34" charset="0"/>
                <a:ea typeface="Be Vietnam Pro" pitchFamily="34" charset="-122"/>
                <a:cs typeface="Be Vietnam Pro" pitchFamily="34" charset="-120"/>
              </a:rPr>
              <a:t>Ví dụ thật: “số hữu tỉ là gì ?” (DeepSeek)</a:t>
            </a:r>
            <a:endParaRPr lang="en-US" sz="1200" dirty="0"/>
          </a:p>
        </p:txBody>
      </p:sp>
      <p:sp>
        <p:nvSpPr>
          <p:cNvPr id="25" name="Text 23"/>
          <p:cNvSpPr/>
          <p:nvPr/>
        </p:nvSpPr>
        <p:spPr>
          <a:xfrm>
            <a:off x="965200" y="4432300"/>
            <a:ext cx="50231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F0"/>
                </a:solidFill>
                <a:latin typeface="Be Vietnam Pro" pitchFamily="34" charset="0"/>
                <a:ea typeface="Be Vietnam Pro" pitchFamily="34" charset="-122"/>
                <a:cs typeface="Be Vietnam Pro" pitchFamily="34" charset="-120"/>
              </a:rPr>
              <a:t>3/4 mệnh đề khớp tham chiếu → F = 0,75</a:t>
            </a:r>
            <a:endParaRPr lang="en-US" sz="1200" dirty="0"/>
          </a:p>
          <a:p>
            <a:pPr algn="l" indent="0" marL="0">
              <a:lnSpc>
                <a:spcPts val="1680"/>
              </a:lnSpc>
              <a:buNone/>
            </a:pPr>
            <a:r>
              <a:rPr lang="en-US" sz="1200" dirty="0">
                <a:solidFill>
                  <a:srgbClr val="DCE3F0"/>
                </a:solidFill>
                <a:latin typeface="Be Vietnam Pro" pitchFamily="34" charset="0"/>
                <a:ea typeface="Be Vietnam Pro" pitchFamily="34" charset="-122"/>
                <a:cs typeface="Be Vietnam Pro" pitchFamily="34" charset="-120"/>
              </a:rPr>
              <a:t>1/2 ý chính được bao phủ → C = 0,5</a:t>
            </a:r>
            <a:endParaRPr lang="en-US" sz="1200" dirty="0"/>
          </a:p>
        </p:txBody>
      </p:sp>
      <p:sp>
        <p:nvSpPr>
          <p:cNvPr id="26" name="Text 24"/>
          <p:cNvSpPr/>
          <p:nvPr/>
        </p:nvSpPr>
        <p:spPr>
          <a:xfrm>
            <a:off x="6197600" y="1587500"/>
            <a:ext cx="730488" cy="264160"/>
          </a:xfrm>
          <a:prstGeom prst="roundRect">
            <a:avLst>
              <a:gd name="adj" fmla="val 19231"/>
            </a:avLst>
          </a:prstGeom>
          <a:solidFill>
            <a:srgbClr val="FCEBD0"/>
          </a:solidFill>
          <a:ln/>
        </p:spPr>
        <p:txBody>
          <a:bodyPr wrap="none" lIns="0" tIns="0" rIns="0" bIns="0" rtlCol="0" anchor="ctr">
            <a:normAutofit/>
          </a:bodyPr>
          <a:lstStyle/>
          <a:p>
            <a:pPr algn="ctr" indent="0" marL="0">
              <a:lnSpc>
                <a:spcPts val="1680"/>
              </a:lnSpc>
              <a:buNone/>
            </a:pPr>
            <a:r>
              <a:rPr lang="en-US" sz="1200" b="1" dirty="0">
                <a:solidFill>
                  <a:srgbClr val="7A4F05"/>
                </a:solidFill>
                <a:latin typeface="Be Vietnam Pro" pitchFamily="34" charset="0"/>
                <a:ea typeface="Be Vietnam Pro" pitchFamily="34" charset="-122"/>
                <a:cs typeface="Be Vietnam Pro" pitchFamily="34" charset="-120"/>
              </a:rPr>
              <a:t>Nhóm 2</a:t>
            </a:r>
            <a:endParaRPr lang="en-US" sz="1200" dirty="0"/>
          </a:p>
        </p:txBody>
      </p:sp>
      <p:sp>
        <p:nvSpPr>
          <p:cNvPr id="27" name="Text 25"/>
          <p:cNvSpPr/>
          <p:nvPr/>
        </p:nvSpPr>
        <p:spPr>
          <a:xfrm>
            <a:off x="7016988" y="1604014"/>
            <a:ext cx="274996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Be Vietnam Pro" pitchFamily="34" charset="0"/>
                <a:ea typeface="Be Vietnam Pro" pitchFamily="34" charset="-122"/>
                <a:cs typeface="Be Vietnam Pro" pitchFamily="34" charset="-120"/>
              </a:rPr>
              <a:t>Hành vi tại biên bằng chứng</a:t>
            </a:r>
            <a:endParaRPr lang="en-US" sz="1300" dirty="0"/>
          </a:p>
        </p:txBody>
      </p:sp>
      <p:sp>
        <p:nvSpPr>
          <p:cNvPr id="28" name="Shape 26"/>
          <p:cNvSpPr/>
          <p:nvPr/>
        </p:nvSpPr>
        <p:spPr>
          <a:xfrm>
            <a:off x="6197600" y="1927864"/>
            <a:ext cx="5181600" cy="642620"/>
          </a:xfrm>
          <a:prstGeom prst="roundRect">
            <a:avLst>
              <a:gd name="adj" fmla="val 13834"/>
            </a:avLst>
          </a:prstGeom>
          <a:solidFill>
            <a:srgbClr val="FFFFFF"/>
          </a:solidFill>
          <a:ln/>
        </p:spPr>
      </p:sp>
      <p:sp>
        <p:nvSpPr>
          <p:cNvPr id="29" name="Text 27"/>
          <p:cNvSpPr/>
          <p:nvPr/>
        </p:nvSpPr>
        <p:spPr>
          <a:xfrm>
            <a:off x="6337300" y="2133600"/>
            <a:ext cx="10033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4F05"/>
                </a:solidFill>
                <a:latin typeface="Be Vietnam Pro" pitchFamily="34" charset="0"/>
                <a:ea typeface="Be Vietnam Pro" pitchFamily="34" charset="-122"/>
                <a:cs typeface="Be Vietnam Pro" pitchFamily="34" charset="-120"/>
              </a:rPr>
              <a:t>SVR ↓</a:t>
            </a:r>
            <a:endParaRPr lang="en-US" sz="1300" dirty="0"/>
          </a:p>
        </p:txBody>
      </p:sp>
      <p:sp>
        <p:nvSpPr>
          <p:cNvPr id="30" name="Text 28"/>
          <p:cNvSpPr/>
          <p:nvPr/>
        </p:nvSpPr>
        <p:spPr>
          <a:xfrm>
            <a:off x="7416800" y="2029464"/>
            <a:ext cx="3937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PARTIAL vượt phạm vi ÷ số PARTIAL</a:t>
            </a:r>
            <a:endParaRPr lang="en-US" sz="1200" dirty="0"/>
          </a:p>
        </p:txBody>
      </p:sp>
      <p:sp>
        <p:nvSpPr>
          <p:cNvPr id="31" name="Text 29"/>
          <p:cNvSpPr/>
          <p:nvPr/>
        </p:nvSpPr>
        <p:spPr>
          <a:xfrm>
            <a:off x="7416800" y="2255521"/>
            <a:ext cx="3937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trả lời quá những gì bằng chứng cho phép</a:t>
            </a:r>
            <a:endParaRPr lang="en-US" sz="1200" dirty="0"/>
          </a:p>
        </p:txBody>
      </p:sp>
      <p:sp>
        <p:nvSpPr>
          <p:cNvPr id="32" name="Shape 30"/>
          <p:cNvSpPr/>
          <p:nvPr/>
        </p:nvSpPr>
        <p:spPr>
          <a:xfrm>
            <a:off x="6197600" y="2646679"/>
            <a:ext cx="5181600" cy="642620"/>
          </a:xfrm>
          <a:prstGeom prst="roundRect">
            <a:avLst>
              <a:gd name="adj" fmla="val 13834"/>
            </a:avLst>
          </a:prstGeom>
          <a:solidFill>
            <a:srgbClr val="FFFFFF"/>
          </a:solidFill>
          <a:ln/>
        </p:spPr>
      </p:sp>
      <p:sp>
        <p:nvSpPr>
          <p:cNvPr id="33" name="Text 31"/>
          <p:cNvSpPr/>
          <p:nvPr/>
        </p:nvSpPr>
        <p:spPr>
          <a:xfrm>
            <a:off x="6337300" y="2852421"/>
            <a:ext cx="10033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4F05"/>
                </a:solidFill>
                <a:latin typeface="Be Vietnam Pro" pitchFamily="34" charset="0"/>
                <a:ea typeface="Be Vietnam Pro" pitchFamily="34" charset="-122"/>
                <a:cs typeface="Be Vietnam Pro" pitchFamily="34" charset="-120"/>
              </a:rPr>
              <a:t>OAR ↓</a:t>
            </a:r>
            <a:endParaRPr lang="en-US" sz="1300" dirty="0"/>
          </a:p>
        </p:txBody>
      </p:sp>
      <p:sp>
        <p:nvSpPr>
          <p:cNvPr id="34" name="Text 32"/>
          <p:cNvSpPr/>
          <p:nvPr/>
        </p:nvSpPr>
        <p:spPr>
          <a:xfrm>
            <a:off x="7416800" y="2748279"/>
            <a:ext cx="3937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YES bị từ chối ÷ số YES</a:t>
            </a:r>
            <a:endParaRPr lang="en-US" sz="1200" dirty="0"/>
          </a:p>
        </p:txBody>
      </p:sp>
      <p:sp>
        <p:nvSpPr>
          <p:cNvPr id="35" name="Text 33"/>
          <p:cNvSpPr/>
          <p:nvPr/>
        </p:nvSpPr>
        <p:spPr>
          <a:xfrm>
            <a:off x="7416800" y="2974342"/>
            <a:ext cx="3937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thận trọng quá mức</a:t>
            </a:r>
            <a:endParaRPr lang="en-US" sz="1200" dirty="0"/>
          </a:p>
        </p:txBody>
      </p:sp>
      <p:sp>
        <p:nvSpPr>
          <p:cNvPr id="36" name="Shape 34"/>
          <p:cNvSpPr/>
          <p:nvPr/>
        </p:nvSpPr>
        <p:spPr>
          <a:xfrm>
            <a:off x="6197600" y="3365500"/>
            <a:ext cx="5181600" cy="868680"/>
          </a:xfrm>
          <a:prstGeom prst="roundRect">
            <a:avLst>
              <a:gd name="adj" fmla="val 10234"/>
            </a:avLst>
          </a:prstGeom>
          <a:solidFill>
            <a:srgbClr val="FFFFFF"/>
          </a:solidFill>
          <a:ln/>
        </p:spPr>
      </p:sp>
      <p:sp>
        <p:nvSpPr>
          <p:cNvPr id="37" name="Text 35"/>
          <p:cNvSpPr/>
          <p:nvPr/>
        </p:nvSpPr>
        <p:spPr>
          <a:xfrm>
            <a:off x="6337300" y="3684271"/>
            <a:ext cx="10033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4F05"/>
                </a:solidFill>
                <a:latin typeface="Be Vietnam Pro" pitchFamily="34" charset="0"/>
                <a:ea typeface="Be Vietnam Pro" pitchFamily="34" charset="-122"/>
                <a:cs typeface="Be Vietnam Pro" pitchFamily="34" charset="-120"/>
              </a:rPr>
              <a:t>Từ chối</a:t>
            </a:r>
            <a:endParaRPr lang="en-US" sz="1300" dirty="0"/>
          </a:p>
        </p:txBody>
      </p:sp>
      <p:sp>
        <p:nvSpPr>
          <p:cNvPr id="38" name="Text 36"/>
          <p:cNvSpPr/>
          <p:nvPr/>
        </p:nvSpPr>
        <p:spPr>
          <a:xfrm>
            <a:off x="7416800" y="3467100"/>
            <a:ext cx="3937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P = từ chối trên NO ÷ mọi lần từ chối</a:t>
            </a:r>
            <a:endParaRPr lang="en-US" sz="1200" dirty="0"/>
          </a:p>
        </p:txBody>
      </p:sp>
      <p:sp>
        <p:nvSpPr>
          <p:cNvPr id="39" name="Text 37"/>
          <p:cNvSpPr/>
          <p:nvPr/>
        </p:nvSpPr>
        <p:spPr>
          <a:xfrm>
            <a:off x="7416800" y="3693164"/>
            <a:ext cx="3937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R = từ chối trên NO ÷ số NO · F1</a:t>
            </a:r>
            <a:endParaRPr lang="en-US" sz="1200" dirty="0"/>
          </a:p>
        </p:txBody>
      </p:sp>
      <p:sp>
        <p:nvSpPr>
          <p:cNvPr id="40" name="Text 38"/>
          <p:cNvSpPr/>
          <p:nvPr/>
        </p:nvSpPr>
        <p:spPr>
          <a:xfrm>
            <a:off x="7416800" y="3919221"/>
            <a:ext cx="3937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tính trên YES + NO, từ chối là lớp dương</a:t>
            </a:r>
            <a:endParaRPr lang="en-US" sz="1200" dirty="0"/>
          </a:p>
        </p:txBody>
      </p:sp>
      <p:sp>
        <p:nvSpPr>
          <p:cNvPr id="41" name="Shape 39"/>
          <p:cNvSpPr/>
          <p:nvPr/>
        </p:nvSpPr>
        <p:spPr>
          <a:xfrm>
            <a:off x="6197600" y="4310379"/>
            <a:ext cx="5181600" cy="642620"/>
          </a:xfrm>
          <a:prstGeom prst="roundRect">
            <a:avLst>
              <a:gd name="adj" fmla="val 13834"/>
            </a:avLst>
          </a:prstGeom>
          <a:solidFill>
            <a:srgbClr val="FFFFFF"/>
          </a:solidFill>
          <a:ln/>
        </p:spPr>
      </p:sp>
      <p:sp>
        <p:nvSpPr>
          <p:cNvPr id="42" name="Text 40"/>
          <p:cNvSpPr/>
          <p:nvPr/>
        </p:nvSpPr>
        <p:spPr>
          <a:xfrm>
            <a:off x="6337300" y="4516121"/>
            <a:ext cx="10033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4F05"/>
                </a:solidFill>
                <a:latin typeface="Be Vietnam Pro" pitchFamily="34" charset="0"/>
                <a:ea typeface="Be Vietnam Pro" pitchFamily="34" charset="-122"/>
                <a:cs typeface="Be Vietnam Pro" pitchFamily="34" charset="-120"/>
              </a:rPr>
              <a:t>CR ↑</a:t>
            </a:r>
            <a:endParaRPr lang="en-US" sz="1300" dirty="0"/>
          </a:p>
        </p:txBody>
      </p:sp>
      <p:sp>
        <p:nvSpPr>
          <p:cNvPr id="43" name="Text 41"/>
          <p:cNvSpPr/>
          <p:nvPr/>
        </p:nvSpPr>
        <p:spPr>
          <a:xfrm>
            <a:off x="7416800" y="4411979"/>
            <a:ext cx="3937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AMBIGUOUS được làm rõ ÷ số AMBIGUOUS</a:t>
            </a:r>
            <a:endParaRPr lang="en-US" sz="1200" dirty="0"/>
          </a:p>
        </p:txBody>
      </p:sp>
      <p:sp>
        <p:nvSpPr>
          <p:cNvPr id="44" name="Text 42"/>
          <p:cNvSpPr/>
          <p:nvPr/>
        </p:nvSpPr>
        <p:spPr>
          <a:xfrm>
            <a:off x="7416800" y="4638042"/>
            <a:ext cx="3937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có hỏi lại khi câu hỏi mơ hồ</a:t>
            </a:r>
            <a:endParaRPr lang="en-US" sz="1200" dirty="0"/>
          </a:p>
        </p:txBody>
      </p:sp>
      <p:sp>
        <p:nvSpPr>
          <p:cNvPr id="45" name="Shape 43"/>
          <p:cNvSpPr/>
          <p:nvPr/>
        </p:nvSpPr>
        <p:spPr>
          <a:xfrm>
            <a:off x="812800" y="5163821"/>
            <a:ext cx="10566400" cy="431800"/>
          </a:xfrm>
          <a:prstGeom prst="roundRect">
            <a:avLst>
              <a:gd name="adj" fmla="val 20588"/>
            </a:avLst>
          </a:prstGeom>
          <a:solidFill>
            <a:srgbClr val="FFFFFF"/>
          </a:solidFill>
          <a:ln/>
        </p:spPr>
      </p:sp>
      <p:sp>
        <p:nvSpPr>
          <p:cNvPr id="46" name="Shape 44"/>
          <p:cNvSpPr/>
          <p:nvPr/>
        </p:nvSpPr>
        <p:spPr>
          <a:xfrm>
            <a:off x="812800" y="5163821"/>
            <a:ext cx="10566400" cy="431800"/>
          </a:xfrm>
          <a:custGeom>
            <a:avLst/>
            <a:gdLst/>
            <a:ahLst/>
            <a:cxnLst/>
            <a:rect l="l" t="t" r="r" b="b"/>
            <a:pathLst>
              <a:path w="10566400" h="431800">
                <a:moveTo>
                  <a:pt x="88900" y="431800"/>
                </a:moveTo>
                <a:lnTo>
                  <a:pt x="88900" y="431800"/>
                </a:lnTo>
                <a:arcTo hR="88900" wR="88900" stAng="5400000" swAng="5400000"/>
                <a:lnTo>
                  <a:pt x="0" y="88900"/>
                </a:lnTo>
                <a:arcTo hR="88900" wR="88900" stAng="10800000" swAng="5400000"/>
                <a:lnTo>
                  <a:pt x="88900" y="0"/>
                </a:lnTo>
                <a:arcTo hR="88900" wR="50800" stAng="16200000" swAng="-5400000"/>
                <a:lnTo>
                  <a:pt x="38100" y="342900"/>
                </a:lnTo>
                <a:arcTo hR="88900" wR="50800" stAng="10800000" swAng="-5400000"/>
                <a:close/>
              </a:path>
            </a:pathLst>
          </a:custGeom>
          <a:solidFill>
            <a:srgbClr val="2F7D62"/>
          </a:solidFill>
          <a:ln/>
        </p:spPr>
      </p:sp>
      <p:pic>
        <p:nvPicPr>
          <p:cNvPr id="47" name="Image 0" descr="Lock">    </p:cNvPr>
          <p:cNvPicPr>
            <a:picLocks noChangeAspect="1"/>
          </p:cNvPicPr>
          <p:nvPr/>
        </p:nvPicPr>
        <p:blipFill>
          <a:blip r:embed="rId1"/>
          <a:srcRect l="0" r="0" t="0" b="0"/>
          <a:stretch/>
        </p:blipFill>
        <p:spPr>
          <a:xfrm>
            <a:off x="1000760" y="5265421"/>
            <a:ext cx="228600" cy="228600"/>
          </a:xfrm>
          <a:prstGeom prst="rect">
            <a:avLst/>
          </a:prstGeom>
        </p:spPr>
      </p:pic>
      <p:sp>
        <p:nvSpPr>
          <p:cNvPr id="48" name="Text 45"/>
          <p:cNvSpPr/>
          <p:nvPr/>
        </p:nvSpPr>
        <p:spPr>
          <a:xfrm>
            <a:off x="1330960" y="5273042"/>
            <a:ext cx="101927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Be Vietnam Pro" pitchFamily="34" charset="0"/>
                <a:ea typeface="Be Vietnam Pro" pitchFamily="34" charset="-122"/>
                <a:cs typeface="Be Vietnam Pro" pitchFamily="34" charset="-120"/>
              </a:rPr>
              <a:t>Chống “luôn từ chối”: từ chối trên câu trả lời được → C = 0 và OAR tăng; trả lời bừa → F giảm và SVR tăng.</a:t>
            </a:r>
            <a:endParaRPr lang="en-US" sz="1200" dirty="0"/>
          </a:p>
        </p:txBody>
      </p:sp>
      <p:sp>
        <p:nvSpPr>
          <p:cNvPr id="49" name="Text 46"/>
          <p:cNvSpPr/>
          <p:nvPr/>
        </p:nvSpPr>
        <p:spPr>
          <a:xfrm>
            <a:off x="812800" y="6238242"/>
            <a:ext cx="60167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Định nghĩa đầy đủ: Mục 4.3 luận văn</a:t>
            </a:r>
            <a:endParaRPr lang="en-US" sz="1200" dirty="0"/>
          </a:p>
        </p:txBody>
      </p:sp>
      <p:sp>
        <p:nvSpPr>
          <p:cNvPr id="50" name="Text 47"/>
          <p:cNvSpPr/>
          <p:nvPr/>
        </p:nvSpPr>
        <p:spPr>
          <a:xfrm>
            <a:off x="11166634" y="6238242"/>
            <a:ext cx="21256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THIẾT LẬP THỰC NGHIỆM · RQ4</a:t>
            </a:r>
            <a:endParaRPr lang="en-US" sz="1200" dirty="0"/>
          </a:p>
        </p:txBody>
      </p:sp>
      <p:sp>
        <p:nvSpPr>
          <p:cNvPr id="3" name="Text 1"/>
          <p:cNvSpPr/>
          <p:nvPr>
            <p:ph type="title"/>
          </p:nvPr>
        </p:nvSpPr>
        <p:spPr>
          <a:xfrm>
            <a:off x="812800" y="1000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Bốn LLM mã nguồn mở, cùng một điều kiện</a:t>
            </a:r>
            <a:endParaRPr lang="en-US" sz="2800" dirty="0"/>
          </a:p>
        </p:txBody>
      </p:sp>
      <p:sp>
        <p:nvSpPr>
          <p:cNvPr id="4" name="Text 2"/>
          <p:cNvSpPr/>
          <p:nvPr/>
        </p:nvSpPr>
        <p:spPr>
          <a:xfrm>
            <a:off x="812800" y="1600200"/>
            <a:ext cx="53632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8494"/>
                </a:solidFill>
                <a:latin typeface="Be Vietnam Pro" pitchFamily="34" charset="0"/>
                <a:ea typeface="Be Vietnam Pro" pitchFamily="34" charset="-122"/>
                <a:cs typeface="Be Vietnam Pro" pitchFamily="34" charset="-120"/>
              </a:rPr>
              <a:t>MÔ HÌNH ĐƯỢC ĐÁNH GIÁ</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38024"/>
          <a:ext cx="5196840" cy="1784350"/>
        </p:xfrm>
        <a:graphic>
          <a:graphicData uri="http://schemas.openxmlformats.org/drawingml/2006/table">
            <a:tbl>
              <a:tblPr/>
              <a:tblGrid>
                <a:gridCol w="1974799"/>
                <a:gridCol w="1039368"/>
                <a:gridCol w="1091336"/>
                <a:gridCol w="1091336"/>
              </a:tblGrid>
              <a:tr h="356870">
                <a:tc>
                  <a:txBody>
                    <a:bodyPr/>
                    <a:lstStyle/>
                    <a:p>
                      <a:pPr indent="0" marL="0">
                        <a:lnSpc>
                          <a:spcPts val="1820"/>
                        </a:lnSpc>
                        <a:buNone/>
                      </a:pPr>
                      <a:r>
                        <a:rPr lang="en-US" sz="1300" b="1" dirty="0">
                          <a:solidFill>
                            <a:srgbClr val="F7F6F2"/>
                          </a:solidFill>
                          <a:latin typeface="Be Vietnam Pro" pitchFamily="34" charset="0"/>
                          <a:ea typeface="Be Vietnam Pro" pitchFamily="34" charset="-122"/>
                          <a:cs typeface="Be Vietnam Pro" pitchFamily="34" charset="-120"/>
                        </a:rPr>
                        <a:t>Mô hình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Be Vietnam Pro" pitchFamily="34" charset="0"/>
                          <a:ea typeface="Be Vietnam Pro" pitchFamily="34" charset="-122"/>
                          <a:cs typeface="Be Vietnam Pro" pitchFamily="34" charset="-120"/>
                        </a:rPr>
                        <a:t>Kiến trúc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7F6F2"/>
                          </a:solidFill>
                          <a:latin typeface="Be Vietnam Pro" pitchFamily="34" charset="0"/>
                          <a:ea typeface="Be Vietnam Pro" pitchFamily="34" charset="-122"/>
                          <a:cs typeface="Be Vietnam Pro" pitchFamily="34" charset="-120"/>
                        </a:rPr>
                        <a:t>Tổng</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7F6F2"/>
                          </a:solidFill>
                          <a:latin typeface="Be Vietnam Pro" pitchFamily="34" charset="0"/>
                          <a:ea typeface="Be Vietnam Pro" pitchFamily="34" charset="-122"/>
                          <a:cs typeface="Be Vietnam Pro" pitchFamily="34" charset="-120"/>
                        </a:rPr>
                        <a:t>Kích hoạt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6870">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DeepSeek-V4-Flash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MoE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284 tỉ</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13 tỉ</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Qwen3.5-397B-A17B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MoE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397 tỉ</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17 tỉ</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6870">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Gemma-4-31B-IT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Dense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30,7 tỉ</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30,7 tỉ</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Qwen3-8B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Dense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8,2 tỉ</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8,2 tỉ</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Shape 3"/>
          <p:cNvSpPr/>
          <p:nvPr/>
        </p:nvSpPr>
        <p:spPr>
          <a:xfrm>
            <a:off x="812800" y="3836671"/>
            <a:ext cx="5207000" cy="1132840"/>
          </a:xfrm>
          <a:prstGeom prst="roundRect">
            <a:avLst>
              <a:gd name="adj" fmla="val 6726"/>
            </a:avLst>
          </a:prstGeom>
          <a:solidFill>
            <a:srgbClr val="FFFFFF"/>
          </a:solidFill>
          <a:ln/>
        </p:spPr>
      </p:sp>
      <p:sp>
        <p:nvSpPr>
          <p:cNvPr id="7" name="Shape 4"/>
          <p:cNvSpPr/>
          <p:nvPr/>
        </p:nvSpPr>
        <p:spPr>
          <a:xfrm>
            <a:off x="812800" y="3836671"/>
            <a:ext cx="5207000" cy="1132840"/>
          </a:xfrm>
          <a:custGeom>
            <a:avLst/>
            <a:gdLst/>
            <a:ahLst/>
            <a:cxnLst/>
            <a:rect l="l" t="t" r="r" b="b"/>
            <a:pathLst>
              <a:path w="5207000" h="1132840">
                <a:moveTo>
                  <a:pt x="76200" y="1132840"/>
                </a:moveTo>
                <a:lnTo>
                  <a:pt x="76200" y="1132840"/>
                </a:lnTo>
                <a:arcTo hR="76200" wR="76200" stAng="5400000" swAng="5400000"/>
                <a:lnTo>
                  <a:pt x="0" y="76200"/>
                </a:lnTo>
                <a:arcTo hR="76200" wR="76200" stAng="10800000" swAng="5400000"/>
                <a:lnTo>
                  <a:pt x="76200" y="0"/>
                </a:lnTo>
                <a:arcTo hR="76200" wR="38100" stAng="16200000" swAng="-5400000"/>
                <a:lnTo>
                  <a:pt x="38100" y="1056640"/>
                </a:lnTo>
                <a:arcTo hR="76200" wR="38100" stAng="10800000" swAng="-5400000"/>
                <a:close/>
              </a:path>
            </a:pathLst>
          </a:custGeom>
          <a:solidFill>
            <a:srgbClr val="2F5BEA"/>
          </a:solidFill>
          <a:ln/>
        </p:spPr>
      </p:sp>
      <p:sp>
        <p:nvSpPr>
          <p:cNvPr id="8" name="Text 5"/>
          <p:cNvSpPr/>
          <p:nvPr/>
        </p:nvSpPr>
        <p:spPr>
          <a:xfrm>
            <a:off x="1000760" y="3950971"/>
            <a:ext cx="501263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Vì sao chọn:</a:t>
            </a:r>
            <a:r>
              <a:rPr lang="en-US" sz="1200" dirty="0">
                <a:solidFill>
                  <a:srgbClr val="14213D"/>
                </a:solidFill>
                <a:latin typeface="Be Vietnam Pro" pitchFamily="34" charset="0"/>
                <a:ea typeface="Be Vietnam Pro" pitchFamily="34" charset="-122"/>
                <a:cs typeface="Be Vietnam Pro" pitchFamily="34" charset="-120"/>
              </a:rPr>
              <a:t> khác họ, kiến trúc và quy mô; cặp Qwen3-8B – Qwen3.5 để xét quy mô.</a:t>
            </a:r>
            <a:endParaRPr lang="en-US" sz="1200" dirty="0"/>
          </a:p>
        </p:txBody>
      </p:sp>
      <p:sp>
        <p:nvSpPr>
          <p:cNvPr id="9" name="Text 6"/>
          <p:cNvSpPr/>
          <p:nvPr/>
        </p:nvSpPr>
        <p:spPr>
          <a:xfrm>
            <a:off x="1000760" y="4428492"/>
            <a:ext cx="501263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Be Vietnam Pro" pitchFamily="34" charset="0"/>
                <a:ea typeface="Be Vietnam Pro" pitchFamily="34" charset="-122"/>
                <a:cs typeface="Be Vietnam Pro" pitchFamily="34" charset="-120"/>
              </a:rPr>
              <a:t>Không có baseline riêng:</a:t>
            </a:r>
            <a:r>
              <a:rPr lang="en-US" sz="1200" dirty="0">
                <a:solidFill>
                  <a:srgbClr val="4A5568"/>
                </a:solidFill>
                <a:latin typeface="Be Vietnam Pro" pitchFamily="34" charset="0"/>
                <a:ea typeface="Be Vietnam Pro" pitchFamily="34" charset="-122"/>
                <a:cs typeface="Be Vietnam Pro" pitchFamily="34" charset="-120"/>
              </a:rPr>
              <a:t> so sánh 4 mô hình với nhau và với nhãn người.</a:t>
            </a:r>
            <a:endParaRPr lang="en-US" sz="1200" dirty="0"/>
          </a:p>
        </p:txBody>
      </p:sp>
      <p:sp>
        <p:nvSpPr>
          <p:cNvPr id="10" name="Shape 7"/>
          <p:cNvSpPr/>
          <p:nvPr/>
        </p:nvSpPr>
        <p:spPr>
          <a:xfrm>
            <a:off x="6324600" y="1600200"/>
            <a:ext cx="5054600" cy="911860"/>
          </a:xfrm>
          <a:prstGeom prst="roundRect">
            <a:avLst>
              <a:gd name="adj" fmla="val 9749"/>
            </a:avLst>
          </a:prstGeom>
          <a:solidFill>
            <a:srgbClr val="FFFFFF"/>
          </a:solidFill>
          <a:ln/>
        </p:spPr>
      </p:sp>
      <p:sp>
        <p:nvSpPr>
          <p:cNvPr id="11" name="Text 8"/>
          <p:cNvSpPr/>
          <p:nvPr/>
        </p:nvSpPr>
        <p:spPr>
          <a:xfrm>
            <a:off x="6464300" y="1714500"/>
            <a:ext cx="304800" cy="314960"/>
          </a:xfrm>
          <a:custGeom>
            <a:avLst/>
            <a:gdLst/>
            <a:ahLst/>
            <a:cxnLst/>
            <a:rect l="l" t="t" r="r" b="b"/>
            <a:pathLst>
              <a:path w="304800" h="314960">
                <a:moveTo>
                  <a:pt x="152400" y="0"/>
                </a:moveTo>
                <a:lnTo>
                  <a:pt x="152400" y="0"/>
                </a:lnTo>
                <a:arcTo hR="152400" wR="152400" stAng="16200000" swAng="5400000"/>
                <a:lnTo>
                  <a:pt x="304800" y="162560"/>
                </a:lnTo>
                <a:arcTo hR="152400" wR="152400" stAng="0" swAng="5400000"/>
                <a:lnTo>
                  <a:pt x="152400" y="314960"/>
                </a:lnTo>
                <a:arcTo hR="152400" wR="152400" stAng="5400000" swAng="5400000"/>
                <a:lnTo>
                  <a:pt x="0" y="152400"/>
                </a:lnTo>
                <a:arcTo hR="152400" wR="152400" stAng="10800000" swAng="5400000"/>
                <a:close/>
              </a:path>
            </a:pathLst>
          </a:custGeom>
          <a:solidFill>
            <a:srgbClr val="2F5BEA"/>
          </a:solidFill>
          <a:ln/>
        </p:spPr>
        <p:txBody>
          <a:bodyPr wrap="square" lIns="0" tIns="50800" rIns="0" bIns="25400" rtlCol="0" anchor="t">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1</a:t>
            </a:r>
            <a:endParaRPr lang="en-US" sz="1200" dirty="0"/>
          </a:p>
        </p:txBody>
      </p:sp>
      <p:sp>
        <p:nvSpPr>
          <p:cNvPr id="12" name="Text 9"/>
          <p:cNvSpPr/>
          <p:nvPr/>
        </p:nvSpPr>
        <p:spPr>
          <a:xfrm>
            <a:off x="6883400" y="1714500"/>
            <a:ext cx="448678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Be Vietnam Pro" pitchFamily="34" charset="0"/>
                <a:ea typeface="Be Vietnam Pro" pitchFamily="34" charset="-122"/>
                <a:cs typeface="Be Vietnam Pro" pitchFamily="34" charset="-120"/>
              </a:rPr>
              <a:t>Đầu vào</a:t>
            </a:r>
            <a:endParaRPr lang="en-US" sz="1300" dirty="0"/>
          </a:p>
        </p:txBody>
      </p:sp>
      <p:sp>
        <p:nvSpPr>
          <p:cNvPr id="13" name="Text 10"/>
          <p:cNvSpPr/>
          <p:nvPr/>
        </p:nvSpPr>
        <p:spPr>
          <a:xfrm>
            <a:off x="6883400" y="1971042"/>
            <a:ext cx="448678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Truy vấn gốc + toàn văn 3 trang. Không có nhãn, tài liệu hỗ trợ, tham chiếu.</a:t>
            </a:r>
            <a:endParaRPr lang="en-US" sz="1200" dirty="0"/>
          </a:p>
        </p:txBody>
      </p:sp>
      <p:sp>
        <p:nvSpPr>
          <p:cNvPr id="14" name="Shape 11"/>
          <p:cNvSpPr/>
          <p:nvPr/>
        </p:nvSpPr>
        <p:spPr>
          <a:xfrm>
            <a:off x="6324600" y="2600964"/>
            <a:ext cx="5054600" cy="911860"/>
          </a:xfrm>
          <a:prstGeom prst="roundRect">
            <a:avLst>
              <a:gd name="adj" fmla="val 9749"/>
            </a:avLst>
          </a:prstGeom>
          <a:solidFill>
            <a:srgbClr val="FFFFFF"/>
          </a:solidFill>
          <a:ln/>
        </p:spPr>
      </p:sp>
      <p:sp>
        <p:nvSpPr>
          <p:cNvPr id="15" name="Text 12"/>
          <p:cNvSpPr/>
          <p:nvPr/>
        </p:nvSpPr>
        <p:spPr>
          <a:xfrm>
            <a:off x="6464300" y="2715264"/>
            <a:ext cx="304800" cy="314960"/>
          </a:xfrm>
          <a:custGeom>
            <a:avLst/>
            <a:gdLst/>
            <a:ahLst/>
            <a:cxnLst/>
            <a:rect l="l" t="t" r="r" b="b"/>
            <a:pathLst>
              <a:path w="304800" h="314960">
                <a:moveTo>
                  <a:pt x="152400" y="0"/>
                </a:moveTo>
                <a:lnTo>
                  <a:pt x="152400" y="0"/>
                </a:lnTo>
                <a:arcTo hR="152400" wR="152400" stAng="16200000" swAng="5400000"/>
                <a:lnTo>
                  <a:pt x="304800" y="162560"/>
                </a:lnTo>
                <a:arcTo hR="152400" wR="152400" stAng="0" swAng="5400000"/>
                <a:lnTo>
                  <a:pt x="152400" y="314960"/>
                </a:lnTo>
                <a:arcTo hR="152400" wR="152400" stAng="5400000" swAng="5400000"/>
                <a:lnTo>
                  <a:pt x="0" y="152400"/>
                </a:lnTo>
                <a:arcTo hR="152400" wR="152400" stAng="10800000" swAng="5400000"/>
                <a:close/>
              </a:path>
            </a:pathLst>
          </a:custGeom>
          <a:solidFill>
            <a:srgbClr val="2F5BEA"/>
          </a:solidFill>
          <a:ln/>
        </p:spPr>
        <p:txBody>
          <a:bodyPr wrap="square" lIns="0" tIns="50800" rIns="0" bIns="25400" rtlCol="0" anchor="t">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2</a:t>
            </a:r>
            <a:endParaRPr lang="en-US" sz="1200" dirty="0"/>
          </a:p>
        </p:txBody>
      </p:sp>
      <p:sp>
        <p:nvSpPr>
          <p:cNvPr id="16" name="Text 13"/>
          <p:cNvSpPr/>
          <p:nvPr/>
        </p:nvSpPr>
        <p:spPr>
          <a:xfrm>
            <a:off x="6883400" y="2715264"/>
            <a:ext cx="448678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Be Vietnam Pro" pitchFamily="34" charset="0"/>
                <a:ea typeface="Be Vietnam Pro" pitchFamily="34" charset="-122"/>
                <a:cs typeface="Be Vietnam Pro" pitchFamily="34" charset="-120"/>
              </a:rPr>
              <a:t>Cấu hình chung</a:t>
            </a:r>
            <a:endParaRPr lang="en-US" sz="1300" dirty="0"/>
          </a:p>
        </p:txBody>
      </p:sp>
      <p:sp>
        <p:nvSpPr>
          <p:cNvPr id="17" name="Text 14"/>
          <p:cNvSpPr/>
          <p:nvPr/>
        </p:nvSpPr>
        <p:spPr>
          <a:xfrm>
            <a:off x="6883400" y="2971800"/>
            <a:ext cx="448678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Cùng lời nhắc tiếng Việt · nhiệt độ 0 · tối đa 2.048 token · tắt chế độ suy luận.</a:t>
            </a:r>
            <a:endParaRPr lang="en-US" sz="1200" dirty="0"/>
          </a:p>
        </p:txBody>
      </p:sp>
      <p:sp>
        <p:nvSpPr>
          <p:cNvPr id="18" name="Shape 15"/>
          <p:cNvSpPr/>
          <p:nvPr/>
        </p:nvSpPr>
        <p:spPr>
          <a:xfrm>
            <a:off x="6324600" y="3601721"/>
            <a:ext cx="5054600" cy="911860"/>
          </a:xfrm>
          <a:prstGeom prst="roundRect">
            <a:avLst>
              <a:gd name="adj" fmla="val 9749"/>
            </a:avLst>
          </a:prstGeom>
          <a:solidFill>
            <a:srgbClr val="FFFFFF"/>
          </a:solidFill>
          <a:ln/>
        </p:spPr>
      </p:sp>
      <p:sp>
        <p:nvSpPr>
          <p:cNvPr id="19" name="Text 16"/>
          <p:cNvSpPr/>
          <p:nvPr/>
        </p:nvSpPr>
        <p:spPr>
          <a:xfrm>
            <a:off x="6464300" y="3716021"/>
            <a:ext cx="304800" cy="314960"/>
          </a:xfrm>
          <a:custGeom>
            <a:avLst/>
            <a:gdLst/>
            <a:ahLst/>
            <a:cxnLst/>
            <a:rect l="l" t="t" r="r" b="b"/>
            <a:pathLst>
              <a:path w="304800" h="314960">
                <a:moveTo>
                  <a:pt x="152400" y="0"/>
                </a:moveTo>
                <a:lnTo>
                  <a:pt x="152400" y="0"/>
                </a:lnTo>
                <a:arcTo hR="152400" wR="152400" stAng="16200000" swAng="5400000"/>
                <a:lnTo>
                  <a:pt x="304800" y="162560"/>
                </a:lnTo>
                <a:arcTo hR="152400" wR="152400" stAng="0" swAng="5400000"/>
                <a:lnTo>
                  <a:pt x="152400" y="314960"/>
                </a:lnTo>
                <a:arcTo hR="152400" wR="152400" stAng="5400000" swAng="5400000"/>
                <a:lnTo>
                  <a:pt x="0" y="152400"/>
                </a:lnTo>
                <a:arcTo hR="152400" wR="152400" stAng="10800000" swAng="5400000"/>
                <a:close/>
              </a:path>
            </a:pathLst>
          </a:custGeom>
          <a:solidFill>
            <a:srgbClr val="2F5BEA"/>
          </a:solidFill>
          <a:ln/>
        </p:spPr>
        <p:txBody>
          <a:bodyPr wrap="square" lIns="0" tIns="50800" rIns="0" bIns="25400" rtlCol="0" anchor="t">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3</a:t>
            </a:r>
            <a:endParaRPr lang="en-US" sz="1200" dirty="0"/>
          </a:p>
        </p:txBody>
      </p:sp>
      <p:sp>
        <p:nvSpPr>
          <p:cNvPr id="20" name="Text 17"/>
          <p:cNvSpPr/>
          <p:nvPr/>
        </p:nvSpPr>
        <p:spPr>
          <a:xfrm>
            <a:off x="6883400" y="3716021"/>
            <a:ext cx="448678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Be Vietnam Pro" pitchFamily="34" charset="0"/>
                <a:ea typeface="Be Vietnam Pro" pitchFamily="34" charset="-122"/>
                <a:cs typeface="Be Vietnam Pro" pitchFamily="34" charset="-120"/>
              </a:rPr>
              <a:t>Lời nhắc yêu cầu rõ</a:t>
            </a:r>
            <a:endParaRPr lang="en-US" sz="1300" dirty="0"/>
          </a:p>
        </p:txBody>
      </p:sp>
      <p:sp>
        <p:nvSpPr>
          <p:cNvPr id="21" name="Text 18"/>
          <p:cNvSpPr/>
          <p:nvPr/>
        </p:nvSpPr>
        <p:spPr>
          <a:xfrm>
            <a:off x="6883400" y="3972564"/>
            <a:ext cx="448678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Chỉ dựa trên tài liệu, nói rõ khi thiếu, nêu phần thiếu, nêu sự mơ hồ, trả lời ngắn.</a:t>
            </a:r>
            <a:endParaRPr lang="en-US" sz="1200" dirty="0"/>
          </a:p>
        </p:txBody>
      </p:sp>
      <p:sp>
        <p:nvSpPr>
          <p:cNvPr id="22" name="Text 19"/>
          <p:cNvSpPr/>
          <p:nvPr/>
        </p:nvSpPr>
        <p:spPr>
          <a:xfrm>
            <a:off x="6324600" y="4602479"/>
            <a:ext cx="52062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3FAF"/>
                </a:solidFill>
                <a:latin typeface="Be Vietnam Pro" pitchFamily="34" charset="0"/>
                <a:ea typeface="Be Vietnam Pro" pitchFamily="34" charset="-122"/>
                <a:cs typeface="Be Vietnam Pro" pitchFamily="34" charset="-120"/>
              </a:rPr>
              <a:t>→ 16.468 câu trả lời (4.117 × 4) → giám khảo</a:t>
            </a:r>
            <a:endParaRPr lang="en-US" sz="1300" dirty="0"/>
          </a:p>
        </p:txBody>
      </p:sp>
      <p:sp>
        <p:nvSpPr>
          <p:cNvPr id="23" name="Shape 20"/>
          <p:cNvSpPr/>
          <p:nvPr/>
        </p:nvSpPr>
        <p:spPr>
          <a:xfrm>
            <a:off x="812800" y="5160014"/>
            <a:ext cx="3454400" cy="365760"/>
          </a:xfrm>
          <a:prstGeom prst="roundRect">
            <a:avLst>
              <a:gd name="adj" fmla="val 20833"/>
            </a:avLst>
          </a:prstGeom>
          <a:solidFill>
            <a:srgbClr val="E9ECF1"/>
          </a:solidFill>
          <a:ln/>
        </p:spPr>
      </p:sp>
      <p:sp>
        <p:nvSpPr>
          <p:cNvPr id="24" name="Text 21"/>
          <p:cNvSpPr/>
          <p:nvPr/>
        </p:nvSpPr>
        <p:spPr>
          <a:xfrm>
            <a:off x="927100" y="5236214"/>
            <a:ext cx="13329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656"/>
                </a:solidFill>
                <a:latin typeface="Be Vietnam Pro" pitchFamily="34" charset="0"/>
                <a:ea typeface="Be Vietnam Pro" pitchFamily="34" charset="-122"/>
                <a:cs typeface="Be Vietnam Pro" pitchFamily="34" charset="-120"/>
              </a:rPr>
              <a:t>Xây dựng dữ liệu</a:t>
            </a:r>
            <a:endParaRPr lang="en-US" sz="1200" dirty="0"/>
          </a:p>
        </p:txBody>
      </p:sp>
      <p:sp>
        <p:nvSpPr>
          <p:cNvPr id="25" name="Text 22"/>
          <p:cNvSpPr/>
          <p:nvPr/>
        </p:nvSpPr>
        <p:spPr>
          <a:xfrm>
            <a:off x="2260044" y="5236214"/>
            <a:ext cx="19496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GPT-5.5, Gemini 3.1 Pro</a:t>
            </a:r>
            <a:endParaRPr lang="en-US" sz="1200" dirty="0"/>
          </a:p>
        </p:txBody>
      </p:sp>
      <p:sp>
        <p:nvSpPr>
          <p:cNvPr id="26" name="Shape 23"/>
          <p:cNvSpPr/>
          <p:nvPr/>
        </p:nvSpPr>
        <p:spPr>
          <a:xfrm>
            <a:off x="4368800" y="5160014"/>
            <a:ext cx="3454400" cy="365760"/>
          </a:xfrm>
          <a:prstGeom prst="roundRect">
            <a:avLst>
              <a:gd name="adj" fmla="val 20833"/>
            </a:avLst>
          </a:prstGeom>
          <a:solidFill>
            <a:srgbClr val="E3EAFD"/>
          </a:solidFill>
          <a:ln/>
        </p:spPr>
      </p:sp>
      <p:sp>
        <p:nvSpPr>
          <p:cNvPr id="27" name="Text 24"/>
          <p:cNvSpPr/>
          <p:nvPr/>
        </p:nvSpPr>
        <p:spPr>
          <a:xfrm>
            <a:off x="4483100" y="5236214"/>
            <a:ext cx="118832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3FAF"/>
                </a:solidFill>
                <a:latin typeface="Be Vietnam Pro" pitchFamily="34" charset="0"/>
                <a:ea typeface="Be Vietnam Pro" pitchFamily="34" charset="-122"/>
                <a:cs typeface="Be Vietnam Pro" pitchFamily="34" charset="-120"/>
              </a:rPr>
              <a:t>Được đánh giá</a:t>
            </a:r>
            <a:endParaRPr lang="en-US" sz="1200" dirty="0"/>
          </a:p>
        </p:txBody>
      </p:sp>
      <p:sp>
        <p:nvSpPr>
          <p:cNvPr id="28" name="Text 25"/>
          <p:cNvSpPr/>
          <p:nvPr/>
        </p:nvSpPr>
        <p:spPr>
          <a:xfrm>
            <a:off x="5671423" y="5236214"/>
            <a:ext cx="20986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4 LLM mã nguồn mở</a:t>
            </a:r>
            <a:endParaRPr lang="en-US" sz="1200" dirty="0"/>
          </a:p>
        </p:txBody>
      </p:sp>
      <p:sp>
        <p:nvSpPr>
          <p:cNvPr id="29" name="Shape 26"/>
          <p:cNvSpPr/>
          <p:nvPr/>
        </p:nvSpPr>
        <p:spPr>
          <a:xfrm>
            <a:off x="7924800" y="5160014"/>
            <a:ext cx="3454400" cy="365760"/>
          </a:xfrm>
          <a:prstGeom prst="roundRect">
            <a:avLst>
              <a:gd name="adj" fmla="val 20833"/>
            </a:avLst>
          </a:prstGeom>
          <a:solidFill>
            <a:srgbClr val="14213D"/>
          </a:solidFill>
          <a:ln/>
        </p:spPr>
      </p:sp>
      <p:sp>
        <p:nvSpPr>
          <p:cNvPr id="30" name="Text 27"/>
          <p:cNvSpPr/>
          <p:nvPr/>
        </p:nvSpPr>
        <p:spPr>
          <a:xfrm>
            <a:off x="8039100" y="5236214"/>
            <a:ext cx="9001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33D"/>
                </a:solidFill>
                <a:latin typeface="Be Vietnam Pro" pitchFamily="34" charset="0"/>
                <a:ea typeface="Be Vietnam Pro" pitchFamily="34" charset="-122"/>
                <a:cs typeface="Be Vietnam Pro" pitchFamily="34" charset="-120"/>
              </a:rPr>
              <a:t>Giám khảo</a:t>
            </a:r>
            <a:endParaRPr lang="en-US" sz="1200" dirty="0"/>
          </a:p>
        </p:txBody>
      </p:sp>
      <p:sp>
        <p:nvSpPr>
          <p:cNvPr id="31" name="Text 28"/>
          <p:cNvSpPr/>
          <p:nvPr/>
        </p:nvSpPr>
        <p:spPr>
          <a:xfrm>
            <a:off x="8939213" y="5236214"/>
            <a:ext cx="23954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F0"/>
                </a:solidFill>
                <a:latin typeface="Be Vietnam Pro" pitchFamily="34" charset="0"/>
                <a:ea typeface="Be Vietnam Pro" pitchFamily="34" charset="-122"/>
                <a:cs typeface="Be Vietnam Pro" pitchFamily="34" charset="-120"/>
              </a:rPr>
              <a:t>Claude Sonnet 4.6</a:t>
            </a:r>
            <a:endParaRPr lang="en-US" sz="1200" dirty="0"/>
          </a:p>
        </p:txBody>
      </p:sp>
      <p:sp>
        <p:nvSpPr>
          <p:cNvPr id="32" name="Text 29"/>
          <p:cNvSpPr/>
          <p:nvPr/>
        </p:nvSpPr>
        <p:spPr>
          <a:xfrm>
            <a:off x="812800" y="6238242"/>
            <a:ext cx="66888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Ba vai trò tách biệt, không trùng họ mô hình</a:t>
            </a:r>
            <a:endParaRPr lang="en-US" sz="1200" dirty="0"/>
          </a:p>
        </p:txBody>
      </p:sp>
      <p:sp>
        <p:nvSpPr>
          <p:cNvPr id="33" name="Text 30"/>
          <p:cNvSpPr/>
          <p:nvPr/>
        </p:nvSpPr>
        <p:spPr>
          <a:xfrm>
            <a:off x="11211005" y="6238242"/>
            <a:ext cx="16819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KẾT QUẢ 1 · RQ4</a:t>
            </a:r>
            <a:endParaRPr lang="en-US" sz="1200" dirty="0"/>
          </a:p>
        </p:txBody>
      </p:sp>
      <p:sp>
        <p:nvSpPr>
          <p:cNvPr id="3" name="Text 1"/>
          <p:cNvSpPr/>
          <p:nvPr>
            <p:ph type="title"/>
          </p:nvPr>
        </p:nvSpPr>
        <p:spPr>
          <a:xfrm>
            <a:off x="812800" y="1000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Trung thực và đầy đủ là hai chiều khác nhau</a:t>
            </a:r>
            <a:endParaRPr lang="en-US" sz="2800" dirty="0"/>
          </a:p>
        </p:txBody>
      </p:sp>
      <p:sp>
        <p:nvSpPr>
          <p:cNvPr id="4" name="Text 2"/>
          <p:cNvSpPr/>
          <p:nvPr/>
        </p:nvSpPr>
        <p:spPr>
          <a:xfrm>
            <a:off x="812800" y="1663700"/>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 Tính đầy đủ C (%) · 2.998 bản ghi YES/PARTIAL</a:t>
            </a:r>
            <a:endParaRPr lang="en-US" sz="1200" dirty="0"/>
          </a:p>
        </p:txBody>
      </p:sp>
      <p:sp>
        <p:nvSpPr>
          <p:cNvPr id="5" name="Shape 3"/>
          <p:cNvSpPr/>
          <p:nvPr/>
        </p:nvSpPr>
        <p:spPr>
          <a:xfrm>
            <a:off x="1320800" y="1953264"/>
            <a:ext cx="5715000" cy="6350"/>
          </a:xfrm>
          <a:prstGeom prst="rect">
            <a:avLst/>
          </a:prstGeom>
          <a:solidFill>
            <a:srgbClr val="D5DBE5"/>
          </a:solidFill>
          <a:ln/>
        </p:spPr>
      </p:sp>
      <p:sp>
        <p:nvSpPr>
          <p:cNvPr id="6" name="Shape 4"/>
          <p:cNvSpPr/>
          <p:nvPr/>
        </p:nvSpPr>
        <p:spPr>
          <a:xfrm>
            <a:off x="1320800" y="2823214"/>
            <a:ext cx="5715000" cy="6350"/>
          </a:xfrm>
          <a:prstGeom prst="rect">
            <a:avLst/>
          </a:prstGeom>
          <a:solidFill>
            <a:srgbClr val="D5DBE5"/>
          </a:solidFill>
          <a:ln/>
        </p:spPr>
      </p:sp>
      <p:sp>
        <p:nvSpPr>
          <p:cNvPr id="7" name="Shape 5"/>
          <p:cNvSpPr/>
          <p:nvPr/>
        </p:nvSpPr>
        <p:spPr>
          <a:xfrm>
            <a:off x="1320800" y="3693164"/>
            <a:ext cx="5715000" cy="6350"/>
          </a:xfrm>
          <a:prstGeom prst="rect">
            <a:avLst/>
          </a:prstGeom>
          <a:solidFill>
            <a:srgbClr val="D5DBE5"/>
          </a:solidFill>
          <a:ln/>
        </p:spPr>
      </p:sp>
      <p:sp>
        <p:nvSpPr>
          <p:cNvPr id="8" name="Shape 6"/>
          <p:cNvSpPr/>
          <p:nvPr/>
        </p:nvSpPr>
        <p:spPr>
          <a:xfrm>
            <a:off x="1320800" y="4563114"/>
            <a:ext cx="5715000" cy="6350"/>
          </a:xfrm>
          <a:prstGeom prst="rect">
            <a:avLst/>
          </a:prstGeom>
          <a:solidFill>
            <a:srgbClr val="D5DBE5"/>
          </a:solidFill>
          <a:ln/>
        </p:spPr>
      </p:sp>
      <p:sp>
        <p:nvSpPr>
          <p:cNvPr id="9" name="Shape 7"/>
          <p:cNvSpPr/>
          <p:nvPr/>
        </p:nvSpPr>
        <p:spPr>
          <a:xfrm>
            <a:off x="1320800" y="4994914"/>
            <a:ext cx="5715000" cy="0"/>
          </a:xfrm>
          <a:prstGeom prst="line">
            <a:avLst/>
          </a:prstGeom>
          <a:noFill/>
          <a:ln w="12700">
            <a:solidFill>
              <a:srgbClr val="8C96A5"/>
            </a:solidFill>
            <a:prstDash val="solid"/>
          </a:ln>
        </p:spPr>
      </p:sp>
      <p:sp>
        <p:nvSpPr>
          <p:cNvPr id="10" name="Shape 8"/>
          <p:cNvSpPr/>
          <p:nvPr/>
        </p:nvSpPr>
        <p:spPr>
          <a:xfrm>
            <a:off x="1327150" y="1953264"/>
            <a:ext cx="0" cy="3048000"/>
          </a:xfrm>
          <a:prstGeom prst="line">
            <a:avLst/>
          </a:prstGeom>
          <a:noFill/>
          <a:ln w="12700">
            <a:solidFill>
              <a:srgbClr val="8C96A5"/>
            </a:solidFill>
            <a:prstDash val="solid"/>
          </a:ln>
        </p:spPr>
      </p:sp>
      <p:sp>
        <p:nvSpPr>
          <p:cNvPr id="11" name="Text 9"/>
          <p:cNvSpPr/>
          <p:nvPr/>
        </p:nvSpPr>
        <p:spPr>
          <a:xfrm>
            <a:off x="762000" y="1953264"/>
            <a:ext cx="4572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90</a:t>
            </a:r>
            <a:endParaRPr lang="en-US" sz="1200" dirty="0"/>
          </a:p>
        </p:txBody>
      </p:sp>
      <p:sp>
        <p:nvSpPr>
          <p:cNvPr id="12" name="Text 10"/>
          <p:cNvSpPr/>
          <p:nvPr/>
        </p:nvSpPr>
        <p:spPr>
          <a:xfrm>
            <a:off x="762000" y="2715264"/>
            <a:ext cx="4572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80</a:t>
            </a:r>
            <a:endParaRPr lang="en-US" sz="1200" dirty="0"/>
          </a:p>
        </p:txBody>
      </p:sp>
      <p:sp>
        <p:nvSpPr>
          <p:cNvPr id="13" name="Text 11"/>
          <p:cNvSpPr/>
          <p:nvPr/>
        </p:nvSpPr>
        <p:spPr>
          <a:xfrm>
            <a:off x="762000" y="3585214"/>
            <a:ext cx="4572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70</a:t>
            </a:r>
            <a:endParaRPr lang="en-US" sz="1200" dirty="0"/>
          </a:p>
        </p:txBody>
      </p:sp>
      <p:sp>
        <p:nvSpPr>
          <p:cNvPr id="14" name="Text 12"/>
          <p:cNvSpPr/>
          <p:nvPr/>
        </p:nvSpPr>
        <p:spPr>
          <a:xfrm>
            <a:off x="762000" y="4455164"/>
            <a:ext cx="4572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60</a:t>
            </a:r>
            <a:endParaRPr lang="en-US" sz="1200" dirty="0"/>
          </a:p>
        </p:txBody>
      </p:sp>
      <p:sp>
        <p:nvSpPr>
          <p:cNvPr id="15" name="Text 13"/>
          <p:cNvSpPr/>
          <p:nvPr/>
        </p:nvSpPr>
        <p:spPr>
          <a:xfrm>
            <a:off x="1104900" y="5077464"/>
            <a:ext cx="43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60</a:t>
            </a:r>
            <a:endParaRPr lang="en-US" sz="1200" dirty="0"/>
          </a:p>
        </p:txBody>
      </p:sp>
      <p:sp>
        <p:nvSpPr>
          <p:cNvPr id="16" name="Text 14"/>
          <p:cNvSpPr/>
          <p:nvPr/>
        </p:nvSpPr>
        <p:spPr>
          <a:xfrm>
            <a:off x="3702050" y="5077464"/>
            <a:ext cx="43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70</a:t>
            </a:r>
            <a:endParaRPr lang="en-US" sz="1200" dirty="0"/>
          </a:p>
        </p:txBody>
      </p:sp>
      <p:sp>
        <p:nvSpPr>
          <p:cNvPr id="17" name="Text 15"/>
          <p:cNvSpPr/>
          <p:nvPr/>
        </p:nvSpPr>
        <p:spPr>
          <a:xfrm>
            <a:off x="6299200" y="5077464"/>
            <a:ext cx="43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80</a:t>
            </a:r>
            <a:endParaRPr lang="en-US" sz="1200" dirty="0"/>
          </a:p>
        </p:txBody>
      </p:sp>
      <p:sp>
        <p:nvSpPr>
          <p:cNvPr id="18" name="Text 16"/>
          <p:cNvSpPr/>
          <p:nvPr/>
        </p:nvSpPr>
        <p:spPr>
          <a:xfrm>
            <a:off x="1235075" y="5280664"/>
            <a:ext cx="588645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Tính trung thực F (%) →</a:t>
            </a:r>
            <a:endParaRPr lang="en-US" sz="1200" dirty="0"/>
          </a:p>
        </p:txBody>
      </p:sp>
      <p:pic>
        <p:nvPicPr>
          <p:cNvPr id="19" name="Image 0" descr="ellipse">    </p:cNvPr>
          <p:cNvPicPr>
            <a:picLocks noChangeAspect="1"/>
          </p:cNvPicPr>
          <p:nvPr/>
        </p:nvPicPr>
        <p:blipFill>
          <a:blip r:embed="rId1"/>
          <a:srcRect l="0" r="0" t="0" b="0"/>
          <a:stretch/>
        </p:blipFill>
        <p:spPr>
          <a:xfrm>
            <a:off x="6051550" y="4144014"/>
            <a:ext cx="177800" cy="177800"/>
          </a:xfrm>
          <a:prstGeom prst="rect">
            <a:avLst/>
          </a:prstGeom>
        </p:spPr>
      </p:pic>
      <p:pic>
        <p:nvPicPr>
          <p:cNvPr id="20" name="Image 1" descr="ellipse">    </p:cNvPr>
          <p:cNvPicPr>
            <a:picLocks noChangeAspect="1"/>
          </p:cNvPicPr>
          <p:nvPr/>
        </p:nvPicPr>
        <p:blipFill>
          <a:blip r:embed="rId2"/>
          <a:srcRect l="0" r="0" t="0" b="0"/>
          <a:stretch/>
        </p:blipFill>
        <p:spPr>
          <a:xfrm>
            <a:off x="3149600" y="2931164"/>
            <a:ext cx="177800" cy="177800"/>
          </a:xfrm>
          <a:prstGeom prst="rect">
            <a:avLst/>
          </a:prstGeom>
        </p:spPr>
      </p:pic>
      <p:pic>
        <p:nvPicPr>
          <p:cNvPr id="21" name="Image 2" descr="ellipse">    </p:cNvPr>
          <p:cNvPicPr>
            <a:picLocks noChangeAspect="1"/>
          </p:cNvPicPr>
          <p:nvPr/>
        </p:nvPicPr>
        <p:blipFill>
          <a:blip r:embed="rId3"/>
          <a:srcRect l="0" r="0" t="0" b="0"/>
          <a:stretch/>
        </p:blipFill>
        <p:spPr>
          <a:xfrm>
            <a:off x="3803650" y="2302514"/>
            <a:ext cx="177800" cy="177800"/>
          </a:xfrm>
          <a:prstGeom prst="rect">
            <a:avLst/>
          </a:prstGeom>
        </p:spPr>
      </p:pic>
      <p:pic>
        <p:nvPicPr>
          <p:cNvPr id="22" name="Image 3" descr="ellipse">    </p:cNvPr>
          <p:cNvPicPr>
            <a:picLocks noChangeAspect="1"/>
          </p:cNvPicPr>
          <p:nvPr/>
        </p:nvPicPr>
        <p:blipFill>
          <a:blip r:embed="rId4"/>
          <a:srcRect l="0" r="0" t="0" b="0"/>
          <a:stretch/>
        </p:blipFill>
        <p:spPr>
          <a:xfrm>
            <a:off x="2508250" y="4474214"/>
            <a:ext cx="177800" cy="177800"/>
          </a:xfrm>
          <a:prstGeom prst="rect">
            <a:avLst/>
          </a:prstGeom>
        </p:spPr>
      </p:pic>
      <p:sp>
        <p:nvSpPr>
          <p:cNvPr id="23" name="Text 17"/>
          <p:cNvSpPr/>
          <p:nvPr/>
        </p:nvSpPr>
        <p:spPr>
          <a:xfrm>
            <a:off x="4305935" y="3616964"/>
            <a:ext cx="2158365" cy="45466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14213D"/>
                </a:solidFill>
                <a:latin typeface="Be Vietnam Pro" pitchFamily="34" charset="0"/>
                <a:ea typeface="Be Vietnam Pro" pitchFamily="34" charset="-122"/>
                <a:cs typeface="Be Vietnam Pro" pitchFamily="34" charset="-120"/>
              </a:rPr>
              <a:t>DeepSeek-V4-Flash</a:t>
            </a:r>
            <a:endParaRPr lang="en-US" sz="1300" dirty="0"/>
          </a:p>
          <a:p>
            <a:pPr algn="r" indent="0" marL="0">
              <a:lnSpc>
                <a:spcPts val="1690"/>
              </a:lnSpc>
              <a:buNone/>
            </a:pPr>
            <a:r>
              <a:rPr lang="en-US" sz="1300" dirty="0">
                <a:solidFill>
                  <a:srgbClr val="14213D"/>
                </a:solidFill>
                <a:latin typeface="Be Vietnam Pro" pitchFamily="34" charset="0"/>
                <a:ea typeface="Be Vietnam Pro" pitchFamily="34" charset="-122"/>
                <a:cs typeface="Be Vietnam Pro" pitchFamily="34" charset="-120"/>
              </a:rPr>
              <a:t>F 78,5 · C 63,8</a:t>
            </a:r>
            <a:endParaRPr lang="en-US" sz="1300" dirty="0"/>
          </a:p>
        </p:txBody>
      </p:sp>
      <p:sp>
        <p:nvSpPr>
          <p:cNvPr id="24" name="Text 18"/>
          <p:cNvSpPr/>
          <p:nvPr/>
        </p:nvSpPr>
        <p:spPr>
          <a:xfrm>
            <a:off x="3384550" y="2797814"/>
            <a:ext cx="2223770"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13D"/>
                </a:solidFill>
                <a:latin typeface="Be Vietnam Pro" pitchFamily="34" charset="0"/>
                <a:ea typeface="Be Vietnam Pro" pitchFamily="34" charset="-122"/>
                <a:cs typeface="Be Vietnam Pro" pitchFamily="34" charset="-120"/>
              </a:rPr>
              <a:t>Qwen3.5-397B-A17B</a:t>
            </a:r>
            <a:endParaRPr lang="en-US" sz="1300" dirty="0"/>
          </a:p>
          <a:p>
            <a:pPr algn="l" indent="0" marL="0">
              <a:lnSpc>
                <a:spcPts val="1690"/>
              </a:lnSpc>
              <a:buNone/>
            </a:pPr>
            <a:r>
              <a:rPr lang="en-US" sz="1300" dirty="0">
                <a:solidFill>
                  <a:srgbClr val="14213D"/>
                </a:solidFill>
                <a:latin typeface="Be Vietnam Pro" pitchFamily="34" charset="0"/>
                <a:ea typeface="Be Vietnam Pro" pitchFamily="34" charset="-122"/>
                <a:cs typeface="Be Vietnam Pro" pitchFamily="34" charset="-120"/>
              </a:rPr>
              <a:t>F 67,4 · C 77,7</a:t>
            </a:r>
            <a:endParaRPr lang="en-US" sz="1300" dirty="0"/>
          </a:p>
        </p:txBody>
      </p:sp>
      <p:sp>
        <p:nvSpPr>
          <p:cNvPr id="25" name="Text 19"/>
          <p:cNvSpPr/>
          <p:nvPr/>
        </p:nvSpPr>
        <p:spPr>
          <a:xfrm>
            <a:off x="4044950" y="2169164"/>
            <a:ext cx="2092960"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13D"/>
                </a:solidFill>
                <a:latin typeface="Be Vietnam Pro" pitchFamily="34" charset="0"/>
                <a:ea typeface="Be Vietnam Pro" pitchFamily="34" charset="-122"/>
                <a:cs typeface="Be Vietnam Pro" pitchFamily="34" charset="-120"/>
              </a:rPr>
              <a:t>Gemma-4-31B-IT</a:t>
            </a:r>
            <a:endParaRPr lang="en-US" sz="1300" dirty="0"/>
          </a:p>
          <a:p>
            <a:pPr algn="l" indent="0" marL="0">
              <a:lnSpc>
                <a:spcPts val="1690"/>
              </a:lnSpc>
              <a:buNone/>
            </a:pPr>
            <a:r>
              <a:rPr lang="en-US" sz="1300" dirty="0">
                <a:solidFill>
                  <a:srgbClr val="14213D"/>
                </a:solidFill>
                <a:latin typeface="Be Vietnam Pro" pitchFamily="34" charset="0"/>
                <a:ea typeface="Be Vietnam Pro" pitchFamily="34" charset="-122"/>
                <a:cs typeface="Be Vietnam Pro" pitchFamily="34" charset="-120"/>
              </a:rPr>
              <a:t>F 69,9 · C 85,0</a:t>
            </a:r>
            <a:endParaRPr lang="en-US" sz="1300" dirty="0"/>
          </a:p>
        </p:txBody>
      </p:sp>
      <p:sp>
        <p:nvSpPr>
          <p:cNvPr id="26" name="Text 20"/>
          <p:cNvSpPr/>
          <p:nvPr/>
        </p:nvSpPr>
        <p:spPr>
          <a:xfrm>
            <a:off x="2749550" y="4340864"/>
            <a:ext cx="1511300"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13D"/>
                </a:solidFill>
                <a:latin typeface="Be Vietnam Pro" pitchFamily="34" charset="0"/>
                <a:ea typeface="Be Vietnam Pro" pitchFamily="34" charset="-122"/>
                <a:cs typeface="Be Vietnam Pro" pitchFamily="34" charset="-120"/>
              </a:rPr>
              <a:t>Qwen3-8B</a:t>
            </a:r>
            <a:endParaRPr lang="en-US" sz="1300" dirty="0"/>
          </a:p>
          <a:p>
            <a:pPr algn="l" indent="0" marL="0">
              <a:lnSpc>
                <a:spcPts val="1690"/>
              </a:lnSpc>
              <a:buNone/>
            </a:pPr>
            <a:r>
              <a:rPr lang="en-US" sz="1300" dirty="0">
                <a:solidFill>
                  <a:srgbClr val="14213D"/>
                </a:solidFill>
                <a:latin typeface="Be Vietnam Pro" pitchFamily="34" charset="0"/>
                <a:ea typeface="Be Vietnam Pro" pitchFamily="34" charset="-122"/>
                <a:cs typeface="Be Vietnam Pro" pitchFamily="34" charset="-120"/>
              </a:rPr>
              <a:t>F 64,9 · C 60,0</a:t>
            </a:r>
            <a:endParaRPr lang="en-US" sz="1300" dirty="0"/>
          </a:p>
        </p:txBody>
      </p:sp>
      <p:sp>
        <p:nvSpPr>
          <p:cNvPr id="27" name="Shape 21"/>
          <p:cNvSpPr/>
          <p:nvPr/>
        </p:nvSpPr>
        <p:spPr>
          <a:xfrm>
            <a:off x="7518400" y="1663700"/>
            <a:ext cx="3860800" cy="736600"/>
          </a:xfrm>
          <a:prstGeom prst="roundRect">
            <a:avLst>
              <a:gd name="adj" fmla="val 10345"/>
            </a:avLst>
          </a:prstGeom>
          <a:solidFill>
            <a:srgbClr val="FFFFFF"/>
          </a:solidFill>
          <a:ln/>
        </p:spPr>
      </p:sp>
      <p:sp>
        <p:nvSpPr>
          <p:cNvPr id="28" name="Shape 22"/>
          <p:cNvSpPr/>
          <p:nvPr/>
        </p:nvSpPr>
        <p:spPr>
          <a:xfrm>
            <a:off x="7518400" y="1663700"/>
            <a:ext cx="3860800" cy="736600"/>
          </a:xfrm>
          <a:custGeom>
            <a:avLst/>
            <a:gdLst/>
            <a:ahLst/>
            <a:cxnLst/>
            <a:rect l="l" t="t" r="r" b="b"/>
            <a:pathLst>
              <a:path w="3860800" h="736600">
                <a:moveTo>
                  <a:pt x="76200" y="736600"/>
                </a:moveTo>
                <a:lnTo>
                  <a:pt x="76200" y="736600"/>
                </a:lnTo>
                <a:arcTo hR="76200" wR="76200" stAng="5400000" swAng="5400000"/>
                <a:lnTo>
                  <a:pt x="0" y="76200"/>
                </a:lnTo>
                <a:arcTo hR="76200" wR="76200" stAng="10800000" swAng="5400000"/>
                <a:lnTo>
                  <a:pt x="76200" y="0"/>
                </a:lnTo>
                <a:arcTo hR="76200" wR="38100" stAng="16200000" swAng="-5400000"/>
                <a:lnTo>
                  <a:pt x="38100" y="660400"/>
                </a:lnTo>
                <a:arcTo hR="76200" wR="38100" stAng="10800000" swAng="-5400000"/>
                <a:close/>
              </a:path>
            </a:pathLst>
          </a:custGeom>
          <a:solidFill>
            <a:srgbClr val="2F5BEA"/>
          </a:solidFill>
          <a:ln/>
        </p:spPr>
      </p:sp>
      <p:sp>
        <p:nvSpPr>
          <p:cNvPr id="29" name="Text 23"/>
          <p:cNvSpPr/>
          <p:nvPr/>
        </p:nvSpPr>
        <p:spPr>
          <a:xfrm>
            <a:off x="7706360" y="1790700"/>
            <a:ext cx="36260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Be Vietnam Pro" pitchFamily="34" charset="0"/>
                <a:ea typeface="Be Vietnam Pro" pitchFamily="34" charset="-122"/>
                <a:cs typeface="Be Vietnam Pro" pitchFamily="34" charset="-120"/>
              </a:rPr>
              <a:t>DeepSeek trung thực nhất</a:t>
            </a:r>
            <a:endParaRPr lang="en-US" sz="1300" dirty="0"/>
          </a:p>
        </p:txBody>
      </p:sp>
      <p:sp>
        <p:nvSpPr>
          <p:cNvPr id="30" name="Text 24"/>
          <p:cNvSpPr/>
          <p:nvPr/>
        </p:nvSpPr>
        <p:spPr>
          <a:xfrm>
            <a:off x="7706360" y="2059942"/>
            <a:ext cx="36260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78,5% – nhưng thiếu ý nhất (C 63,8%).</a:t>
            </a:r>
            <a:endParaRPr lang="en-US" sz="1200" dirty="0"/>
          </a:p>
        </p:txBody>
      </p:sp>
      <p:sp>
        <p:nvSpPr>
          <p:cNvPr id="31" name="Shape 25"/>
          <p:cNvSpPr/>
          <p:nvPr/>
        </p:nvSpPr>
        <p:spPr>
          <a:xfrm>
            <a:off x="7518400" y="2514600"/>
            <a:ext cx="3860800" cy="949960"/>
          </a:xfrm>
          <a:prstGeom prst="roundRect">
            <a:avLst>
              <a:gd name="adj" fmla="val 8021"/>
            </a:avLst>
          </a:prstGeom>
          <a:solidFill>
            <a:srgbClr val="FFFFFF"/>
          </a:solidFill>
          <a:ln/>
        </p:spPr>
      </p:sp>
      <p:sp>
        <p:nvSpPr>
          <p:cNvPr id="32" name="Shape 26"/>
          <p:cNvSpPr/>
          <p:nvPr/>
        </p:nvSpPr>
        <p:spPr>
          <a:xfrm>
            <a:off x="7518400" y="2514600"/>
            <a:ext cx="3860800" cy="949960"/>
          </a:xfrm>
          <a:custGeom>
            <a:avLst/>
            <a:gdLst/>
            <a:ahLst/>
            <a:cxnLst/>
            <a:rect l="l" t="t" r="r" b="b"/>
            <a:pathLst>
              <a:path w="3860800" h="949960">
                <a:moveTo>
                  <a:pt x="76200" y="949960"/>
                </a:moveTo>
                <a:lnTo>
                  <a:pt x="76200" y="949960"/>
                </a:lnTo>
                <a:arcTo hR="76200" wR="76200" stAng="5400000" swAng="5400000"/>
                <a:lnTo>
                  <a:pt x="0" y="76200"/>
                </a:lnTo>
                <a:arcTo hR="76200" wR="76200" stAng="10800000" swAng="5400000"/>
                <a:lnTo>
                  <a:pt x="76200" y="0"/>
                </a:lnTo>
                <a:arcTo hR="76200" wR="38100" stAng="16200000" swAng="-5400000"/>
                <a:lnTo>
                  <a:pt x="38100" y="873760"/>
                </a:lnTo>
                <a:arcTo hR="76200" wR="38100" stAng="10800000" swAng="-5400000"/>
                <a:close/>
              </a:path>
            </a:pathLst>
          </a:custGeom>
          <a:solidFill>
            <a:srgbClr val="E07B39"/>
          </a:solidFill>
          <a:ln/>
        </p:spPr>
      </p:sp>
      <p:sp>
        <p:nvSpPr>
          <p:cNvPr id="33" name="Text 27"/>
          <p:cNvSpPr/>
          <p:nvPr/>
        </p:nvSpPr>
        <p:spPr>
          <a:xfrm>
            <a:off x="7706360" y="2641600"/>
            <a:ext cx="36260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Be Vietnam Pro" pitchFamily="34" charset="0"/>
                <a:ea typeface="Be Vietnam Pro" pitchFamily="34" charset="-122"/>
                <a:cs typeface="Be Vietnam Pro" pitchFamily="34" charset="-120"/>
              </a:rPr>
              <a:t>Gemma đầy đủ nhất</a:t>
            </a:r>
            <a:endParaRPr lang="en-US" sz="1300" dirty="0"/>
          </a:p>
        </p:txBody>
      </p:sp>
      <p:sp>
        <p:nvSpPr>
          <p:cNvPr id="34" name="Text 28"/>
          <p:cNvSpPr/>
          <p:nvPr/>
        </p:nvSpPr>
        <p:spPr>
          <a:xfrm>
            <a:off x="7706360" y="2910842"/>
            <a:ext cx="36260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85,0% vì nói nhiều hơn – 10,3 mệnh đề mỗi câu trả lời, nhiều chi tiết không có căn cứ hơn.</a:t>
            </a:r>
            <a:endParaRPr lang="en-US" sz="1200" dirty="0"/>
          </a:p>
        </p:txBody>
      </p:sp>
      <p:sp>
        <p:nvSpPr>
          <p:cNvPr id="35" name="Shape 29"/>
          <p:cNvSpPr/>
          <p:nvPr/>
        </p:nvSpPr>
        <p:spPr>
          <a:xfrm>
            <a:off x="7518400" y="3578864"/>
            <a:ext cx="3860800" cy="949960"/>
          </a:xfrm>
          <a:prstGeom prst="roundRect">
            <a:avLst>
              <a:gd name="adj" fmla="val 8021"/>
            </a:avLst>
          </a:prstGeom>
          <a:solidFill>
            <a:srgbClr val="FFFFFF"/>
          </a:solidFill>
          <a:ln/>
        </p:spPr>
      </p:sp>
      <p:sp>
        <p:nvSpPr>
          <p:cNvPr id="36" name="Shape 30"/>
          <p:cNvSpPr/>
          <p:nvPr/>
        </p:nvSpPr>
        <p:spPr>
          <a:xfrm>
            <a:off x="7518400" y="3578864"/>
            <a:ext cx="3860800" cy="949960"/>
          </a:xfrm>
          <a:custGeom>
            <a:avLst/>
            <a:gdLst/>
            <a:ahLst/>
            <a:cxnLst/>
            <a:rect l="l" t="t" r="r" b="b"/>
            <a:pathLst>
              <a:path w="3860800" h="949960">
                <a:moveTo>
                  <a:pt x="76200" y="949960"/>
                </a:moveTo>
                <a:lnTo>
                  <a:pt x="76200" y="949960"/>
                </a:lnTo>
                <a:arcTo hR="76200" wR="76200" stAng="5400000" swAng="5400000"/>
                <a:lnTo>
                  <a:pt x="0" y="76200"/>
                </a:lnTo>
                <a:arcTo hR="76200" wR="76200" stAng="10800000" swAng="5400000"/>
                <a:lnTo>
                  <a:pt x="76200" y="0"/>
                </a:lnTo>
                <a:arcTo hR="76200" wR="38100" stAng="16200000" swAng="-5400000"/>
                <a:lnTo>
                  <a:pt x="38100" y="873760"/>
                </a:lnTo>
                <a:arcTo hR="76200" wR="38100" stAng="10800000" swAng="-5400000"/>
                <a:close/>
              </a:path>
            </a:pathLst>
          </a:custGeom>
          <a:solidFill>
            <a:srgbClr val="7A4FD6"/>
          </a:solidFill>
          <a:ln/>
        </p:spPr>
      </p:sp>
      <p:sp>
        <p:nvSpPr>
          <p:cNvPr id="37" name="Text 31"/>
          <p:cNvSpPr/>
          <p:nvPr/>
        </p:nvSpPr>
        <p:spPr>
          <a:xfrm>
            <a:off x="7706360" y="3705864"/>
            <a:ext cx="36260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Be Vietnam Pro" pitchFamily="34" charset="0"/>
                <a:ea typeface="Be Vietnam Pro" pitchFamily="34" charset="-122"/>
                <a:cs typeface="Be Vietnam Pro" pitchFamily="34" charset="-120"/>
              </a:rPr>
              <a:t>Quy mô không quyết định</a:t>
            </a:r>
            <a:endParaRPr lang="en-US" sz="1300" dirty="0"/>
          </a:p>
        </p:txBody>
      </p:sp>
      <p:sp>
        <p:nvSpPr>
          <p:cNvPr id="38" name="Text 32"/>
          <p:cNvSpPr/>
          <p:nvPr/>
        </p:nvSpPr>
        <p:spPr>
          <a:xfrm>
            <a:off x="7706360" y="3975100"/>
            <a:ext cx="36260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Qwen3.5 (397 tỉ tham số) chỉ trung thực hơn Qwen3-8B 2,5 điểm.</a:t>
            </a:r>
            <a:endParaRPr lang="en-US" sz="1200" dirty="0"/>
          </a:p>
        </p:txBody>
      </p:sp>
      <p:sp>
        <p:nvSpPr>
          <p:cNvPr id="39" name="Shape 33"/>
          <p:cNvSpPr/>
          <p:nvPr/>
        </p:nvSpPr>
        <p:spPr>
          <a:xfrm>
            <a:off x="7518400" y="4643121"/>
            <a:ext cx="3860800" cy="949960"/>
          </a:xfrm>
          <a:prstGeom prst="roundRect">
            <a:avLst>
              <a:gd name="adj" fmla="val 8021"/>
            </a:avLst>
          </a:prstGeom>
          <a:solidFill>
            <a:srgbClr val="14213D"/>
          </a:solidFill>
          <a:ln/>
        </p:spPr>
      </p:sp>
      <p:sp>
        <p:nvSpPr>
          <p:cNvPr id="40" name="Text 34"/>
          <p:cNvSpPr/>
          <p:nvPr/>
        </p:nvSpPr>
        <p:spPr>
          <a:xfrm>
            <a:off x="7670800" y="4770121"/>
            <a:ext cx="366268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B33D"/>
                </a:solidFill>
                <a:latin typeface="Be Vietnam Pro" pitchFamily="34" charset="0"/>
                <a:ea typeface="Be Vietnam Pro" pitchFamily="34" charset="-122"/>
                <a:cs typeface="Be Vietnam Pro" pitchFamily="34" charset="-120"/>
              </a:rPr>
              <a:t>Hoàn toàn trung thực</a:t>
            </a:r>
            <a:endParaRPr lang="en-US" sz="1300" dirty="0"/>
          </a:p>
        </p:txBody>
      </p:sp>
      <p:sp>
        <p:nvSpPr>
          <p:cNvPr id="41" name="Text 35"/>
          <p:cNvSpPr/>
          <p:nvPr/>
        </p:nvSpPr>
        <p:spPr>
          <a:xfrm>
            <a:off x="7670800" y="5039364"/>
            <a:ext cx="36626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F0"/>
                </a:solidFill>
                <a:latin typeface="Be Vietnam Pro" pitchFamily="34" charset="0"/>
                <a:ea typeface="Be Vietnam Pro" pitchFamily="34" charset="-122"/>
                <a:cs typeface="Be Vietnam Pro" pitchFamily="34" charset="-120"/>
              </a:rPr>
              <a:t>Chỉ 44,5% câu trả lời (DeepSeek), dưới 27% ở ba mô hình còn lại.</a:t>
            </a:r>
            <a:endParaRPr lang="en-US" sz="1200" dirty="0"/>
          </a:p>
        </p:txBody>
      </p:sp>
      <p:sp>
        <p:nvSpPr>
          <p:cNvPr id="42" name="Text 36"/>
          <p:cNvSpPr/>
          <p:nvPr/>
        </p:nvSpPr>
        <p:spPr>
          <a:xfrm>
            <a:off x="812800" y="6238242"/>
            <a:ext cx="50162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Cùng lời nhắc, nhiệt độ 0</a:t>
            </a:r>
            <a:endParaRPr lang="en-US" sz="1200" dirty="0"/>
          </a:p>
        </p:txBody>
      </p:sp>
      <p:sp>
        <p:nvSpPr>
          <p:cNvPr id="43" name="Text 37"/>
          <p:cNvSpPr/>
          <p:nvPr/>
        </p:nvSpPr>
        <p:spPr>
          <a:xfrm>
            <a:off x="11170444" y="6238242"/>
            <a:ext cx="20875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33D"/>
                </a:solidFill>
                <a:latin typeface="Be Vietnam Pro" pitchFamily="34" charset="0"/>
                <a:ea typeface="Be Vietnam Pro" pitchFamily="34" charset="-122"/>
                <a:cs typeface="Be Vietnam Pro" pitchFamily="34" charset="-120"/>
              </a:rPr>
              <a:t>KẾT QUẢ 2 · PHÁT HIỆN CHÍNH</a:t>
            </a:r>
            <a:endParaRPr lang="en-US" sz="1200" dirty="0"/>
          </a:p>
        </p:txBody>
      </p:sp>
      <p:sp>
        <p:nvSpPr>
          <p:cNvPr id="3" name="Text 1"/>
          <p:cNvSpPr/>
          <p:nvPr>
            <p:ph type="title"/>
          </p:nvPr>
        </p:nvSpPr>
        <p:spPr>
          <a:xfrm>
            <a:off x="812800" y="1000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7F6F2"/>
                </a:solidFill>
                <a:latin typeface="Be Vietnam Pro" pitchFamily="34" charset="0"/>
                <a:ea typeface="Be Vietnam Pro" pitchFamily="34" charset="-122"/>
                <a:cs typeface="Be Vietnam Pro" pitchFamily="34" charset="-120"/>
              </a:rPr>
              <a:t>Các mô hình chưa biết dừng đúng chỗ</a:t>
            </a:r>
            <a:endParaRPr lang="en-US" sz="2800" dirty="0"/>
          </a:p>
        </p:txBody>
      </p:sp>
      <p:sp>
        <p:nvSpPr>
          <p:cNvPr id="4" name="Shape 2"/>
          <p:cNvSpPr/>
          <p:nvPr/>
        </p:nvSpPr>
        <p:spPr>
          <a:xfrm>
            <a:off x="831850" y="1689100"/>
            <a:ext cx="0" cy="990600"/>
          </a:xfrm>
          <a:prstGeom prst="line">
            <a:avLst/>
          </a:prstGeom>
          <a:noFill/>
          <a:ln w="38100">
            <a:solidFill>
              <a:srgbClr val="E3A33B"/>
            </a:solidFill>
            <a:prstDash val="solid"/>
          </a:ln>
        </p:spPr>
      </p:sp>
      <p:sp>
        <p:nvSpPr>
          <p:cNvPr id="5" name="Text 3"/>
          <p:cNvSpPr/>
          <p:nvPr/>
        </p:nvSpPr>
        <p:spPr>
          <a:xfrm>
            <a:off x="1026160" y="1689100"/>
            <a:ext cx="3704539"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B33D"/>
                </a:solidFill>
                <a:latin typeface="Be Vietnam Pro" pitchFamily="34" charset="0"/>
                <a:ea typeface="Be Vietnam Pro" pitchFamily="34" charset="-122"/>
                <a:cs typeface="Be Vietnam Pro" pitchFamily="34" charset="-120"/>
              </a:rPr>
              <a:t>≥ 22%</a:t>
            </a:r>
            <a:endParaRPr lang="en-US" sz="3600" dirty="0"/>
          </a:p>
        </p:txBody>
      </p:sp>
      <p:sp>
        <p:nvSpPr>
          <p:cNvPr id="6" name="Text 4"/>
          <p:cNvSpPr/>
          <p:nvPr/>
        </p:nvSpPr>
        <p:spPr>
          <a:xfrm>
            <a:off x="1026160" y="2217421"/>
            <a:ext cx="370453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CE3F0"/>
                </a:solidFill>
                <a:latin typeface="Be Vietnam Pro" pitchFamily="34" charset="0"/>
                <a:ea typeface="Be Vietnam Pro" pitchFamily="34" charset="-122"/>
                <a:cs typeface="Be Vietnam Pro" pitchFamily="34" charset="-120"/>
              </a:rPr>
              <a:t>câu PARTIAL bị trả lời vượt phạm vi bằng chứng – kể cả mô hình tốt nhất</a:t>
            </a:r>
            <a:endParaRPr lang="en-US" sz="1300" dirty="0"/>
          </a:p>
        </p:txBody>
      </p:sp>
      <p:sp>
        <p:nvSpPr>
          <p:cNvPr id="7" name="Shape 5"/>
          <p:cNvSpPr/>
          <p:nvPr/>
        </p:nvSpPr>
        <p:spPr>
          <a:xfrm>
            <a:off x="831850" y="2857500"/>
            <a:ext cx="0" cy="990600"/>
          </a:xfrm>
          <a:prstGeom prst="line">
            <a:avLst/>
          </a:prstGeom>
          <a:noFill/>
          <a:ln w="38100">
            <a:solidFill>
              <a:srgbClr val="E8735A"/>
            </a:solidFill>
            <a:prstDash val="solid"/>
          </a:ln>
        </p:spPr>
      </p:sp>
      <p:sp>
        <p:nvSpPr>
          <p:cNvPr id="8" name="Text 6"/>
          <p:cNvSpPr/>
          <p:nvPr/>
        </p:nvSpPr>
        <p:spPr>
          <a:xfrm>
            <a:off x="1026160" y="2857500"/>
            <a:ext cx="3704539"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49A85"/>
                </a:solidFill>
                <a:latin typeface="Be Vietnam Pro" pitchFamily="34" charset="0"/>
                <a:ea typeface="Be Vietnam Pro" pitchFamily="34" charset="-122"/>
                <a:cs typeface="Be Vietnam Pro" pitchFamily="34" charset="-120"/>
              </a:rPr>
              <a:t>40% – 72%</a:t>
            </a:r>
            <a:endParaRPr lang="en-US" sz="3600" dirty="0"/>
          </a:p>
        </p:txBody>
      </p:sp>
      <p:sp>
        <p:nvSpPr>
          <p:cNvPr id="9" name="Text 7"/>
          <p:cNvSpPr/>
          <p:nvPr/>
        </p:nvSpPr>
        <p:spPr>
          <a:xfrm>
            <a:off x="1026160" y="3385821"/>
            <a:ext cx="370453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CE3F0"/>
                </a:solidFill>
                <a:latin typeface="Be Vietnam Pro" pitchFamily="34" charset="0"/>
                <a:ea typeface="Be Vietnam Pro" pitchFamily="34" charset="-122"/>
                <a:cs typeface="Be Vietnam Pro" pitchFamily="34" charset="-120"/>
              </a:rPr>
              <a:t>câu NO bị bịa câu trả lời: Gemma 40%, Qwen3-8B 72%</a:t>
            </a:r>
            <a:endParaRPr lang="en-US" sz="1300" dirty="0"/>
          </a:p>
        </p:txBody>
      </p:sp>
      <p:sp>
        <p:nvSpPr>
          <p:cNvPr id="10" name="Shape 8"/>
          <p:cNvSpPr/>
          <p:nvPr/>
        </p:nvSpPr>
        <p:spPr>
          <a:xfrm>
            <a:off x="831850" y="4025900"/>
            <a:ext cx="0" cy="759460"/>
          </a:xfrm>
          <a:prstGeom prst="line">
            <a:avLst/>
          </a:prstGeom>
          <a:noFill/>
          <a:ln w="38100">
            <a:solidFill>
              <a:srgbClr val="B8C2D6"/>
            </a:solidFill>
            <a:prstDash val="solid"/>
          </a:ln>
        </p:spPr>
      </p:sp>
      <p:sp>
        <p:nvSpPr>
          <p:cNvPr id="11" name="Text 9"/>
          <p:cNvSpPr/>
          <p:nvPr/>
        </p:nvSpPr>
        <p:spPr>
          <a:xfrm>
            <a:off x="1026160" y="4025900"/>
            <a:ext cx="3704539"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7F6F2"/>
                </a:solidFill>
                <a:latin typeface="Be Vietnam Pro" pitchFamily="34" charset="0"/>
                <a:ea typeface="Be Vietnam Pro" pitchFamily="34" charset="-122"/>
                <a:cs typeface="Be Vietnam Pro" pitchFamily="34" charset="-120"/>
              </a:rPr>
              <a:t>≤ 52%</a:t>
            </a:r>
            <a:endParaRPr lang="en-US" sz="3600" dirty="0"/>
          </a:p>
        </p:txBody>
      </p:sp>
      <p:sp>
        <p:nvSpPr>
          <p:cNvPr id="12" name="Text 10"/>
          <p:cNvSpPr/>
          <p:nvPr/>
        </p:nvSpPr>
        <p:spPr>
          <a:xfrm>
            <a:off x="1026160" y="4554221"/>
            <a:ext cx="370453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CE3F0"/>
                </a:solidFill>
                <a:latin typeface="Be Vietnam Pro" pitchFamily="34" charset="0"/>
                <a:ea typeface="Be Vietnam Pro" pitchFamily="34" charset="-122"/>
                <a:cs typeface="Be Vietnam Pro" pitchFamily="34" charset="-120"/>
              </a:rPr>
              <a:t>câu hỏi mơ hồ được hỏi lại để làm rõ</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39360" y="1699260"/>
          <a:ext cx="6339840" cy="2015490"/>
        </p:xfrm>
        <a:graphic>
          <a:graphicData uri="http://schemas.openxmlformats.org/drawingml/2006/table">
            <a:tbl>
              <a:tblPr/>
              <a:tblGrid>
                <a:gridCol w="2155546"/>
                <a:gridCol w="1394765"/>
                <a:gridCol w="1394765"/>
                <a:gridCol w="1394765"/>
              </a:tblGrid>
              <a:tr h="588010">
                <a:tc>
                  <a:txBody>
                    <a:bodyPr/>
                    <a:lstStyle/>
                    <a:p>
                      <a:pPr indent="0" marL="0">
                        <a:lnSpc>
                          <a:spcPts val="1820"/>
                        </a:lnSpc>
                        <a:buNone/>
                      </a:pPr>
                      <a:r>
                        <a:rPr lang="en-US" sz="1300" b="1" dirty="0">
                          <a:solidFill>
                            <a:srgbClr val="F7F6F2"/>
                          </a:solidFill>
                          <a:latin typeface="Be Vietnam Pro" pitchFamily="34" charset="0"/>
                          <a:ea typeface="Be Vietnam Pro" pitchFamily="34" charset="-122"/>
                          <a:cs typeface="Be Vietnam Pro" pitchFamily="34" charset="-120"/>
                        </a:rPr>
                        <a:t>Mô hình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algn="r" indent="0" marL="0">
                        <a:lnSpc>
                          <a:spcPts val="1820"/>
                        </a:lnSpc>
                        <a:buNone/>
                      </a:pPr>
                      <a:r>
                        <a:rPr lang="en-US" sz="1300" b="1" dirty="0">
                          <a:solidFill>
                            <a:srgbClr val="F7F6F2"/>
                          </a:solidFill>
                          <a:latin typeface="Be Vietnam Pro" pitchFamily="34" charset="0"/>
                          <a:ea typeface="Be Vietnam Pro" pitchFamily="34" charset="-122"/>
                          <a:cs typeface="Be Vietnam Pro" pitchFamily="34" charset="-120"/>
                        </a:rPr>
                        <a:t>Vượt phạm vi ↓</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algn="r" indent="0" marL="0">
                        <a:lnSpc>
                          <a:spcPts val="1820"/>
                        </a:lnSpc>
                        <a:buNone/>
                      </a:pPr>
                      <a:r>
                        <a:rPr lang="en-US" sz="1300" b="1" dirty="0">
                          <a:solidFill>
                            <a:srgbClr val="F7F6F2"/>
                          </a:solidFill>
                          <a:latin typeface="Be Vietnam Pro" pitchFamily="34" charset="0"/>
                          <a:ea typeface="Be Vietnam Pro" pitchFamily="34" charset="-122"/>
                          <a:cs typeface="Be Vietnam Pro" pitchFamily="34" charset="-120"/>
                        </a:rPr>
                        <a:t>Từ chối NO ↑</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algn="r" indent="0" marL="0">
                        <a:lnSpc>
                          <a:spcPts val="1820"/>
                        </a:lnSpc>
                        <a:buNone/>
                      </a:pPr>
                      <a:r>
                        <a:rPr lang="en-US" sz="1300" b="1" dirty="0">
                          <a:solidFill>
                            <a:srgbClr val="F7F6F2"/>
                          </a:solidFill>
                          <a:latin typeface="Be Vietnam Pro" pitchFamily="34" charset="0"/>
                          <a:ea typeface="Be Vietnam Pro" pitchFamily="34" charset="-122"/>
                          <a:cs typeface="Be Vietnam Pro" pitchFamily="34" charset="-120"/>
                        </a:rPr>
                        <a:t>Làm rõ ↑</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r>
              <a:tr h="356870">
                <a:tc>
                  <a:txBody>
                    <a:bodyPr/>
                    <a:lstStyle/>
                    <a:p>
                      <a:pP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DeepSeek-V4-Flash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2B33D"/>
                          </a:solidFill>
                          <a:latin typeface="Be Vietnam Pro" pitchFamily="34" charset="0"/>
                          <a:ea typeface="Be Vietnam Pro" pitchFamily="34" charset="-122"/>
                          <a:cs typeface="Be Vietnam Pro" pitchFamily="34" charset="-120"/>
                        </a:rPr>
                        <a:t>22,4</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2B33D"/>
                          </a:solidFill>
                          <a:latin typeface="Be Vietnam Pro" pitchFamily="34" charset="0"/>
                          <a:ea typeface="Be Vietnam Pro" pitchFamily="34" charset="-122"/>
                          <a:cs typeface="Be Vietnam Pro" pitchFamily="34" charset="-120"/>
                        </a:rPr>
                        <a:t>71,6</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47,9</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356870">
                <a:tc>
                  <a:txBody>
                    <a:bodyPr/>
                    <a:lstStyle/>
                    <a:p>
                      <a:pP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Qwen3.5-397B-A17B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35,5</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68,6</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2B33D"/>
                          </a:solidFill>
                          <a:latin typeface="Be Vietnam Pro" pitchFamily="34" charset="0"/>
                          <a:ea typeface="Be Vietnam Pro" pitchFamily="34" charset="-122"/>
                          <a:cs typeface="Be Vietnam Pro" pitchFamily="34" charset="-120"/>
                        </a:rPr>
                        <a:t>52,1</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356870">
                <a:tc>
                  <a:txBody>
                    <a:bodyPr/>
                    <a:lstStyle/>
                    <a:p>
                      <a:pP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Gemma-4-31B-IT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32,5</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59,2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41,7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356870">
                <a:tc>
                  <a:txBody>
                    <a:bodyPr/>
                    <a:lstStyle/>
                    <a:p>
                      <a:pP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Qwen3-8B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59,4</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20,4</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18,8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bl>
          </a:graphicData>
        </a:graphic>
      </p:graphicFrame>
      <p:sp>
        <p:nvSpPr>
          <p:cNvPr id="14" name="Text 11"/>
          <p:cNvSpPr/>
          <p:nvPr/>
        </p:nvSpPr>
        <p:spPr>
          <a:xfrm>
            <a:off x="5029200" y="3892550"/>
            <a:ext cx="65405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6"/>
                </a:solidFill>
                <a:latin typeface="Be Vietnam Pro" pitchFamily="34" charset="0"/>
                <a:ea typeface="Be Vietnam Pro" pitchFamily="34" charset="-122"/>
                <a:cs typeface="Be Vietnam Pro" pitchFamily="34" charset="-120"/>
              </a:rPr>
              <a:t>%; vàng = tốt nhất ở cột. Mô hình có chất lượng câu trả lời cao nhất (Gemma) không phải mô hình từ chối tốt nhất.</a:t>
            </a:r>
            <a:endParaRPr lang="en-US" sz="1200" dirty="0"/>
          </a:p>
        </p:txBody>
      </p:sp>
      <p:sp>
        <p:nvSpPr>
          <p:cNvPr id="15" name="Shape 12"/>
          <p:cNvSpPr/>
          <p:nvPr/>
        </p:nvSpPr>
        <p:spPr>
          <a:xfrm>
            <a:off x="5029200" y="4497071"/>
            <a:ext cx="6350000" cy="767080"/>
          </a:xfrm>
          <a:prstGeom prst="roundRect">
            <a:avLst>
              <a:gd name="adj" fmla="val 13245"/>
            </a:avLst>
          </a:prstGeom>
          <a:solidFill>
            <a:srgbClr val="24345A"/>
          </a:solidFill>
          <a:ln/>
        </p:spPr>
      </p:sp>
      <p:pic>
        <p:nvPicPr>
          <p:cNvPr id="16" name="Image 0" descr="Lightbulb">    </p:cNvPr>
          <p:cNvPicPr>
            <a:picLocks noChangeAspect="1"/>
          </p:cNvPicPr>
          <p:nvPr/>
        </p:nvPicPr>
        <p:blipFill>
          <a:blip r:embed="rId1"/>
          <a:srcRect l="0" r="0" t="0" b="0"/>
          <a:stretch/>
        </p:blipFill>
        <p:spPr>
          <a:xfrm>
            <a:off x="5219700" y="4740914"/>
            <a:ext cx="279400" cy="279400"/>
          </a:xfrm>
          <a:prstGeom prst="rect">
            <a:avLst/>
          </a:prstGeom>
        </p:spPr>
      </p:pic>
      <p:sp>
        <p:nvSpPr>
          <p:cNvPr id="17" name="Text 13"/>
          <p:cNvSpPr/>
          <p:nvPr/>
        </p:nvSpPr>
        <p:spPr>
          <a:xfrm>
            <a:off x="5626100" y="4649471"/>
            <a:ext cx="572947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6F2"/>
                </a:solidFill>
                <a:latin typeface="Be Vietnam Pro" pitchFamily="34" charset="0"/>
                <a:ea typeface="Be Vietnam Pro" pitchFamily="34" charset="-122"/>
                <a:cs typeface="Be Vietnam Pro" pitchFamily="34" charset="-120"/>
              </a:rPr>
              <a:t>Lời nhắc đã yêu cầu rõ: từ chối, nêu phần thiếu, hỏi lại → đây là </a:t>
            </a:r>
            <a:r>
              <a:rPr lang="en-US" sz="1300" b="1" dirty="0">
                <a:solidFill>
                  <a:srgbClr val="F2B33D"/>
                </a:solidFill>
                <a:latin typeface="Be Vietnam Pro" pitchFamily="34" charset="0"/>
                <a:ea typeface="Be Vietnam Pro" pitchFamily="34" charset="-122"/>
                <a:cs typeface="Be Vietnam Pro" pitchFamily="34" charset="-120"/>
              </a:rPr>
              <a:t>giới hạn tuân thủ</a:t>
            </a:r>
            <a:r>
              <a:rPr lang="en-US" sz="1300" dirty="0">
                <a:solidFill>
                  <a:srgbClr val="F7F6F2"/>
                </a:solidFill>
                <a:latin typeface="Be Vietnam Pro" pitchFamily="34" charset="0"/>
                <a:ea typeface="Be Vietnam Pro" pitchFamily="34" charset="-122"/>
                <a:cs typeface="Be Vietnam Pro" pitchFamily="34" charset="-120"/>
              </a:rPr>
              <a:t>, không phải thiếu hướng dẫn.</a:t>
            </a:r>
            <a:endParaRPr lang="en-US" sz="1300" dirty="0"/>
          </a:p>
        </p:txBody>
      </p:sp>
      <p:sp>
        <p:nvSpPr>
          <p:cNvPr id="18" name="Text 14"/>
          <p:cNvSpPr/>
          <p:nvPr/>
        </p:nvSpPr>
        <p:spPr>
          <a:xfrm>
            <a:off x="812800" y="6238242"/>
            <a:ext cx="64269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6A5"/>
                </a:solidFill>
                <a:latin typeface="Be Vietnam Pro" pitchFamily="34" charset="0"/>
                <a:ea typeface="Be Vietnam Pro" pitchFamily="34" charset="-122"/>
                <a:cs typeface="Be Vietnam Pro" pitchFamily="34" charset="-120"/>
              </a:rPr>
              <a:t>ViFaithRAG · Seminar luận văn · 335 PARTIAL · 1.071 NO · 48 AMBIGUOUS</a:t>
            </a:r>
            <a:endParaRPr lang="en-US" sz="1200" dirty="0"/>
          </a:p>
        </p:txBody>
      </p:sp>
      <p:sp>
        <p:nvSpPr>
          <p:cNvPr id="19" name="Text 15"/>
          <p:cNvSpPr/>
          <p:nvPr/>
        </p:nvSpPr>
        <p:spPr>
          <a:xfrm>
            <a:off x="11169094" y="6238242"/>
            <a:ext cx="21010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6A5"/>
                </a:solidFill>
                <a:latin typeface="Be Vietnam Pro" pitchFamily="34" charset="0"/>
                <a:ea typeface="Be Vietnam Pro" pitchFamily="34" charset="-122"/>
                <a:cs typeface="Be Vietnam Pr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KẾT QUẢ 2 · VÍ DỤ THẬT</a:t>
            </a:r>
            <a:endParaRPr lang="en-US" sz="1200" dirty="0"/>
          </a:p>
        </p:txBody>
      </p:sp>
      <p:sp>
        <p:nvSpPr>
          <p:cNvPr id="3" name="Text 1"/>
          <p:cNvSpPr/>
          <p:nvPr>
            <p:ph type="title"/>
          </p:nvPr>
        </p:nvSpPr>
        <p:spPr>
          <a:xfrm>
            <a:off x="812800" y="1000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Ba kiểu không dừng đúng chỗ</a:t>
            </a:r>
            <a:endParaRPr lang="en-US" sz="2800" dirty="0"/>
          </a:p>
        </p:txBody>
      </p:sp>
      <p:sp>
        <p:nvSpPr>
          <p:cNvPr id="4" name="Shape 2"/>
          <p:cNvSpPr/>
          <p:nvPr/>
        </p:nvSpPr>
        <p:spPr>
          <a:xfrm>
            <a:off x="812800" y="1612900"/>
            <a:ext cx="3403600" cy="3624580"/>
          </a:xfrm>
          <a:prstGeom prst="roundRect">
            <a:avLst>
              <a:gd name="adj" fmla="val 2985"/>
            </a:avLst>
          </a:prstGeom>
          <a:solidFill>
            <a:srgbClr val="FFFFFF"/>
          </a:solidFill>
          <a:ln/>
        </p:spPr>
      </p:sp>
      <p:sp>
        <p:nvSpPr>
          <p:cNvPr id="5" name="Shape 3"/>
          <p:cNvSpPr/>
          <p:nvPr/>
        </p:nvSpPr>
        <p:spPr>
          <a:xfrm>
            <a:off x="812800" y="1612900"/>
            <a:ext cx="3403600" cy="3624580"/>
          </a:xfrm>
          <a:custGeom>
            <a:avLst/>
            <a:gdLst/>
            <a:ahLst/>
            <a:cxnLst/>
            <a:rect l="l" t="t" r="r" b="b"/>
            <a:pathLst>
              <a:path w="3403600" h="3624580">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C4472B"/>
          </a:solidFill>
          <a:ln/>
        </p:spPr>
      </p:sp>
      <p:sp>
        <p:nvSpPr>
          <p:cNvPr id="6" name="Text 4"/>
          <p:cNvSpPr/>
          <p:nvPr/>
        </p:nvSpPr>
        <p:spPr>
          <a:xfrm>
            <a:off x="977900" y="1828800"/>
            <a:ext cx="1070769" cy="264160"/>
          </a:xfrm>
          <a:prstGeom prst="roundRect">
            <a:avLst>
              <a:gd name="adj" fmla="val 19231"/>
            </a:avLst>
          </a:prstGeom>
          <a:solidFill>
            <a:srgbClr val="C4472B"/>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NO · Bịa đặt</a:t>
            </a:r>
            <a:endParaRPr lang="en-US" sz="1200" dirty="0"/>
          </a:p>
        </p:txBody>
      </p:sp>
      <p:sp>
        <p:nvSpPr>
          <p:cNvPr id="7" name="Text 5"/>
          <p:cNvSpPr/>
          <p:nvPr/>
        </p:nvSpPr>
        <p:spPr>
          <a:xfrm>
            <a:off x="977900" y="2181864"/>
            <a:ext cx="3165602" cy="487680"/>
          </a:xfrm>
          <a:prstGeom prst="rect">
            <a:avLst/>
          </a:prstGeom>
          <a:noFill/>
          <a:ln/>
        </p:spPr>
        <p:txBody>
          <a:bodyPr wrap="square" lIns="0" tIns="0" rIns="0" bIns="0" rtlCol="0" anchor="t">
            <a:normAutofit/>
          </a:bodyPr>
          <a:lstStyle/>
          <a:p>
            <a:pPr algn="l" indent="0" marL="0">
              <a:lnSpc>
                <a:spcPts val="1820"/>
              </a:lnSpc>
              <a:buNone/>
            </a:pPr>
            <a:r>
              <a:rPr lang="en-US" sz="1300" b="1" i="1" dirty="0">
                <a:solidFill>
                  <a:srgbClr val="14213D"/>
                </a:solidFill>
                <a:latin typeface="Be Vietnam Pro" pitchFamily="34" charset="0"/>
                <a:ea typeface="Be Vietnam Pro" pitchFamily="34" charset="-122"/>
                <a:cs typeface="Be Vietnam Pro" pitchFamily="34" charset="-120"/>
              </a:rPr>
              <a:t>“năm 605 trước công nguyên thuộc thế kỷ nào”</a:t>
            </a:r>
            <a:endParaRPr lang="en-US" sz="1300" dirty="0"/>
          </a:p>
        </p:txBody>
      </p:sp>
      <p:sp>
        <p:nvSpPr>
          <p:cNvPr id="8" name="Text 6"/>
          <p:cNvSpPr/>
          <p:nvPr/>
        </p:nvSpPr>
        <p:spPr>
          <a:xfrm>
            <a:off x="977900" y="2733042"/>
            <a:ext cx="31656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Tài liệu chỉ nhắc năm 605 TCN như mốc sự kiện, không nêu thế kỷ.</a:t>
            </a:r>
            <a:endParaRPr lang="en-US" sz="1200" dirty="0"/>
          </a:p>
        </p:txBody>
      </p:sp>
      <p:sp>
        <p:nvSpPr>
          <p:cNvPr id="9" name="Shape 7"/>
          <p:cNvSpPr/>
          <p:nvPr/>
        </p:nvSpPr>
        <p:spPr>
          <a:xfrm>
            <a:off x="977900" y="3248664"/>
            <a:ext cx="3073400" cy="881380"/>
          </a:xfrm>
          <a:prstGeom prst="roundRect">
            <a:avLst>
              <a:gd name="adj" fmla="val 8646"/>
            </a:avLst>
          </a:prstGeom>
          <a:solidFill>
            <a:srgbClr val="FDF0EC"/>
          </a:solidFill>
          <a:ln/>
        </p:spPr>
      </p:sp>
      <p:sp>
        <p:nvSpPr>
          <p:cNvPr id="10" name="Text 8"/>
          <p:cNvSpPr/>
          <p:nvPr/>
        </p:nvSpPr>
        <p:spPr>
          <a:xfrm>
            <a:off x="1092200" y="3350264"/>
            <a:ext cx="29301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3412"/>
                </a:solidFill>
                <a:latin typeface="Be Vietnam Pro" pitchFamily="34" charset="0"/>
                <a:ea typeface="Be Vietnam Pro" pitchFamily="34" charset="-122"/>
                <a:cs typeface="Be Vietnam Pro" pitchFamily="34" charset="-120"/>
              </a:rPr>
              <a:t>Qwen3-8B</a:t>
            </a:r>
            <a:endParaRPr lang="en-US" sz="1200" dirty="0"/>
          </a:p>
        </p:txBody>
      </p:sp>
      <p:sp>
        <p:nvSpPr>
          <p:cNvPr id="11" name="Text 9"/>
          <p:cNvSpPr/>
          <p:nvPr/>
        </p:nvSpPr>
        <p:spPr>
          <a:xfrm>
            <a:off x="1092200" y="3601721"/>
            <a:ext cx="2930144"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4213D"/>
                </a:solidFill>
                <a:latin typeface="Be Vietnam Pro" pitchFamily="34" charset="0"/>
                <a:ea typeface="Be Vietnam Pro" pitchFamily="34" charset="-122"/>
                <a:cs typeface="Be Vietnam Pro" pitchFamily="34" charset="-120"/>
              </a:rPr>
              <a:t>“năm 605 trước công nguyên thuộc thế kỷ thứ 6.”</a:t>
            </a:r>
            <a:endParaRPr lang="en-US" sz="1200" dirty="0"/>
          </a:p>
        </p:txBody>
      </p:sp>
      <p:sp>
        <p:nvSpPr>
          <p:cNvPr id="12" name="Text 10"/>
          <p:cNvSpPr/>
          <p:nvPr/>
        </p:nvSpPr>
        <p:spPr>
          <a:xfrm>
            <a:off x="977900" y="4218942"/>
            <a:ext cx="316560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3/4 mô hình trả lời từ kiến thức riêng – DeepSeek đúng kiến thức nhưng vẫn ngoài tài liệu. Gemma từ chối.</a:t>
            </a:r>
            <a:endParaRPr lang="en-US" sz="1200" dirty="0"/>
          </a:p>
        </p:txBody>
      </p:sp>
      <p:sp>
        <p:nvSpPr>
          <p:cNvPr id="13" name="Shape 11"/>
          <p:cNvSpPr/>
          <p:nvPr/>
        </p:nvSpPr>
        <p:spPr>
          <a:xfrm>
            <a:off x="4394200" y="1612900"/>
            <a:ext cx="3403600" cy="3624580"/>
          </a:xfrm>
          <a:prstGeom prst="roundRect">
            <a:avLst>
              <a:gd name="adj" fmla="val 2985"/>
            </a:avLst>
          </a:prstGeom>
          <a:solidFill>
            <a:srgbClr val="FFFFFF"/>
          </a:solidFill>
          <a:ln/>
        </p:spPr>
      </p:sp>
      <p:sp>
        <p:nvSpPr>
          <p:cNvPr id="14" name="Shape 12"/>
          <p:cNvSpPr/>
          <p:nvPr/>
        </p:nvSpPr>
        <p:spPr>
          <a:xfrm>
            <a:off x="4394200" y="1612900"/>
            <a:ext cx="3403600" cy="3624580"/>
          </a:xfrm>
          <a:custGeom>
            <a:avLst/>
            <a:gdLst/>
            <a:ahLst/>
            <a:cxnLst/>
            <a:rect l="l" t="t" r="r" b="b"/>
            <a:pathLst>
              <a:path w="3403600" h="3624580">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E3A33B"/>
          </a:solidFill>
          <a:ln/>
        </p:spPr>
      </p:sp>
      <p:sp>
        <p:nvSpPr>
          <p:cNvPr id="15" name="Text 13"/>
          <p:cNvSpPr/>
          <p:nvPr/>
        </p:nvSpPr>
        <p:spPr>
          <a:xfrm>
            <a:off x="4559300" y="1828800"/>
            <a:ext cx="1952704" cy="264160"/>
          </a:xfrm>
          <a:prstGeom prst="roundRect">
            <a:avLst>
              <a:gd name="adj" fmla="val 19231"/>
            </a:avLst>
          </a:prstGeom>
          <a:solidFill>
            <a:srgbClr val="E3A33B"/>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PARTIAL · Vượt phạm vi</a:t>
            </a:r>
            <a:endParaRPr lang="en-US" sz="1200" dirty="0"/>
          </a:p>
        </p:txBody>
      </p:sp>
      <p:sp>
        <p:nvSpPr>
          <p:cNvPr id="16" name="Text 14"/>
          <p:cNvSpPr/>
          <p:nvPr/>
        </p:nvSpPr>
        <p:spPr>
          <a:xfrm>
            <a:off x="4559300" y="2181864"/>
            <a:ext cx="3165602" cy="487680"/>
          </a:xfrm>
          <a:prstGeom prst="rect">
            <a:avLst/>
          </a:prstGeom>
          <a:noFill/>
          <a:ln/>
        </p:spPr>
        <p:txBody>
          <a:bodyPr wrap="square" lIns="0" tIns="0" rIns="0" bIns="0" rtlCol="0" anchor="t">
            <a:normAutofit/>
          </a:bodyPr>
          <a:lstStyle/>
          <a:p>
            <a:pPr algn="l" indent="0" marL="0">
              <a:lnSpc>
                <a:spcPts val="1820"/>
              </a:lnSpc>
              <a:buNone/>
            </a:pPr>
            <a:r>
              <a:rPr lang="en-US" sz="1300" b="1" i="1" dirty="0">
                <a:solidFill>
                  <a:srgbClr val="14213D"/>
                </a:solidFill>
                <a:latin typeface="Be Vietnam Pro" pitchFamily="34" charset="0"/>
                <a:ea typeface="Be Vietnam Pro" pitchFamily="34" charset="-122"/>
                <a:cs typeface="Be Vietnam Pro" pitchFamily="34" charset="-120"/>
              </a:rPr>
              <a:t>“kho ngoại quan là gì, đó là hình thức xuất khẩu?”</a:t>
            </a:r>
            <a:endParaRPr lang="en-US" sz="1300" dirty="0"/>
          </a:p>
        </p:txBody>
      </p:sp>
      <p:sp>
        <p:nvSpPr>
          <p:cNvPr id="17" name="Text 15"/>
          <p:cNvSpPr/>
          <p:nvPr/>
        </p:nvSpPr>
        <p:spPr>
          <a:xfrm>
            <a:off x="4559300" y="2733042"/>
            <a:ext cx="31656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Tài liệu chỉ có định nghĩa, không nói có phải hình thức xuất khẩu.</a:t>
            </a:r>
            <a:endParaRPr lang="en-US" sz="1200" dirty="0"/>
          </a:p>
        </p:txBody>
      </p:sp>
      <p:sp>
        <p:nvSpPr>
          <p:cNvPr id="18" name="Shape 16"/>
          <p:cNvSpPr/>
          <p:nvPr/>
        </p:nvSpPr>
        <p:spPr>
          <a:xfrm>
            <a:off x="4559300" y="3248664"/>
            <a:ext cx="3073400" cy="1094740"/>
          </a:xfrm>
          <a:prstGeom prst="roundRect">
            <a:avLst>
              <a:gd name="adj" fmla="val 6961"/>
            </a:avLst>
          </a:prstGeom>
          <a:solidFill>
            <a:srgbClr val="FDF5E6"/>
          </a:solidFill>
          <a:ln/>
        </p:spPr>
      </p:sp>
      <p:sp>
        <p:nvSpPr>
          <p:cNvPr id="19" name="Text 17"/>
          <p:cNvSpPr/>
          <p:nvPr/>
        </p:nvSpPr>
        <p:spPr>
          <a:xfrm>
            <a:off x="4673600" y="3350264"/>
            <a:ext cx="293014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Qwen3-8B:</a:t>
            </a:r>
            <a:r>
              <a:rPr lang="en-US" sz="1200" dirty="0">
                <a:solidFill>
                  <a:srgbClr val="14213D"/>
                </a:solidFill>
                <a:latin typeface="Be Vietnam Pro" pitchFamily="34" charset="0"/>
                <a:ea typeface="Be Vietnam Pro" pitchFamily="34" charset="-122"/>
                <a:cs typeface="Be Vietnam Pro" pitchFamily="34" charset="-120"/>
              </a:rPr>
              <a:t> </a:t>
            </a:r>
            <a:r>
              <a:rPr lang="en-US" sz="1200" i="1" dirty="0">
                <a:solidFill>
                  <a:srgbClr val="14213D"/>
                </a:solidFill>
                <a:latin typeface="Be Vietnam Pro" pitchFamily="34" charset="0"/>
                <a:ea typeface="Be Vietnam Pro" pitchFamily="34" charset="-122"/>
                <a:cs typeface="Be Vietnam Pro" pitchFamily="34" charset="-120"/>
              </a:rPr>
              <a:t>“Đây là hình thức xuất khẩu…”</a:t>
            </a:r>
            <a:endParaRPr lang="en-US" sz="1200" dirty="0"/>
          </a:p>
        </p:txBody>
      </p:sp>
      <p:sp>
        <p:nvSpPr>
          <p:cNvPr id="20" name="Text 18"/>
          <p:cNvSpPr/>
          <p:nvPr/>
        </p:nvSpPr>
        <p:spPr>
          <a:xfrm>
            <a:off x="4673600" y="3815079"/>
            <a:ext cx="293014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DeepSeek:</a:t>
            </a:r>
            <a:r>
              <a:rPr lang="en-US" sz="1200" dirty="0">
                <a:solidFill>
                  <a:srgbClr val="14213D"/>
                </a:solidFill>
                <a:latin typeface="Be Vietnam Pro" pitchFamily="34" charset="0"/>
                <a:ea typeface="Be Vietnam Pro" pitchFamily="34" charset="-122"/>
                <a:cs typeface="Be Vietnam Pro" pitchFamily="34" charset="-120"/>
              </a:rPr>
              <a:t> </a:t>
            </a:r>
            <a:r>
              <a:rPr lang="en-US" sz="1200" i="1" dirty="0">
                <a:solidFill>
                  <a:srgbClr val="14213D"/>
                </a:solidFill>
                <a:latin typeface="Be Vietnam Pro" pitchFamily="34" charset="0"/>
                <a:ea typeface="Be Vietnam Pro" pitchFamily="34" charset="-122"/>
                <a:cs typeface="Be Vietnam Pro" pitchFamily="34" charset="-120"/>
              </a:rPr>
              <a:t>“…không phải là hình thức xuất khẩu.”</a:t>
            </a:r>
            <a:endParaRPr lang="en-US" sz="1200" dirty="0"/>
          </a:p>
        </p:txBody>
      </p:sp>
      <p:sp>
        <p:nvSpPr>
          <p:cNvPr id="21" name="Text 19"/>
          <p:cNvSpPr/>
          <p:nvPr/>
        </p:nvSpPr>
        <p:spPr>
          <a:xfrm>
            <a:off x="4559300" y="4432300"/>
            <a:ext cx="316560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3/4 mô hình tự tin trả lời vế bị thiếu – và mâu thuẫn nhau. Gemma nêu đúng phần thiếu.</a:t>
            </a:r>
            <a:endParaRPr lang="en-US" sz="1200" dirty="0"/>
          </a:p>
        </p:txBody>
      </p:sp>
      <p:sp>
        <p:nvSpPr>
          <p:cNvPr id="22" name="Shape 20"/>
          <p:cNvSpPr/>
          <p:nvPr/>
        </p:nvSpPr>
        <p:spPr>
          <a:xfrm>
            <a:off x="7975600" y="1612900"/>
            <a:ext cx="3403600" cy="3624580"/>
          </a:xfrm>
          <a:prstGeom prst="roundRect">
            <a:avLst>
              <a:gd name="adj" fmla="val 2985"/>
            </a:avLst>
          </a:prstGeom>
          <a:solidFill>
            <a:srgbClr val="FFFFFF"/>
          </a:solidFill>
          <a:ln/>
        </p:spPr>
      </p:sp>
      <p:sp>
        <p:nvSpPr>
          <p:cNvPr id="23" name="Shape 21"/>
          <p:cNvSpPr/>
          <p:nvPr/>
        </p:nvSpPr>
        <p:spPr>
          <a:xfrm>
            <a:off x="7975600" y="1612900"/>
            <a:ext cx="3403600" cy="3624580"/>
          </a:xfrm>
          <a:custGeom>
            <a:avLst/>
            <a:gdLst/>
            <a:ahLst/>
            <a:cxnLst/>
            <a:rect l="l" t="t" r="r" b="b"/>
            <a:pathLst>
              <a:path w="3403600" h="3624580">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8C96A5"/>
          </a:solidFill>
          <a:ln/>
        </p:spPr>
      </p:sp>
      <p:sp>
        <p:nvSpPr>
          <p:cNvPr id="24" name="Text 22"/>
          <p:cNvSpPr/>
          <p:nvPr/>
        </p:nvSpPr>
        <p:spPr>
          <a:xfrm>
            <a:off x="8140700" y="1828800"/>
            <a:ext cx="2322592" cy="264160"/>
          </a:xfrm>
          <a:prstGeom prst="roundRect">
            <a:avLst>
              <a:gd name="adj" fmla="val 19231"/>
            </a:avLst>
          </a:prstGeom>
          <a:solidFill>
            <a:srgbClr val="6B7585"/>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AMBIGUOUS · Tự chọn nghĩa</a:t>
            </a:r>
            <a:endParaRPr lang="en-US" sz="1200" dirty="0"/>
          </a:p>
        </p:txBody>
      </p:sp>
      <p:sp>
        <p:nvSpPr>
          <p:cNvPr id="25" name="Text 23"/>
          <p:cNvSpPr/>
          <p:nvPr/>
        </p:nvSpPr>
        <p:spPr>
          <a:xfrm>
            <a:off x="8140700" y="2181864"/>
            <a:ext cx="3165602" cy="256540"/>
          </a:xfrm>
          <a:prstGeom prst="rect">
            <a:avLst/>
          </a:prstGeom>
          <a:noFill/>
          <a:ln/>
        </p:spPr>
        <p:txBody>
          <a:bodyPr wrap="square" lIns="0" tIns="0" rIns="0" bIns="0" rtlCol="0" anchor="t">
            <a:normAutofit/>
          </a:bodyPr>
          <a:lstStyle/>
          <a:p>
            <a:pPr algn="l" indent="0" marL="0">
              <a:lnSpc>
                <a:spcPts val="1820"/>
              </a:lnSpc>
              <a:buNone/>
            </a:pPr>
            <a:r>
              <a:rPr lang="en-US" sz="1300" b="1" i="1" dirty="0">
                <a:solidFill>
                  <a:srgbClr val="14213D"/>
                </a:solidFill>
                <a:latin typeface="Be Vietnam Pro" pitchFamily="34" charset="0"/>
                <a:ea typeface="Be Vietnam Pro" pitchFamily="34" charset="-122"/>
                <a:cs typeface="Be Vietnam Pro" pitchFamily="34" charset="-120"/>
              </a:rPr>
              <a:t>“lịch sử ngày 14 như thế nào”</a:t>
            </a:r>
            <a:endParaRPr lang="en-US" sz="1300" dirty="0"/>
          </a:p>
        </p:txBody>
      </p:sp>
      <p:sp>
        <p:nvSpPr>
          <p:cNvPr id="26" name="Text 24"/>
          <p:cNvSpPr/>
          <p:nvPr/>
        </p:nvSpPr>
        <p:spPr>
          <a:xfrm>
            <a:off x="8140700" y="2501900"/>
            <a:ext cx="31656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Tài liệu có lịch sử cả 14/2 (Valentine đỏ) và 14/3 (Valentine trắng).</a:t>
            </a:r>
            <a:endParaRPr lang="en-US" sz="1200" dirty="0"/>
          </a:p>
        </p:txBody>
      </p:sp>
      <p:sp>
        <p:nvSpPr>
          <p:cNvPr id="27" name="Shape 25"/>
          <p:cNvSpPr/>
          <p:nvPr/>
        </p:nvSpPr>
        <p:spPr>
          <a:xfrm>
            <a:off x="8140700" y="3017521"/>
            <a:ext cx="3073400" cy="881380"/>
          </a:xfrm>
          <a:prstGeom prst="roundRect">
            <a:avLst>
              <a:gd name="adj" fmla="val 8646"/>
            </a:avLst>
          </a:prstGeom>
          <a:solidFill>
            <a:srgbClr val="EEF1F5"/>
          </a:solidFill>
          <a:ln/>
        </p:spPr>
      </p:sp>
      <p:sp>
        <p:nvSpPr>
          <p:cNvPr id="28" name="Text 26"/>
          <p:cNvSpPr/>
          <p:nvPr/>
        </p:nvSpPr>
        <p:spPr>
          <a:xfrm>
            <a:off x="8255000" y="3119121"/>
            <a:ext cx="29301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656"/>
                </a:solidFill>
                <a:latin typeface="Be Vietnam Pro" pitchFamily="34" charset="0"/>
                <a:ea typeface="Be Vietnam Pro" pitchFamily="34" charset="-122"/>
                <a:cs typeface="Be Vietnam Pro" pitchFamily="34" charset="-120"/>
              </a:rPr>
              <a:t>Qwen3-8B</a:t>
            </a:r>
            <a:endParaRPr lang="en-US" sz="1200" dirty="0"/>
          </a:p>
        </p:txBody>
      </p:sp>
      <p:sp>
        <p:nvSpPr>
          <p:cNvPr id="29" name="Text 27"/>
          <p:cNvSpPr/>
          <p:nvPr/>
        </p:nvSpPr>
        <p:spPr>
          <a:xfrm>
            <a:off x="8255000" y="3370579"/>
            <a:ext cx="2930144"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14213D"/>
                </a:solidFill>
                <a:latin typeface="Be Vietnam Pro" pitchFamily="34" charset="0"/>
                <a:ea typeface="Be Vietnam Pro" pitchFamily="34" charset="-122"/>
                <a:cs typeface="Be Vietnam Pro" pitchFamily="34" charset="-120"/>
              </a:rPr>
              <a:t>“Ngày 14/2 là ngày lễ tình nhân (Valentine đỏ)…”</a:t>
            </a:r>
            <a:endParaRPr lang="en-US" sz="1200" dirty="0"/>
          </a:p>
        </p:txBody>
      </p:sp>
      <p:sp>
        <p:nvSpPr>
          <p:cNvPr id="30" name="Text 28"/>
          <p:cNvSpPr/>
          <p:nvPr/>
        </p:nvSpPr>
        <p:spPr>
          <a:xfrm>
            <a:off x="8140700" y="3987800"/>
            <a:ext cx="31656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Chọn thẳng 14/2, bỏ qua 14/3. DeepSeek nêu rõ sự mơ hồ.</a:t>
            </a:r>
            <a:endParaRPr lang="en-US" sz="1200" dirty="0"/>
          </a:p>
        </p:txBody>
      </p:sp>
      <p:sp>
        <p:nvSpPr>
          <p:cNvPr id="31" name="Text 29"/>
          <p:cNvSpPr/>
          <p:nvPr/>
        </p:nvSpPr>
        <p:spPr>
          <a:xfrm>
            <a:off x="812800" y="6238242"/>
            <a:ext cx="93196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Trích nguyên văn; đánh giá trung thực với tài liệu, không phải đúng/sai kiến thức</a:t>
            </a:r>
            <a:endParaRPr lang="en-US" sz="1200" dirty="0"/>
          </a:p>
        </p:txBody>
      </p:sp>
      <p:sp>
        <p:nvSpPr>
          <p:cNvPr id="32" name="Text 30"/>
          <p:cNvSpPr/>
          <p:nvPr/>
        </p:nvSpPr>
        <p:spPr>
          <a:xfrm>
            <a:off x="11161475" y="6238242"/>
            <a:ext cx="21772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PHÂN TÍCH BỔ SUNG</a:t>
            </a:r>
            <a:endParaRPr lang="en-US" sz="1200" dirty="0"/>
          </a:p>
        </p:txBody>
      </p:sp>
      <p:sp>
        <p:nvSpPr>
          <p:cNvPr id="3" name="Text 1"/>
          <p:cNvSpPr/>
          <p:nvPr>
            <p:ph type="title"/>
          </p:nvPr>
        </p:nvSpPr>
        <p:spPr>
          <a:xfrm>
            <a:off x="812800" y="1000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Khi nào mô hình dễ sai hơn?</a:t>
            </a:r>
            <a:endParaRPr lang="en-US" sz="2800" dirty="0"/>
          </a:p>
        </p:txBody>
      </p:sp>
      <p:sp>
        <p:nvSpPr>
          <p:cNvPr id="4" name="Shape 2"/>
          <p:cNvSpPr/>
          <p:nvPr/>
        </p:nvSpPr>
        <p:spPr>
          <a:xfrm>
            <a:off x="812800" y="1663700"/>
            <a:ext cx="3403600" cy="3820160"/>
          </a:xfrm>
          <a:prstGeom prst="roundRect">
            <a:avLst>
              <a:gd name="adj" fmla="val 2985"/>
            </a:avLst>
          </a:prstGeom>
          <a:solidFill>
            <a:srgbClr val="FFFFFF"/>
          </a:solidFill>
          <a:ln/>
        </p:spPr>
      </p:sp>
      <p:sp>
        <p:nvSpPr>
          <p:cNvPr id="5" name="Text 3"/>
          <p:cNvSpPr/>
          <p:nvPr/>
        </p:nvSpPr>
        <p:spPr>
          <a:xfrm>
            <a:off x="1003300" y="1854200"/>
            <a:ext cx="31132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EA"/>
                </a:solidFill>
                <a:latin typeface="Be Vietnam Pro" pitchFamily="34" charset="0"/>
                <a:ea typeface="Be Vietnam Pro" pitchFamily="34" charset="-122"/>
                <a:cs typeface="Be Vietnam Pro" pitchFamily="34" charset="-120"/>
              </a:rPr>
              <a:t>01</a:t>
            </a:r>
            <a:endParaRPr lang="en-US" sz="1200" dirty="0"/>
          </a:p>
        </p:txBody>
      </p:sp>
      <p:sp>
        <p:nvSpPr>
          <p:cNvPr id="6" name="Text 4"/>
          <p:cNvSpPr/>
          <p:nvPr/>
        </p:nvSpPr>
        <p:spPr>
          <a:xfrm>
            <a:off x="1003300" y="2181864"/>
            <a:ext cx="311327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Be Vietnam Pro" pitchFamily="34" charset="0"/>
                <a:ea typeface="Be Vietnam Pro" pitchFamily="34" charset="-122"/>
                <a:cs typeface="Be Vietnam Pro" pitchFamily="34" charset="-120"/>
              </a:rPr>
              <a:t>Tập con khó</a:t>
            </a:r>
            <a:endParaRPr lang="en-US" sz="1600" dirty="0"/>
          </a:p>
        </p:txBody>
      </p:sp>
      <p:sp>
        <p:nvSpPr>
          <p:cNvPr id="7" name="Text 5"/>
          <p:cNvSpPr/>
          <p:nvPr/>
        </p:nvSpPr>
        <p:spPr>
          <a:xfrm>
            <a:off x="1003300" y="2550164"/>
            <a:ext cx="311327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431 bản ghi cả GPT-5.5 và Gemini gán nhãn sai · từ chối đúng trên NO (%)</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13460" y="3101339"/>
          <a:ext cx="3012440" cy="1651000"/>
        </p:xfrm>
        <a:graphic>
          <a:graphicData uri="http://schemas.openxmlformats.org/drawingml/2006/table">
            <a:tbl>
              <a:tblPr/>
              <a:tblGrid>
                <a:gridCol w="1325474"/>
                <a:gridCol w="843483"/>
                <a:gridCol w="843483"/>
              </a:tblGrid>
              <a:tr h="330200">
                <a:tc>
                  <a:txBody>
                    <a:bodyPr/>
                    <a:lstStyle/>
                    <a:p>
                      <a:pP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Mô hình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Còn lại</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Khó</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DeepSeek</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82,6</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42,3</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Qwen3.5</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81,3</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34,7</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Gemma</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73,6</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20,6</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Qwen3-8B</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25,4</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6,9</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1003300" y="4866642"/>
            <a:ext cx="3113278"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Ngữ cảnh đánh lừa LLM khi gán nhãn cũng đánh lừa LLM khi trả lời.</a:t>
            </a:r>
            <a:endParaRPr lang="en-US" sz="1200" dirty="0"/>
          </a:p>
        </p:txBody>
      </p:sp>
      <p:sp>
        <p:nvSpPr>
          <p:cNvPr id="10" name="Shape 7"/>
          <p:cNvSpPr/>
          <p:nvPr/>
        </p:nvSpPr>
        <p:spPr>
          <a:xfrm>
            <a:off x="4394200" y="1663700"/>
            <a:ext cx="3403600" cy="3820160"/>
          </a:xfrm>
          <a:prstGeom prst="roundRect">
            <a:avLst>
              <a:gd name="adj" fmla="val 2985"/>
            </a:avLst>
          </a:prstGeom>
          <a:solidFill>
            <a:srgbClr val="FFFFFF"/>
          </a:solidFill>
          <a:ln/>
        </p:spPr>
      </p:sp>
      <p:sp>
        <p:nvSpPr>
          <p:cNvPr id="11" name="Text 8"/>
          <p:cNvSpPr/>
          <p:nvPr/>
        </p:nvSpPr>
        <p:spPr>
          <a:xfrm>
            <a:off x="4584700" y="1854200"/>
            <a:ext cx="31132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EA"/>
                </a:solidFill>
                <a:latin typeface="Be Vietnam Pro" pitchFamily="34" charset="0"/>
                <a:ea typeface="Be Vietnam Pro" pitchFamily="34" charset="-122"/>
                <a:cs typeface="Be Vietnam Pro" pitchFamily="34" charset="-120"/>
              </a:rPr>
              <a:t>02</a:t>
            </a:r>
            <a:endParaRPr lang="en-US" sz="1200" dirty="0"/>
          </a:p>
        </p:txBody>
      </p:sp>
      <p:sp>
        <p:nvSpPr>
          <p:cNvPr id="12" name="Text 9"/>
          <p:cNvSpPr/>
          <p:nvPr/>
        </p:nvSpPr>
        <p:spPr>
          <a:xfrm>
            <a:off x="4584700" y="2181864"/>
            <a:ext cx="311327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Be Vietnam Pro" pitchFamily="34" charset="0"/>
                <a:ea typeface="Be Vietnam Pro" pitchFamily="34" charset="-122"/>
                <a:cs typeface="Be Vietnam Pro" pitchFamily="34" charset="-120"/>
              </a:rPr>
              <a:t>Ít tài liệu hỗ trợ</a:t>
            </a:r>
            <a:endParaRPr lang="en-US" sz="1600" dirty="0"/>
          </a:p>
        </p:txBody>
      </p:sp>
      <p:sp>
        <p:nvSpPr>
          <p:cNvPr id="13" name="Text 10"/>
          <p:cNvSpPr/>
          <p:nvPr/>
        </p:nvSpPr>
        <p:spPr>
          <a:xfrm>
            <a:off x="4584700" y="2550164"/>
            <a:ext cx="31132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Trung thực F (%): 3 tài liệu → 1 tài liệu</a:t>
            </a:r>
            <a:endParaRPr lang="en-US" sz="1200" dirty="0"/>
          </a:p>
        </p:txBody>
      </p:sp>
      <p:graphicFrame>
        <p:nvGraphicFramePr>
          <p:cNvPr id="14" name="Table 1"/>
          <p:cNvGraphicFramePr>
            <a:graphicFrameLocks noGrp="1"/>
          </p:cNvGraphicFramePr>
          <p:nvPr>
            <p:extLst>
              <p:ext uri="{D42A27DB-BD31-4B8C-83A1-F6EECF244321}">
                <p14:modId xmlns:p14="http://schemas.microsoft.com/office/powerpoint/2010/main" val="1579011935"/>
              </p:ext>
            </p:extLst>
          </p:nvPr>
        </p:nvGraphicFramePr>
        <p:xfrm>
          <a:off x="4594860" y="2887981"/>
          <a:ext cx="3012440" cy="1651000"/>
        </p:xfrm>
        <a:graphic>
          <a:graphicData uri="http://schemas.openxmlformats.org/drawingml/2006/table">
            <a:tbl>
              <a:tblPr/>
              <a:tblGrid>
                <a:gridCol w="1325474"/>
                <a:gridCol w="843483"/>
                <a:gridCol w="843483"/>
              </a:tblGrid>
              <a:tr h="330200">
                <a:tc>
                  <a:txBody>
                    <a:bodyPr/>
                    <a:lstStyle/>
                    <a:p>
                      <a:pP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Mô hình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3 tài liệu</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1 tài liệu</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DeepSeek</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80,1</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75,5</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Qwen3.5</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69,0</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61,4</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Gemma</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69,0</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70,3</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Qwen3-8B</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66,4</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60,9</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5" name="Text 11"/>
          <p:cNvSpPr/>
          <p:nvPr/>
        </p:nvSpPr>
        <p:spPr>
          <a:xfrm>
            <a:off x="4584700" y="4653279"/>
            <a:ext cx="3113278"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2 tài liệu gây nhiễu → giảm trung thực ở 3/4 mô hình.</a:t>
            </a:r>
            <a:endParaRPr lang="en-US" sz="1200" dirty="0"/>
          </a:p>
        </p:txBody>
      </p:sp>
      <p:sp>
        <p:nvSpPr>
          <p:cNvPr id="16" name="Shape 12"/>
          <p:cNvSpPr/>
          <p:nvPr/>
        </p:nvSpPr>
        <p:spPr>
          <a:xfrm>
            <a:off x="7975600" y="1663700"/>
            <a:ext cx="3403600" cy="3820160"/>
          </a:xfrm>
          <a:prstGeom prst="roundRect">
            <a:avLst>
              <a:gd name="adj" fmla="val 2985"/>
            </a:avLst>
          </a:prstGeom>
          <a:solidFill>
            <a:srgbClr val="FFFFFF"/>
          </a:solidFill>
          <a:ln/>
        </p:spPr>
      </p:sp>
      <p:sp>
        <p:nvSpPr>
          <p:cNvPr id="17" name="Text 13"/>
          <p:cNvSpPr/>
          <p:nvPr/>
        </p:nvSpPr>
        <p:spPr>
          <a:xfrm>
            <a:off x="8166100" y="1854200"/>
            <a:ext cx="31132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EA"/>
                </a:solidFill>
                <a:latin typeface="Be Vietnam Pro" pitchFamily="34" charset="0"/>
                <a:ea typeface="Be Vietnam Pro" pitchFamily="34" charset="-122"/>
                <a:cs typeface="Be Vietnam Pro" pitchFamily="34" charset="-120"/>
              </a:rPr>
              <a:t>03</a:t>
            </a:r>
            <a:endParaRPr lang="en-US" sz="1200" dirty="0"/>
          </a:p>
        </p:txBody>
      </p:sp>
      <p:sp>
        <p:nvSpPr>
          <p:cNvPr id="18" name="Text 14"/>
          <p:cNvSpPr/>
          <p:nvPr/>
        </p:nvSpPr>
        <p:spPr>
          <a:xfrm>
            <a:off x="8166100" y="2181864"/>
            <a:ext cx="311327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Be Vietnam Pro" pitchFamily="34" charset="0"/>
                <a:ea typeface="Be Vietnam Pro" pitchFamily="34" charset="-122"/>
                <a:cs typeface="Be Vietnam Pro" pitchFamily="34" charset="-120"/>
              </a:rPr>
              <a:t>Ngữ cảnh dài hơn</a:t>
            </a:r>
            <a:endParaRPr lang="en-US" sz="1600" dirty="0"/>
          </a:p>
        </p:txBody>
      </p:sp>
      <p:sp>
        <p:nvSpPr>
          <p:cNvPr id="19" name="Text 15"/>
          <p:cNvSpPr/>
          <p:nvPr/>
        </p:nvSpPr>
        <p:spPr>
          <a:xfrm>
            <a:off x="8166100" y="2550164"/>
            <a:ext cx="311327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Mệnh đề không có căn cứ (%): ngắn nhất → dài nhất</a:t>
            </a:r>
            <a:endParaRPr lang="en-US" sz="1200" dirty="0"/>
          </a:p>
        </p:txBody>
      </p:sp>
      <p:graphicFrame>
        <p:nvGraphicFramePr>
          <p:cNvPr id="20" name="Table 2"/>
          <p:cNvGraphicFramePr>
            <a:graphicFrameLocks noGrp="1"/>
          </p:cNvGraphicFramePr>
          <p:nvPr>
            <p:extLst>
              <p:ext uri="{D42A27DB-BD31-4B8C-83A1-F6EECF244321}">
                <p14:modId xmlns:p14="http://schemas.microsoft.com/office/powerpoint/2010/main" val="1579011935"/>
              </p:ext>
            </p:extLst>
          </p:nvPr>
        </p:nvGraphicFramePr>
        <p:xfrm>
          <a:off x="8176260" y="3101339"/>
          <a:ext cx="3012440" cy="1651000"/>
        </p:xfrm>
        <a:graphic>
          <a:graphicData uri="http://schemas.openxmlformats.org/drawingml/2006/table">
            <a:tbl>
              <a:tblPr/>
              <a:tblGrid>
                <a:gridCol w="1325474"/>
                <a:gridCol w="843483"/>
                <a:gridCol w="843483"/>
              </a:tblGrid>
              <a:tr h="330200">
                <a:tc>
                  <a:txBody>
                    <a:bodyPr/>
                    <a:lstStyle/>
                    <a:p>
                      <a:pP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Mô hình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Ngắn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Dài</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Gemma</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27,1</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33,4</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Qwen3.5</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30,5</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34,3</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DeepSeek</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21,0</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22,8</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Qwen3-8B</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21" name="Text 16"/>
          <p:cNvSpPr/>
          <p:nvPr/>
        </p:nvSpPr>
        <p:spPr>
          <a:xfrm>
            <a:off x="8166100" y="4866642"/>
            <a:ext cx="3113278"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DeepSeek ổn định; Qwen3-8B không có xu hướng rõ.</a:t>
            </a:r>
            <a:endParaRPr lang="en-US" sz="1200" dirty="0"/>
          </a:p>
        </p:txBody>
      </p:sp>
      <p:sp>
        <p:nvSpPr>
          <p:cNvPr id="22" name="Text 17"/>
          <p:cNvSpPr/>
          <p:nvPr/>
        </p:nvSpPr>
        <p:spPr>
          <a:xfrm>
            <a:off x="812800" y="6238242"/>
            <a:ext cx="80307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Seminar luận văn · Đỏ = kém hơn; tương quan độ dài là mô tả, không nhân quả</a:t>
            </a:r>
            <a:endParaRPr lang="en-US" sz="1200" dirty="0"/>
          </a:p>
        </p:txBody>
      </p:sp>
      <p:sp>
        <p:nvSpPr>
          <p:cNvPr id="23" name="Text 18"/>
          <p:cNvSpPr/>
          <p:nvPr/>
        </p:nvSpPr>
        <p:spPr>
          <a:xfrm>
            <a:off x="11169094" y="6238242"/>
            <a:ext cx="21010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BEA"/>
                </a:solidFill>
                <a:latin typeface="Be Vietnam Pro" pitchFamily="34" charset="0"/>
                <a:ea typeface="Be Vietnam Pro" pitchFamily="34" charset="-122"/>
                <a:cs typeface="Be Vietnam Pro" pitchFamily="34" charset="-120"/>
              </a:rPr>
              <a:t>KẾT LUẬN</a:t>
            </a:r>
            <a:endParaRPr lang="en-US" sz="1200" dirty="0"/>
          </a:p>
        </p:txBody>
      </p:sp>
      <p:sp>
        <p:nvSpPr>
          <p:cNvPr id="3" name="Text 1"/>
          <p:cNvSpPr/>
          <p:nvPr>
            <p:ph type="title"/>
          </p:nvPr>
        </p:nvSpPr>
        <p:spPr>
          <a:xfrm>
            <a:off x="812800" y="1000764"/>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Kết luận và hướng phát triển</a:t>
            </a:r>
            <a:endParaRPr lang="en-US" sz="2800" dirty="0"/>
          </a:p>
        </p:txBody>
      </p:sp>
      <p:sp>
        <p:nvSpPr>
          <p:cNvPr id="4" name="Shape 2"/>
          <p:cNvSpPr/>
          <p:nvPr/>
        </p:nvSpPr>
        <p:spPr>
          <a:xfrm>
            <a:off x="812800" y="1638300"/>
            <a:ext cx="10566400" cy="904240"/>
          </a:xfrm>
          <a:prstGeom prst="roundRect">
            <a:avLst>
              <a:gd name="adj" fmla="val 11236"/>
            </a:avLst>
          </a:prstGeom>
          <a:solidFill>
            <a:srgbClr val="14213D"/>
          </a:solidFill>
          <a:ln/>
        </p:spPr>
      </p:sp>
      <p:pic>
        <p:nvPicPr>
          <p:cNvPr id="5" name="Image 0" descr="Lightbulb">    </p:cNvPr>
          <p:cNvPicPr>
            <a:picLocks noChangeAspect="1"/>
          </p:cNvPicPr>
          <p:nvPr/>
        </p:nvPicPr>
        <p:blipFill>
          <a:blip r:embed="rId1"/>
          <a:srcRect l="0" r="0" t="0" b="0"/>
          <a:stretch/>
        </p:blipFill>
        <p:spPr>
          <a:xfrm>
            <a:off x="1041400" y="1938027"/>
            <a:ext cx="304800" cy="304800"/>
          </a:xfrm>
          <a:prstGeom prst="rect">
            <a:avLst/>
          </a:prstGeom>
        </p:spPr>
      </p:pic>
      <p:sp>
        <p:nvSpPr>
          <p:cNvPr id="6" name="Text 3"/>
          <p:cNvSpPr/>
          <p:nvPr/>
        </p:nvSpPr>
        <p:spPr>
          <a:xfrm>
            <a:off x="1498600" y="1816100"/>
            <a:ext cx="9941560"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7F6F2"/>
                </a:solidFill>
                <a:latin typeface="Be Vietnam Pro" pitchFamily="34" charset="0"/>
                <a:ea typeface="Be Vietnam Pro" pitchFamily="34" charset="-122"/>
                <a:cs typeface="Be Vietnam Pro" pitchFamily="34" charset="-120"/>
              </a:rPr>
              <a:t>Đánh giá RAG phải đo </a:t>
            </a:r>
            <a:r>
              <a:rPr lang="en-US" sz="1600" b="1" dirty="0">
                <a:solidFill>
                  <a:srgbClr val="F2B33D"/>
                </a:solidFill>
                <a:latin typeface="Be Vietnam Pro" pitchFamily="34" charset="0"/>
                <a:ea typeface="Be Vietnam Pro" pitchFamily="34" charset="-122"/>
                <a:cs typeface="Be Vietnam Pro" pitchFamily="34" charset="-120"/>
              </a:rPr>
              <a:t>đồng thời</a:t>
            </a:r>
            <a:r>
              <a:rPr lang="en-US" sz="1600" dirty="0">
                <a:solidFill>
                  <a:srgbClr val="F7F6F2"/>
                </a:solidFill>
                <a:latin typeface="Be Vietnam Pro" pitchFamily="34" charset="0"/>
                <a:ea typeface="Be Vietnam Pro" pitchFamily="34" charset="-122"/>
                <a:cs typeface="Be Vietnam Pro" pitchFamily="34" charset="-120"/>
              </a:rPr>
              <a:t> chất lượng câu trả lời có căn cứ và quyết định có nên trả lời hay không.</a:t>
            </a:r>
            <a:endParaRPr lang="en-US" sz="1600" dirty="0"/>
          </a:p>
        </p:txBody>
      </p:sp>
      <p:sp>
        <p:nvSpPr>
          <p:cNvPr id="7" name="Shape 4"/>
          <p:cNvSpPr/>
          <p:nvPr/>
        </p:nvSpPr>
        <p:spPr>
          <a:xfrm>
            <a:off x="812800" y="2771142"/>
            <a:ext cx="3403600" cy="2049780"/>
          </a:xfrm>
          <a:prstGeom prst="roundRect">
            <a:avLst>
              <a:gd name="adj" fmla="val 4957"/>
            </a:avLst>
          </a:prstGeom>
          <a:solidFill>
            <a:srgbClr val="FFFFFF"/>
          </a:solidFill>
          <a:ln/>
        </p:spPr>
      </p:sp>
      <p:sp>
        <p:nvSpPr>
          <p:cNvPr id="8" name="Shape 5"/>
          <p:cNvSpPr/>
          <p:nvPr/>
        </p:nvSpPr>
        <p:spPr>
          <a:xfrm>
            <a:off x="812800" y="2771142"/>
            <a:ext cx="3403600" cy="2049780"/>
          </a:xfrm>
          <a:custGeom>
            <a:avLst/>
            <a:gdLst/>
            <a:ahLst/>
            <a:cxnLst/>
            <a:rect l="l" t="t" r="r" b="b"/>
            <a:pathLst>
              <a:path w="3403600" h="2049780">
                <a:moveTo>
                  <a:pt x="0" y="101600"/>
                </a:moveTo>
                <a:lnTo>
                  <a:pt x="0" y="101600"/>
                </a:lnTo>
                <a:arcTo hR="101600" wR="101600" stAng="10800000" swAng="5400000"/>
                <a:lnTo>
                  <a:pt x="3302000" y="0"/>
                </a:lnTo>
                <a:arcTo hR="101600" wR="101600" stAng="16200000" swAng="5400000"/>
                <a:lnTo>
                  <a:pt x="3403600" y="101600"/>
                </a:lnTo>
                <a:arcTo hR="63500" wR="101600" stAng="0" swAng="-5400000"/>
                <a:lnTo>
                  <a:pt x="101600" y="38100"/>
                </a:lnTo>
                <a:arcTo hR="63500" wR="101600" stAng="16200000" swAng="-5400000"/>
                <a:close/>
              </a:path>
            </a:pathLst>
          </a:custGeom>
          <a:solidFill>
            <a:srgbClr val="2F7D62"/>
          </a:solidFill>
          <a:ln/>
        </p:spPr>
      </p:sp>
      <p:sp>
        <p:nvSpPr>
          <p:cNvPr id="9" name="Text 6"/>
          <p:cNvSpPr/>
          <p:nvPr/>
        </p:nvSpPr>
        <p:spPr>
          <a:xfrm>
            <a:off x="990600" y="2984500"/>
            <a:ext cx="31394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Đóng góp</a:t>
            </a:r>
            <a:endParaRPr lang="en-US" sz="1600" dirty="0"/>
          </a:p>
        </p:txBody>
      </p:sp>
      <p:sp>
        <p:nvSpPr>
          <p:cNvPr id="10" name="Text 7"/>
          <p:cNvSpPr/>
          <p:nvPr/>
        </p:nvSpPr>
        <p:spPr>
          <a:xfrm>
            <a:off x="1089406" y="3317242"/>
            <a:ext cx="3033014" cy="135128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ViFaithRAG: 4.117 truy vấn thực, ngữ cảnh web không lọc, nhãn 4 lớp</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Quy trình LLM hỗ trợ, con người quyết định (κ = 0,744)</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Khung đánh giá tách hai năng lực, kết quả trên 4 LLM</a:t>
            </a:r>
            <a:endParaRPr lang="en-US" sz="1200" dirty="0"/>
          </a:p>
        </p:txBody>
      </p:sp>
      <p:sp>
        <p:nvSpPr>
          <p:cNvPr id="11" name="Shape 8"/>
          <p:cNvSpPr/>
          <p:nvPr/>
        </p:nvSpPr>
        <p:spPr>
          <a:xfrm>
            <a:off x="4394200" y="2771142"/>
            <a:ext cx="3403600" cy="2049780"/>
          </a:xfrm>
          <a:prstGeom prst="roundRect">
            <a:avLst>
              <a:gd name="adj" fmla="val 4957"/>
            </a:avLst>
          </a:prstGeom>
          <a:solidFill>
            <a:srgbClr val="FFFFFF"/>
          </a:solidFill>
          <a:ln/>
        </p:spPr>
      </p:sp>
      <p:sp>
        <p:nvSpPr>
          <p:cNvPr id="12" name="Shape 9"/>
          <p:cNvSpPr/>
          <p:nvPr/>
        </p:nvSpPr>
        <p:spPr>
          <a:xfrm>
            <a:off x="4394200" y="2771142"/>
            <a:ext cx="3403600" cy="2049780"/>
          </a:xfrm>
          <a:custGeom>
            <a:avLst/>
            <a:gdLst/>
            <a:ahLst/>
            <a:cxnLst/>
            <a:rect l="l" t="t" r="r" b="b"/>
            <a:pathLst>
              <a:path w="3403600" h="2049780">
                <a:moveTo>
                  <a:pt x="0" y="101600"/>
                </a:moveTo>
                <a:lnTo>
                  <a:pt x="0" y="101600"/>
                </a:lnTo>
                <a:arcTo hR="101600" wR="101600" stAng="10800000" swAng="5400000"/>
                <a:lnTo>
                  <a:pt x="3302000" y="0"/>
                </a:lnTo>
                <a:arcTo hR="101600" wR="101600" stAng="16200000" swAng="5400000"/>
                <a:lnTo>
                  <a:pt x="3403600" y="101600"/>
                </a:lnTo>
                <a:arcTo hR="63500" wR="101600" stAng="0" swAng="-5400000"/>
                <a:lnTo>
                  <a:pt x="101600" y="38100"/>
                </a:lnTo>
                <a:arcTo hR="63500" wR="101600" stAng="16200000" swAng="-5400000"/>
                <a:close/>
              </a:path>
            </a:pathLst>
          </a:custGeom>
          <a:solidFill>
            <a:srgbClr val="E3A33B"/>
          </a:solidFill>
          <a:ln/>
        </p:spPr>
      </p:sp>
      <p:sp>
        <p:nvSpPr>
          <p:cNvPr id="13" name="Text 10"/>
          <p:cNvSpPr/>
          <p:nvPr/>
        </p:nvSpPr>
        <p:spPr>
          <a:xfrm>
            <a:off x="4572000" y="2984500"/>
            <a:ext cx="31394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Hạn chế</a:t>
            </a:r>
            <a:endParaRPr lang="en-US" sz="1600" dirty="0"/>
          </a:p>
        </p:txBody>
      </p:sp>
      <p:sp>
        <p:nvSpPr>
          <p:cNvPr id="14" name="Text 11"/>
          <p:cNvSpPr/>
          <p:nvPr/>
        </p:nvSpPr>
        <p:spPr>
          <a:xfrm>
            <a:off x="4670806" y="3317242"/>
            <a:ext cx="3033014" cy="113030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Một cấu hình truy xuất, một thời điểm (web 2025)</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Lớp AMBIGUOUS nhỏ (48 bản ghi)</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Giám khảo dựa trên tham chiếu; 4 mô hình, 1 lời nhắc</a:t>
            </a:r>
            <a:endParaRPr lang="en-US" sz="1200" dirty="0"/>
          </a:p>
        </p:txBody>
      </p:sp>
      <p:sp>
        <p:nvSpPr>
          <p:cNvPr id="15" name="Shape 12"/>
          <p:cNvSpPr/>
          <p:nvPr/>
        </p:nvSpPr>
        <p:spPr>
          <a:xfrm>
            <a:off x="7975600" y="2771142"/>
            <a:ext cx="3403600" cy="2049780"/>
          </a:xfrm>
          <a:prstGeom prst="roundRect">
            <a:avLst>
              <a:gd name="adj" fmla="val 4957"/>
            </a:avLst>
          </a:prstGeom>
          <a:solidFill>
            <a:srgbClr val="FFFFFF"/>
          </a:solidFill>
          <a:ln/>
        </p:spPr>
      </p:sp>
      <p:sp>
        <p:nvSpPr>
          <p:cNvPr id="16" name="Shape 13"/>
          <p:cNvSpPr/>
          <p:nvPr/>
        </p:nvSpPr>
        <p:spPr>
          <a:xfrm>
            <a:off x="7975600" y="2771142"/>
            <a:ext cx="3403600" cy="2049780"/>
          </a:xfrm>
          <a:custGeom>
            <a:avLst/>
            <a:gdLst/>
            <a:ahLst/>
            <a:cxnLst/>
            <a:rect l="l" t="t" r="r" b="b"/>
            <a:pathLst>
              <a:path w="3403600" h="2049780">
                <a:moveTo>
                  <a:pt x="0" y="101600"/>
                </a:moveTo>
                <a:lnTo>
                  <a:pt x="0" y="101600"/>
                </a:lnTo>
                <a:arcTo hR="101600" wR="101600" stAng="10800000" swAng="5400000"/>
                <a:lnTo>
                  <a:pt x="3302000" y="0"/>
                </a:lnTo>
                <a:arcTo hR="101600" wR="101600" stAng="16200000" swAng="5400000"/>
                <a:lnTo>
                  <a:pt x="3403600" y="101600"/>
                </a:lnTo>
                <a:arcTo hR="63500" wR="101600" stAng="0" swAng="-5400000"/>
                <a:lnTo>
                  <a:pt x="101600" y="38100"/>
                </a:lnTo>
                <a:arcTo hR="63500" wR="101600" stAng="16200000" swAng="-5400000"/>
                <a:close/>
              </a:path>
            </a:pathLst>
          </a:custGeom>
          <a:solidFill>
            <a:srgbClr val="2F5BEA"/>
          </a:solidFill>
          <a:ln/>
        </p:spPr>
      </p:sp>
      <p:sp>
        <p:nvSpPr>
          <p:cNvPr id="17" name="Text 14"/>
          <p:cNvSpPr/>
          <p:nvPr/>
        </p:nvSpPr>
        <p:spPr>
          <a:xfrm>
            <a:off x="8153400" y="2984500"/>
            <a:ext cx="31394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Hướng phát triển</a:t>
            </a:r>
            <a:endParaRPr lang="en-US" sz="1600" dirty="0"/>
          </a:p>
        </p:txBody>
      </p:sp>
      <p:sp>
        <p:nvSpPr>
          <p:cNvPr id="18" name="Text 15"/>
          <p:cNvSpPr/>
          <p:nvPr/>
        </p:nvSpPr>
        <p:spPr>
          <a:xfrm>
            <a:off x="8252206" y="3317242"/>
            <a:ext cx="3033014" cy="90932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Lọc tài liệu trước khi sinh</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Mở rộng dữ liệu và chú thích</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Hỏi đáp trên PDF, dữ liệu JSON</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Mô hình nhẹ dự đoán khả năng trả lời</a:t>
            </a:r>
            <a:endParaRPr lang="en-US" sz="1200" dirty="0"/>
          </a:p>
        </p:txBody>
      </p:sp>
      <p:sp>
        <p:nvSpPr>
          <p:cNvPr id="19" name="Text 16"/>
          <p:cNvSpPr/>
          <p:nvPr/>
        </p:nvSpPr>
        <p:spPr>
          <a:xfrm>
            <a:off x="812800" y="6238242"/>
            <a:ext cx="521360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EA"/>
                </a:solidFill>
                <a:latin typeface="Be Vietnam Pro" pitchFamily="34" charset="0"/>
                <a:ea typeface="Be Vietnam Pro" pitchFamily="34" charset="-122"/>
                <a:cs typeface="Be Vietnam Pro" pitchFamily="34" charset="-120"/>
              </a:rPr>
              <a:t>Dữ liệu &amp; mã nguồn: github.com/thanhdat00/ViFaithRAG</a:t>
            </a:r>
            <a:endParaRPr lang="en-US" sz="1200" dirty="0"/>
          </a:p>
        </p:txBody>
      </p:sp>
      <p:sp>
        <p:nvSpPr>
          <p:cNvPr id="20" name="Text 17"/>
          <p:cNvSpPr/>
          <p:nvPr/>
        </p:nvSpPr>
        <p:spPr>
          <a:xfrm>
            <a:off x="11166078" y="6238242"/>
            <a:ext cx="21312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034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9DB4FF"/>
                </a:solidFill>
                <a:latin typeface="Be Vietnam Pro" pitchFamily="34" charset="0"/>
                <a:ea typeface="Be Vietnam Pro" pitchFamily="34" charset="-122"/>
                <a:cs typeface="Be Vietnam Pro" pitchFamily="34" charset="-120"/>
              </a:rPr>
              <a:t>VIFAITHRAG</a:t>
            </a:r>
            <a:endParaRPr lang="en-US" sz="1300" dirty="0"/>
          </a:p>
        </p:txBody>
      </p:sp>
      <p:sp>
        <p:nvSpPr>
          <p:cNvPr id="3" name="Text 1"/>
          <p:cNvSpPr/>
          <p:nvPr>
            <p:ph type="title"/>
          </p:nvPr>
        </p:nvSpPr>
        <p:spPr>
          <a:xfrm>
            <a:off x="812800" y="2288542"/>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Be Vietnam Pro" pitchFamily="34" charset="0"/>
                <a:ea typeface="Be Vietnam Pro" pitchFamily="34" charset="-122"/>
                <a:cs typeface="Be Vietnam Pro" pitchFamily="34" charset="-120"/>
              </a:rPr>
              <a:t>Cảm ơn quý Thầy Cô</a:t>
            </a:r>
            <a:endParaRPr lang="en-US" sz="6000" dirty="0"/>
          </a:p>
          <a:p>
            <a:pPr algn="l" indent="0" marL="0">
              <a:lnSpc>
                <a:spcPts val="6300"/>
              </a:lnSpc>
              <a:buNone/>
            </a:pPr>
            <a:r>
              <a:rPr lang="en-US" sz="6000" b="1" i="0" dirty="0">
                <a:solidFill>
                  <a:srgbClr val="F7F6F2"/>
                </a:solidFill>
                <a:latin typeface="Be Vietnam Pro" pitchFamily="34" charset="0"/>
                <a:ea typeface="Be Vietnam Pro" pitchFamily="34" charset="-122"/>
                <a:cs typeface="Be Vietnam Pro" pitchFamily="34" charset="-120"/>
              </a:rPr>
              <a:t>và các bạn</a:t>
            </a:r>
            <a:endParaRPr lang="en-US" sz="6000" dirty="0"/>
          </a:p>
        </p:txBody>
      </p:sp>
      <p:sp>
        <p:nvSpPr>
          <p:cNvPr id="4" name="Text 2"/>
          <p:cNvSpPr/>
          <p:nvPr/>
        </p:nvSpPr>
        <p:spPr>
          <a:xfrm>
            <a:off x="812800" y="4142742"/>
            <a:ext cx="1088339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B33D"/>
                </a:solidFill>
                <a:latin typeface="Be Vietnam Pro" pitchFamily="34" charset="0"/>
                <a:ea typeface="Be Vietnam Pro" pitchFamily="34" charset="-122"/>
                <a:cs typeface="Be Vietnam Pro" pitchFamily="34" charset="-120"/>
              </a:rPr>
              <a:t>Hỏi &amp; đáp</a:t>
            </a:r>
            <a:endParaRPr lang="en-US" sz="2200" dirty="0"/>
          </a:p>
        </p:txBody>
      </p:sp>
      <p:pic>
        <p:nvPicPr>
          <p:cNvPr id="5" name="Image 0" descr="Code">    </p:cNvPr>
          <p:cNvPicPr>
            <a:picLocks noChangeAspect="1"/>
          </p:cNvPicPr>
          <p:nvPr/>
        </p:nvPicPr>
        <p:blipFill>
          <a:blip r:embed="rId1"/>
          <a:srcRect l="0" r="0" t="0" b="0"/>
          <a:stretch/>
        </p:blipFill>
        <p:spPr>
          <a:xfrm>
            <a:off x="812800" y="4806950"/>
            <a:ext cx="228600" cy="228600"/>
          </a:xfrm>
          <a:prstGeom prst="rect">
            <a:avLst/>
          </a:prstGeom>
        </p:spPr>
      </p:pic>
      <p:sp>
        <p:nvSpPr>
          <p:cNvPr id="6" name="Text 3"/>
          <p:cNvSpPr/>
          <p:nvPr/>
        </p:nvSpPr>
        <p:spPr>
          <a:xfrm>
            <a:off x="1143000" y="4787900"/>
            <a:ext cx="413680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CE3F0"/>
                </a:solidFill>
                <a:latin typeface="Be Vietnam Pro" pitchFamily="34" charset="0"/>
                <a:ea typeface="Be Vietnam Pro" pitchFamily="34" charset="-122"/>
                <a:cs typeface="Be Vietnam Pro" pitchFamily="34" charset="-120"/>
              </a:rPr>
              <a:t>github.com/thanhdat00/ViFaithRAG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8494"/>
                </a:solidFill>
                <a:latin typeface="Be Vietnam Pro" pitchFamily="34" charset="0"/>
                <a:ea typeface="Be Vietnam Pro" pitchFamily="34" charset="-122"/>
                <a:cs typeface="Be Vietnam Pro" pitchFamily="34" charset="-120"/>
              </a:rPr>
              <a:t>PHỤ LỤC A</a:t>
            </a:r>
            <a:endParaRPr lang="en-US" sz="1200" dirty="0"/>
          </a:p>
        </p:txBody>
      </p:sp>
      <p:sp>
        <p:nvSpPr>
          <p:cNvPr id="3" name="Text 1"/>
          <p:cNvSpPr/>
          <p:nvPr>
            <p:ph type="title"/>
          </p:nvPr>
        </p:nvSpPr>
        <p:spPr>
          <a:xfrm>
            <a:off x="812800" y="10007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Kết quả đầy đủ trên bốn mô hình (%)</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73860"/>
          <a:ext cx="10556240" cy="1784350"/>
        </p:xfrm>
        <a:graphic>
          <a:graphicData uri="http://schemas.openxmlformats.org/drawingml/2006/table">
            <a:tbl>
              <a:tblPr/>
              <a:tblGrid>
                <a:gridCol w="2322373"/>
                <a:gridCol w="950062"/>
                <a:gridCol w="950062"/>
                <a:gridCol w="950062"/>
                <a:gridCol w="950062"/>
                <a:gridCol w="950062"/>
                <a:gridCol w="950062"/>
                <a:gridCol w="844499"/>
                <a:gridCol w="844499"/>
                <a:gridCol w="844499"/>
              </a:tblGrid>
              <a:tr h="356870">
                <a:tc>
                  <a:txBody>
                    <a:bodyPr/>
                    <a:lstStyle/>
                    <a:p>
                      <a:pP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Mô hình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algn="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F</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algn="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algn="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F–C F1</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algn="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SVR ↓</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algn="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OAR ↓</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algn="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P abs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algn="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R abs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algn="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F1 abs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algn="r" indent="0" marL="0">
                        <a:lnSpc>
                          <a:spcPts val="1820"/>
                        </a:lnSpc>
                        <a:buNone/>
                      </a:pPr>
                      <a:r>
                        <a:rPr lang="en-US" sz="1300" b="1" dirty="0">
                          <a:solidFill>
                            <a:srgbClr val="1E2A3B"/>
                          </a:solidFill>
                          <a:latin typeface="Be Vietnam Pro" pitchFamily="34" charset="0"/>
                          <a:ea typeface="Be Vietnam Pro" pitchFamily="34" charset="-122"/>
                          <a:cs typeface="Be Vietnam Pro" pitchFamily="34" charset="-120"/>
                        </a:rPr>
                        <a:t>CR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r>
              <a:tr h="356870">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DeepSeek-V4-Flash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78,54</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63,79</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70,40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22,39</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4,39</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86,76</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71,62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78,47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47,92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Qwen3.5-397B-A17B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67,37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77,74</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72,18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35,52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1,58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94,59</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68,63</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79,55</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52,08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Gemma-4-31B-IT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69,89</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84,97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76,70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32,54</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0,86</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96,50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59,20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73,38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41,67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Qwen3-8B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64,92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60,03</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62,38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59,40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0,90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90,08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20,35</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33,21</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Be Vietnam Pro" pitchFamily="34" charset="0"/>
                          <a:ea typeface="Be Vietnam Pro" pitchFamily="34" charset="-122"/>
                          <a:cs typeface="Be Vietnam Pro" pitchFamily="34" charset="-120"/>
                        </a:rPr>
                        <a:t>18,75</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bl>
          </a:graphicData>
        </a:graphic>
      </p:graphicFrame>
      <p:sp>
        <p:nvSpPr>
          <p:cNvPr id="5" name="Text 2"/>
          <p:cNvSpPr/>
          <p:nvPr/>
        </p:nvSpPr>
        <p:spPr>
          <a:xfrm>
            <a:off x="812800" y="3712208"/>
            <a:ext cx="10883392" cy="24638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4A5568"/>
                </a:solidFill>
                <a:latin typeface="Be Vietnam Pro" pitchFamily="34" charset="0"/>
                <a:ea typeface="Be Vietnam Pro" pitchFamily="34" charset="-122"/>
                <a:cs typeface="Be Vietnam Pro" pitchFamily="34" charset="-120"/>
              </a:rPr>
              <a:t>F, C, F–C F1:</a:t>
            </a:r>
            <a:r>
              <a:rPr lang="en-US" sz="1200" dirty="0">
                <a:solidFill>
                  <a:srgbClr val="4A5568"/>
                </a:solidFill>
                <a:latin typeface="Be Vietnam Pro" pitchFamily="34" charset="0"/>
                <a:ea typeface="Be Vietnam Pro" pitchFamily="34" charset="-122"/>
                <a:cs typeface="Be Vietnam Pro" pitchFamily="34" charset="-120"/>
              </a:rPr>
              <a:t> trung thực, đầy đủ và trung bình điều hòa trên 2.998 bản ghi YES/PARTIAL.</a:t>
            </a:r>
            <a:endParaRPr lang="en-US" sz="1200" dirty="0"/>
          </a:p>
        </p:txBody>
      </p:sp>
      <p:sp>
        <p:nvSpPr>
          <p:cNvPr id="6" name="Text 3"/>
          <p:cNvSpPr/>
          <p:nvPr/>
        </p:nvSpPr>
        <p:spPr>
          <a:xfrm>
            <a:off x="812800" y="3996692"/>
            <a:ext cx="10883392" cy="467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4A5568"/>
                </a:solidFill>
                <a:latin typeface="Be Vietnam Pro" pitchFamily="34" charset="0"/>
                <a:ea typeface="Be Vietnam Pro" pitchFamily="34" charset="-122"/>
                <a:cs typeface="Be Vietnam Pro" pitchFamily="34" charset="-120"/>
              </a:rPr>
              <a:t>SVR:</a:t>
            </a:r>
            <a:r>
              <a:rPr lang="en-US" sz="1200" dirty="0">
                <a:solidFill>
                  <a:srgbClr val="4A5568"/>
                </a:solidFill>
                <a:latin typeface="Be Vietnam Pro" pitchFamily="34" charset="0"/>
                <a:ea typeface="Be Vietnam Pro" pitchFamily="34" charset="-122"/>
                <a:cs typeface="Be Vietnam Pro" pitchFamily="34" charset="-120"/>
              </a:rPr>
              <a:t> vi phạm phạm vi trên 335 PARTIAL · </a:t>
            </a:r>
            <a:r>
              <a:rPr lang="en-US" sz="1200" b="1" dirty="0">
                <a:solidFill>
                  <a:srgbClr val="4A5568"/>
                </a:solidFill>
                <a:latin typeface="Be Vietnam Pro" pitchFamily="34" charset="0"/>
                <a:ea typeface="Be Vietnam Pro" pitchFamily="34" charset="-122"/>
                <a:cs typeface="Be Vietnam Pro" pitchFamily="34" charset="-120"/>
              </a:rPr>
              <a:t>OAR:</a:t>
            </a:r>
            <a:r>
              <a:rPr lang="en-US" sz="1200" dirty="0">
                <a:solidFill>
                  <a:srgbClr val="4A5568"/>
                </a:solidFill>
                <a:latin typeface="Be Vietnam Pro" pitchFamily="34" charset="0"/>
                <a:ea typeface="Be Vietnam Pro" pitchFamily="34" charset="-122"/>
                <a:cs typeface="Be Vietnam Pro" pitchFamily="34" charset="-120"/>
              </a:rPr>
              <a:t> từ chối thừa trên 2.663 YES · </a:t>
            </a:r>
            <a:r>
              <a:rPr lang="en-US" sz="1200" b="1" dirty="0">
                <a:solidFill>
                  <a:srgbClr val="4A5568"/>
                </a:solidFill>
                <a:latin typeface="Be Vietnam Pro" pitchFamily="34" charset="0"/>
                <a:ea typeface="Be Vietnam Pro" pitchFamily="34" charset="-122"/>
                <a:cs typeface="Be Vietnam Pro" pitchFamily="34" charset="-120"/>
              </a:rPr>
              <a:t>P/R/F1 abs:</a:t>
            </a:r>
            <a:r>
              <a:rPr lang="en-US" sz="1200" dirty="0">
                <a:solidFill>
                  <a:srgbClr val="4A5568"/>
                </a:solidFill>
                <a:latin typeface="Be Vietnam Pro" pitchFamily="34" charset="0"/>
                <a:ea typeface="Be Vietnam Pro" pitchFamily="34" charset="-122"/>
                <a:cs typeface="Be Vietnam Pro" pitchFamily="34" charset="-120"/>
              </a:rPr>
              <a:t> từ chối trên YES + 1.071 NO · </a:t>
            </a:r>
            <a:r>
              <a:rPr lang="en-US" sz="1200" b="1" dirty="0">
                <a:solidFill>
                  <a:srgbClr val="4A5568"/>
                </a:solidFill>
                <a:latin typeface="Be Vietnam Pro" pitchFamily="34" charset="0"/>
                <a:ea typeface="Be Vietnam Pro" pitchFamily="34" charset="-122"/>
                <a:cs typeface="Be Vietnam Pro" pitchFamily="34" charset="-120"/>
              </a:rPr>
              <a:t>CR:</a:t>
            </a:r>
            <a:r>
              <a:rPr lang="en-US" sz="1200" dirty="0">
                <a:solidFill>
                  <a:srgbClr val="4A5568"/>
                </a:solidFill>
                <a:latin typeface="Be Vietnam Pro" pitchFamily="34" charset="0"/>
                <a:ea typeface="Be Vietnam Pro" pitchFamily="34" charset="-122"/>
                <a:cs typeface="Be Vietnam Pro" pitchFamily="34" charset="-120"/>
              </a:rPr>
              <a:t> làm rõ trên 48 AMBIGUOUS.</a:t>
            </a:r>
            <a:endParaRPr lang="en-US" sz="1200" dirty="0"/>
          </a:p>
        </p:txBody>
      </p:sp>
      <p:sp>
        <p:nvSpPr>
          <p:cNvPr id="7" name="Text 4"/>
          <p:cNvSpPr/>
          <p:nvPr/>
        </p:nvSpPr>
        <p:spPr>
          <a:xfrm>
            <a:off x="812800" y="4502150"/>
            <a:ext cx="10883392"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Be Vietnam Pro" pitchFamily="34" charset="0"/>
                <a:ea typeface="Be Vietnam Pro" pitchFamily="34" charset="-122"/>
                <a:cs typeface="Be Vietnam Pro" pitchFamily="34" charset="-120"/>
              </a:rPr>
              <a:t>Chữ đậm = ước lượng điểm tốt nhất; một số khoảng tin cậy Wilson 95% chồng lấn.</a:t>
            </a:r>
            <a:endParaRPr lang="en-US" sz="1200" dirty="0"/>
          </a:p>
        </p:txBody>
      </p:sp>
      <p:sp>
        <p:nvSpPr>
          <p:cNvPr id="8" name="Text 5"/>
          <p:cNvSpPr/>
          <p:nvPr/>
        </p:nvSpPr>
        <p:spPr>
          <a:xfrm>
            <a:off x="812800" y="6238242"/>
            <a:ext cx="4634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Phụ lục · Bảng 5.7 và 5.9 trong luận văn</a:t>
            </a:r>
            <a:endParaRPr lang="en-US" sz="1200" dirty="0"/>
          </a:p>
        </p:txBody>
      </p:sp>
      <p:sp>
        <p:nvSpPr>
          <p:cNvPr id="9" name="Text 6"/>
          <p:cNvSpPr/>
          <p:nvPr/>
        </p:nvSpPr>
        <p:spPr>
          <a:xfrm>
            <a:off x="11216164" y="6238242"/>
            <a:ext cx="16303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A</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8494"/>
                </a:solidFill>
                <a:latin typeface="Be Vietnam Pro" pitchFamily="34" charset="0"/>
                <a:ea typeface="Be Vietnam Pro" pitchFamily="34" charset="-122"/>
                <a:cs typeface="Be Vietnam Pro" pitchFamily="34" charset="-120"/>
              </a:rPr>
              <a:t>PHỤ LỤC B · BÁO CÁO PHỤ</a:t>
            </a:r>
            <a:endParaRPr lang="en-US" sz="1200" dirty="0"/>
          </a:p>
        </p:txBody>
      </p:sp>
      <p:sp>
        <p:nvSpPr>
          <p:cNvPr id="3" name="Text 1"/>
          <p:cNvSpPr/>
          <p:nvPr>
            <p:ph type="title"/>
          </p:nvPr>
        </p:nvSpPr>
        <p:spPr>
          <a:xfrm>
            <a:off x="812800" y="10007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Mức khớp giữa nhãn gợi ý của LLM và nhãn cuối</a:t>
            </a:r>
            <a:endParaRPr lang="en-US" sz="2800" dirty="0"/>
          </a:p>
        </p:txBody>
      </p:sp>
      <p:sp>
        <p:nvSpPr>
          <p:cNvPr id="4" name="Text 2"/>
          <p:cNvSpPr/>
          <p:nvPr/>
        </p:nvSpPr>
        <p:spPr>
          <a:xfrm>
            <a:off x="812800" y="1689100"/>
            <a:ext cx="62244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Theo lớp nhãn của con người (%) · </a:t>
            </a:r>
            <a:r>
              <a:rPr lang="en-US" sz="1200" dirty="0">
                <a:solidFill>
                  <a:srgbClr val="2F5BEA"/>
                </a:solidFill>
                <a:latin typeface="Be Vietnam Pro" pitchFamily="34" charset="0"/>
                <a:ea typeface="Be Vietnam Pro" pitchFamily="34" charset="-122"/>
                <a:cs typeface="Be Vietnam Pro" pitchFamily="34" charset="-120"/>
              </a:rPr>
              <a:t>■</a:t>
            </a:r>
            <a:r>
              <a:rPr lang="en-US" sz="1200" dirty="0">
                <a:solidFill>
                  <a:srgbClr val="4A5568"/>
                </a:solidFill>
                <a:latin typeface="Be Vietnam Pro" pitchFamily="34" charset="0"/>
                <a:ea typeface="Be Vietnam Pro" pitchFamily="34" charset="-122"/>
                <a:cs typeface="Be Vietnam Pro" pitchFamily="34" charset="-120"/>
              </a:rPr>
              <a:t> Gemini 3.1 Pro </a:t>
            </a:r>
            <a:r>
              <a:rPr lang="en-US" sz="1200" dirty="0">
                <a:solidFill>
                  <a:srgbClr val="E07B39"/>
                </a:solidFill>
                <a:latin typeface="Be Vietnam Pro" pitchFamily="34" charset="0"/>
                <a:ea typeface="Be Vietnam Pro" pitchFamily="34" charset="-122"/>
                <a:cs typeface="Be Vietnam Pro" pitchFamily="34" charset="-120"/>
              </a:rPr>
              <a:t>■</a:t>
            </a:r>
            <a:r>
              <a:rPr lang="en-US" sz="1200" dirty="0">
                <a:solidFill>
                  <a:srgbClr val="4A5568"/>
                </a:solidFill>
                <a:latin typeface="Be Vietnam Pro" pitchFamily="34" charset="0"/>
                <a:ea typeface="Be Vietnam Pro" pitchFamily="34" charset="-122"/>
                <a:cs typeface="Be Vietnam Pro" pitchFamily="34" charset="-120"/>
              </a:rPr>
              <a:t> GPT-5.5</a:t>
            </a:r>
            <a:endParaRPr lang="en-US" sz="1200" dirty="0"/>
          </a:p>
        </p:txBody>
      </p:sp>
      <p:sp>
        <p:nvSpPr>
          <p:cNvPr id="5" name="Text 3"/>
          <p:cNvSpPr/>
          <p:nvPr/>
        </p:nvSpPr>
        <p:spPr>
          <a:xfrm>
            <a:off x="812800" y="2197100"/>
            <a:ext cx="1384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7D62"/>
                </a:solidFill>
                <a:latin typeface="Be Vietnam Pro" pitchFamily="34" charset="0"/>
                <a:ea typeface="Be Vietnam Pro" pitchFamily="34" charset="-122"/>
                <a:cs typeface="Be Vietnam Pro" pitchFamily="34" charset="-120"/>
              </a:rPr>
              <a:t>YES</a:t>
            </a:r>
            <a:endParaRPr lang="en-US" sz="1400" dirty="0"/>
          </a:p>
        </p:txBody>
      </p:sp>
      <p:sp>
        <p:nvSpPr>
          <p:cNvPr id="6" name="Shape 4"/>
          <p:cNvSpPr/>
          <p:nvPr/>
        </p:nvSpPr>
        <p:spPr>
          <a:xfrm>
            <a:off x="2298700" y="2067558"/>
            <a:ext cx="3606800" cy="228600"/>
          </a:xfrm>
          <a:custGeom>
            <a:avLst/>
            <a:gdLst/>
            <a:ahLst/>
            <a:cxnLst/>
            <a:rect l="l" t="t" r="r" b="b"/>
            <a:pathLst>
              <a:path w="3606800" h="228600">
                <a:moveTo>
                  <a:pt x="0" y="0"/>
                </a:moveTo>
                <a:lnTo>
                  <a:pt x="3568700" y="0"/>
                </a:lnTo>
                <a:arcTo hR="38100" wR="38100" stAng="16200000" swAng="5400000"/>
                <a:lnTo>
                  <a:pt x="3606800" y="190500"/>
                </a:lnTo>
                <a:arcTo hR="38100" wR="38100" stAng="0" swAng="5400000"/>
                <a:lnTo>
                  <a:pt x="0" y="228600"/>
                </a:lnTo>
                <a:lnTo>
                  <a:pt x="0" y="0"/>
                </a:lnTo>
                <a:close/>
              </a:path>
            </a:pathLst>
          </a:custGeom>
          <a:solidFill>
            <a:srgbClr val="2F5BEA"/>
          </a:solidFill>
          <a:ln/>
        </p:spPr>
      </p:sp>
      <p:sp>
        <p:nvSpPr>
          <p:cNvPr id="7" name="Text 5"/>
          <p:cNvSpPr/>
          <p:nvPr/>
        </p:nvSpPr>
        <p:spPr>
          <a:xfrm>
            <a:off x="6007100" y="2075185"/>
            <a:ext cx="4274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94,7</a:t>
            </a:r>
            <a:endParaRPr lang="en-US" sz="1200" dirty="0"/>
          </a:p>
        </p:txBody>
      </p:sp>
      <p:sp>
        <p:nvSpPr>
          <p:cNvPr id="8" name="Shape 6"/>
          <p:cNvSpPr/>
          <p:nvPr/>
        </p:nvSpPr>
        <p:spPr>
          <a:xfrm>
            <a:off x="2298700" y="2346958"/>
            <a:ext cx="3695700" cy="228600"/>
          </a:xfrm>
          <a:custGeom>
            <a:avLst/>
            <a:gdLst/>
            <a:ahLst/>
            <a:cxnLst/>
            <a:rect l="l" t="t" r="r" b="b"/>
            <a:pathLst>
              <a:path w="3695700" h="228600">
                <a:moveTo>
                  <a:pt x="0" y="0"/>
                </a:moveTo>
                <a:lnTo>
                  <a:pt x="3657600" y="0"/>
                </a:lnTo>
                <a:arcTo hR="38100" wR="38100" stAng="16200000" swAng="5400000"/>
                <a:lnTo>
                  <a:pt x="3695700" y="190500"/>
                </a:lnTo>
                <a:arcTo hR="38100" wR="38100" stAng="0" swAng="5400000"/>
                <a:lnTo>
                  <a:pt x="0" y="228600"/>
                </a:lnTo>
                <a:lnTo>
                  <a:pt x="0" y="0"/>
                </a:lnTo>
                <a:close/>
              </a:path>
            </a:pathLst>
          </a:custGeom>
          <a:solidFill>
            <a:srgbClr val="E07B39"/>
          </a:solidFill>
          <a:ln/>
        </p:spPr>
      </p:sp>
      <p:sp>
        <p:nvSpPr>
          <p:cNvPr id="9" name="Text 7"/>
          <p:cNvSpPr/>
          <p:nvPr/>
        </p:nvSpPr>
        <p:spPr>
          <a:xfrm>
            <a:off x="6096000" y="2354585"/>
            <a:ext cx="42595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97,0</a:t>
            </a:r>
            <a:endParaRPr lang="en-US" sz="1200" dirty="0"/>
          </a:p>
        </p:txBody>
      </p:sp>
      <p:sp>
        <p:nvSpPr>
          <p:cNvPr id="10" name="Text 8"/>
          <p:cNvSpPr/>
          <p:nvPr/>
        </p:nvSpPr>
        <p:spPr>
          <a:xfrm>
            <a:off x="812800" y="2870200"/>
            <a:ext cx="1384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6408"/>
                </a:solidFill>
                <a:latin typeface="Be Vietnam Pro" pitchFamily="34" charset="0"/>
                <a:ea typeface="Be Vietnam Pro" pitchFamily="34" charset="-122"/>
                <a:cs typeface="Be Vietnam Pro" pitchFamily="34" charset="-120"/>
              </a:rPr>
              <a:t>PARTIAL</a:t>
            </a:r>
            <a:endParaRPr lang="en-US" sz="1400" dirty="0"/>
          </a:p>
        </p:txBody>
      </p:sp>
      <p:sp>
        <p:nvSpPr>
          <p:cNvPr id="11" name="Shape 9"/>
          <p:cNvSpPr/>
          <p:nvPr/>
        </p:nvSpPr>
        <p:spPr>
          <a:xfrm>
            <a:off x="2298700" y="2740658"/>
            <a:ext cx="1943100" cy="228600"/>
          </a:xfrm>
          <a:custGeom>
            <a:avLst/>
            <a:gdLst/>
            <a:ahLst/>
            <a:cxnLst/>
            <a:rect l="l" t="t" r="r" b="b"/>
            <a:pathLst>
              <a:path w="1943100" h="228600">
                <a:moveTo>
                  <a:pt x="0" y="0"/>
                </a:moveTo>
                <a:lnTo>
                  <a:pt x="1905000" y="0"/>
                </a:lnTo>
                <a:arcTo hR="38100" wR="38100" stAng="16200000" swAng="5400000"/>
                <a:lnTo>
                  <a:pt x="1943100" y="190500"/>
                </a:lnTo>
                <a:arcTo hR="38100" wR="38100" stAng="0" swAng="5400000"/>
                <a:lnTo>
                  <a:pt x="0" y="228600"/>
                </a:lnTo>
                <a:lnTo>
                  <a:pt x="0" y="0"/>
                </a:lnTo>
                <a:close/>
              </a:path>
            </a:pathLst>
          </a:custGeom>
          <a:solidFill>
            <a:srgbClr val="2F5BEA"/>
          </a:solidFill>
          <a:ln/>
        </p:spPr>
      </p:sp>
      <p:sp>
        <p:nvSpPr>
          <p:cNvPr id="12" name="Text 10"/>
          <p:cNvSpPr/>
          <p:nvPr/>
        </p:nvSpPr>
        <p:spPr>
          <a:xfrm>
            <a:off x="4343400" y="2748285"/>
            <a:ext cx="38642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51,0</a:t>
            </a:r>
            <a:endParaRPr lang="en-US" sz="1200" dirty="0"/>
          </a:p>
        </p:txBody>
      </p:sp>
      <p:sp>
        <p:nvSpPr>
          <p:cNvPr id="13" name="Shape 11"/>
          <p:cNvSpPr/>
          <p:nvPr/>
        </p:nvSpPr>
        <p:spPr>
          <a:xfrm>
            <a:off x="2298700" y="3020058"/>
            <a:ext cx="1822450" cy="228600"/>
          </a:xfrm>
          <a:custGeom>
            <a:avLst/>
            <a:gdLst/>
            <a:ahLst/>
            <a:cxnLst/>
            <a:rect l="l" t="t" r="r" b="b"/>
            <a:pathLst>
              <a:path w="1822450" h="228600">
                <a:moveTo>
                  <a:pt x="0" y="0"/>
                </a:moveTo>
                <a:lnTo>
                  <a:pt x="1784350" y="0"/>
                </a:lnTo>
                <a:arcTo hR="38100" wR="38100" stAng="16200000" swAng="5400000"/>
                <a:lnTo>
                  <a:pt x="1822450" y="190500"/>
                </a:lnTo>
                <a:arcTo hR="38100" wR="38100" stAng="0" swAng="5400000"/>
                <a:lnTo>
                  <a:pt x="0" y="228600"/>
                </a:lnTo>
                <a:lnTo>
                  <a:pt x="0" y="0"/>
                </a:lnTo>
                <a:close/>
              </a:path>
            </a:pathLst>
          </a:custGeom>
          <a:solidFill>
            <a:srgbClr val="E07B39"/>
          </a:solidFill>
          <a:ln/>
        </p:spPr>
      </p:sp>
      <p:sp>
        <p:nvSpPr>
          <p:cNvPr id="14" name="Text 12"/>
          <p:cNvSpPr/>
          <p:nvPr/>
        </p:nvSpPr>
        <p:spPr>
          <a:xfrm>
            <a:off x="4222750" y="3027685"/>
            <a:ext cx="4140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47,8</a:t>
            </a:r>
            <a:endParaRPr lang="en-US" sz="1200" dirty="0"/>
          </a:p>
        </p:txBody>
      </p:sp>
      <p:sp>
        <p:nvSpPr>
          <p:cNvPr id="15" name="Text 13"/>
          <p:cNvSpPr/>
          <p:nvPr/>
        </p:nvSpPr>
        <p:spPr>
          <a:xfrm>
            <a:off x="812800" y="3543300"/>
            <a:ext cx="1384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3A20"/>
                </a:solidFill>
                <a:latin typeface="Be Vietnam Pro" pitchFamily="34" charset="0"/>
                <a:ea typeface="Be Vietnam Pro" pitchFamily="34" charset="-122"/>
                <a:cs typeface="Be Vietnam Pro" pitchFamily="34" charset="-120"/>
              </a:rPr>
              <a:t>NO</a:t>
            </a:r>
            <a:endParaRPr lang="en-US" sz="1400" dirty="0"/>
          </a:p>
        </p:txBody>
      </p:sp>
      <p:sp>
        <p:nvSpPr>
          <p:cNvPr id="16" name="Shape 14"/>
          <p:cNvSpPr/>
          <p:nvPr/>
        </p:nvSpPr>
        <p:spPr>
          <a:xfrm>
            <a:off x="2298700" y="3413758"/>
            <a:ext cx="2660650" cy="228600"/>
          </a:xfrm>
          <a:custGeom>
            <a:avLst/>
            <a:gdLst/>
            <a:ahLst/>
            <a:cxnLst/>
            <a:rect l="l" t="t" r="r" b="b"/>
            <a:pathLst>
              <a:path w="2660650" h="228600">
                <a:moveTo>
                  <a:pt x="0" y="0"/>
                </a:moveTo>
                <a:lnTo>
                  <a:pt x="2622550" y="0"/>
                </a:lnTo>
                <a:arcTo hR="38100" wR="38100" stAng="16200000" swAng="5400000"/>
                <a:lnTo>
                  <a:pt x="2660650" y="190500"/>
                </a:lnTo>
                <a:arcTo hR="38100" wR="38100" stAng="0" swAng="5400000"/>
                <a:lnTo>
                  <a:pt x="0" y="228600"/>
                </a:lnTo>
                <a:lnTo>
                  <a:pt x="0" y="0"/>
                </a:lnTo>
                <a:close/>
              </a:path>
            </a:pathLst>
          </a:custGeom>
          <a:solidFill>
            <a:srgbClr val="2F5BEA"/>
          </a:solidFill>
          <a:ln/>
        </p:spPr>
      </p:sp>
      <p:sp>
        <p:nvSpPr>
          <p:cNvPr id="17" name="Text 15"/>
          <p:cNvSpPr/>
          <p:nvPr/>
        </p:nvSpPr>
        <p:spPr>
          <a:xfrm>
            <a:off x="5060950" y="3421385"/>
            <a:ext cx="4305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69,8</a:t>
            </a:r>
            <a:endParaRPr lang="en-US" sz="1200" dirty="0"/>
          </a:p>
        </p:txBody>
      </p:sp>
      <p:sp>
        <p:nvSpPr>
          <p:cNvPr id="18" name="Shape 16"/>
          <p:cNvSpPr/>
          <p:nvPr/>
        </p:nvSpPr>
        <p:spPr>
          <a:xfrm>
            <a:off x="2298700" y="3693158"/>
            <a:ext cx="1327150" cy="228600"/>
          </a:xfrm>
          <a:custGeom>
            <a:avLst/>
            <a:gdLst/>
            <a:ahLst/>
            <a:cxnLst/>
            <a:rect l="l" t="t" r="r" b="b"/>
            <a:pathLst>
              <a:path w="1327150" h="228600">
                <a:moveTo>
                  <a:pt x="0" y="0"/>
                </a:moveTo>
                <a:lnTo>
                  <a:pt x="1289050" y="0"/>
                </a:lnTo>
                <a:arcTo hR="38100" wR="38100" stAng="16200000" swAng="5400000"/>
                <a:lnTo>
                  <a:pt x="1327150" y="190500"/>
                </a:lnTo>
                <a:arcTo hR="38100" wR="38100" stAng="0" swAng="5400000"/>
                <a:lnTo>
                  <a:pt x="0" y="228600"/>
                </a:lnTo>
                <a:lnTo>
                  <a:pt x="0" y="0"/>
                </a:lnTo>
                <a:close/>
              </a:path>
            </a:pathLst>
          </a:custGeom>
          <a:solidFill>
            <a:srgbClr val="E07B39"/>
          </a:solidFill>
          <a:ln/>
        </p:spPr>
      </p:sp>
      <p:sp>
        <p:nvSpPr>
          <p:cNvPr id="19" name="Text 17"/>
          <p:cNvSpPr/>
          <p:nvPr/>
        </p:nvSpPr>
        <p:spPr>
          <a:xfrm>
            <a:off x="3727450" y="3700785"/>
            <a:ext cx="4416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34,9</a:t>
            </a:r>
            <a:endParaRPr lang="en-US" sz="1200" dirty="0"/>
          </a:p>
        </p:txBody>
      </p:sp>
      <p:sp>
        <p:nvSpPr>
          <p:cNvPr id="20" name="Text 18"/>
          <p:cNvSpPr/>
          <p:nvPr/>
        </p:nvSpPr>
        <p:spPr>
          <a:xfrm>
            <a:off x="812800" y="4216400"/>
            <a:ext cx="1384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6576"/>
                </a:solidFill>
                <a:latin typeface="Be Vietnam Pro" pitchFamily="34" charset="0"/>
                <a:ea typeface="Be Vietnam Pro" pitchFamily="34" charset="-122"/>
                <a:cs typeface="Be Vietnam Pro" pitchFamily="34" charset="-120"/>
              </a:rPr>
              <a:t>AMBIGUOUS</a:t>
            </a:r>
            <a:endParaRPr lang="en-US" sz="1400" dirty="0"/>
          </a:p>
        </p:txBody>
      </p:sp>
      <p:sp>
        <p:nvSpPr>
          <p:cNvPr id="21" name="Shape 19"/>
          <p:cNvSpPr/>
          <p:nvPr/>
        </p:nvSpPr>
        <p:spPr>
          <a:xfrm>
            <a:off x="2298700" y="4086858"/>
            <a:ext cx="2139950" cy="228600"/>
          </a:xfrm>
          <a:custGeom>
            <a:avLst/>
            <a:gdLst/>
            <a:ahLst/>
            <a:cxnLst/>
            <a:rect l="l" t="t" r="r" b="b"/>
            <a:pathLst>
              <a:path w="2139950" h="228600">
                <a:moveTo>
                  <a:pt x="0" y="0"/>
                </a:moveTo>
                <a:lnTo>
                  <a:pt x="2101850" y="0"/>
                </a:lnTo>
                <a:arcTo hR="38100" wR="38100" stAng="16200000" swAng="5400000"/>
                <a:lnTo>
                  <a:pt x="2139950" y="190500"/>
                </a:lnTo>
                <a:arcTo hR="38100" wR="38100" stAng="0" swAng="5400000"/>
                <a:lnTo>
                  <a:pt x="0" y="228600"/>
                </a:lnTo>
                <a:lnTo>
                  <a:pt x="0" y="0"/>
                </a:lnTo>
                <a:close/>
              </a:path>
            </a:pathLst>
          </a:custGeom>
          <a:solidFill>
            <a:srgbClr val="2F5BEA"/>
          </a:solidFill>
          <a:ln/>
        </p:spPr>
      </p:sp>
      <p:sp>
        <p:nvSpPr>
          <p:cNvPr id="22" name="Text 20"/>
          <p:cNvSpPr/>
          <p:nvPr/>
        </p:nvSpPr>
        <p:spPr>
          <a:xfrm>
            <a:off x="4540250" y="4094485"/>
            <a:ext cx="43148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56,2</a:t>
            </a:r>
            <a:endParaRPr lang="en-US" sz="1200" dirty="0"/>
          </a:p>
        </p:txBody>
      </p:sp>
      <p:sp>
        <p:nvSpPr>
          <p:cNvPr id="23" name="Shape 21"/>
          <p:cNvSpPr/>
          <p:nvPr/>
        </p:nvSpPr>
        <p:spPr>
          <a:xfrm>
            <a:off x="2298700" y="4366258"/>
            <a:ext cx="2622550" cy="228600"/>
          </a:xfrm>
          <a:custGeom>
            <a:avLst/>
            <a:gdLst/>
            <a:ahLst/>
            <a:cxnLst/>
            <a:rect l="l" t="t" r="r" b="b"/>
            <a:pathLst>
              <a:path w="2622550" h="228600">
                <a:moveTo>
                  <a:pt x="0" y="0"/>
                </a:moveTo>
                <a:lnTo>
                  <a:pt x="2584450" y="0"/>
                </a:lnTo>
                <a:arcTo hR="38100" wR="38100" stAng="16200000" swAng="5400000"/>
                <a:lnTo>
                  <a:pt x="2622550" y="190500"/>
                </a:lnTo>
                <a:arcTo hR="38100" wR="38100" stAng="0" swAng="5400000"/>
                <a:lnTo>
                  <a:pt x="0" y="228600"/>
                </a:lnTo>
                <a:lnTo>
                  <a:pt x="0" y="0"/>
                </a:lnTo>
                <a:close/>
              </a:path>
            </a:pathLst>
          </a:custGeom>
          <a:solidFill>
            <a:srgbClr val="E07B39"/>
          </a:solidFill>
          <a:ln/>
        </p:spPr>
      </p:sp>
      <p:sp>
        <p:nvSpPr>
          <p:cNvPr id="24" name="Text 22"/>
          <p:cNvSpPr/>
          <p:nvPr/>
        </p:nvSpPr>
        <p:spPr>
          <a:xfrm>
            <a:off x="5022850" y="4373885"/>
            <a:ext cx="4274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3B"/>
                </a:solidFill>
                <a:latin typeface="Be Vietnam Pro" pitchFamily="34" charset="0"/>
                <a:ea typeface="Be Vietnam Pro" pitchFamily="34" charset="-122"/>
                <a:cs typeface="Be Vietnam Pro" pitchFamily="34" charset="-120"/>
              </a:rPr>
              <a:t>68,8</a:t>
            </a:r>
            <a:endParaRPr lang="en-US" sz="1200" dirty="0"/>
          </a:p>
        </p:txBody>
      </p:sp>
      <p:sp>
        <p:nvSpPr>
          <p:cNvPr id="25" name="Text 23"/>
          <p:cNvSpPr/>
          <p:nvPr/>
        </p:nvSpPr>
        <p:spPr>
          <a:xfrm>
            <a:off x="812800" y="4759958"/>
            <a:ext cx="62244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Tổng thể: Gemini 84,2% (κ = 0,680) · GPT-5.5 76,5% (κ = 0,507)</a:t>
            </a:r>
            <a:endParaRPr lang="en-US" sz="1200" dirty="0"/>
          </a:p>
        </p:txBody>
      </p:sp>
      <p:sp>
        <p:nvSpPr>
          <p:cNvPr id="26" name="Shape 24"/>
          <p:cNvSpPr/>
          <p:nvPr/>
        </p:nvSpPr>
        <p:spPr>
          <a:xfrm>
            <a:off x="7214712" y="1692275"/>
            <a:ext cx="4161314" cy="1291590"/>
          </a:xfrm>
          <a:prstGeom prst="roundRect">
            <a:avLst>
              <a:gd name="adj" fmla="val 7620"/>
            </a:avLst>
          </a:prstGeom>
          <a:solidFill>
            <a:srgbClr val="FFFFFF"/>
          </a:solidFill>
          <a:ln w="6350">
            <a:solidFill>
              <a:srgbClr val="D5DBE5"/>
            </a:solidFill>
            <a:prstDash val="solid"/>
          </a:ln>
        </p:spPr>
      </p:sp>
      <p:sp>
        <p:nvSpPr>
          <p:cNvPr id="27" name="Text 25"/>
          <p:cNvSpPr/>
          <p:nvPr/>
        </p:nvSpPr>
        <p:spPr>
          <a:xfrm>
            <a:off x="7407116" y="1859285"/>
            <a:ext cx="388979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Be Vietnam Pro" pitchFamily="34" charset="0"/>
                <a:ea typeface="Be Vietnam Pro" pitchFamily="34" charset="-122"/>
                <a:cs typeface="Be Vietnam Pro" pitchFamily="34" charset="-120"/>
              </a:rPr>
              <a:t>Nhận xét</a:t>
            </a:r>
            <a:endParaRPr lang="en-US" sz="1500" dirty="0"/>
          </a:p>
        </p:txBody>
      </p:sp>
      <p:sp>
        <p:nvSpPr>
          <p:cNvPr id="28" name="Text 26"/>
          <p:cNvSpPr/>
          <p:nvPr/>
        </p:nvSpPr>
        <p:spPr>
          <a:xfrm>
            <a:off x="7407116" y="2176785"/>
            <a:ext cx="388979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LLM khớp tốt trên YES, kém hơn trên PARTIAL và NO – có xu hướng đánh giá cao mức hỗ trợ của ngữ cảnh.</a:t>
            </a:r>
            <a:endParaRPr lang="en-US" sz="1200" dirty="0"/>
          </a:p>
        </p:txBody>
      </p:sp>
      <p:sp>
        <p:nvSpPr>
          <p:cNvPr id="29" name="Shape 27"/>
          <p:cNvSpPr/>
          <p:nvPr/>
        </p:nvSpPr>
        <p:spPr>
          <a:xfrm>
            <a:off x="7214712" y="3117217"/>
            <a:ext cx="2013982" cy="1377950"/>
          </a:xfrm>
          <a:prstGeom prst="roundRect">
            <a:avLst>
              <a:gd name="adj" fmla="val 7143"/>
            </a:avLst>
          </a:prstGeom>
          <a:solidFill>
            <a:srgbClr val="FFFFFF"/>
          </a:solidFill>
          <a:ln w="6350">
            <a:solidFill>
              <a:srgbClr val="D5DBE5"/>
            </a:solidFill>
            <a:prstDash val="solid"/>
          </a:ln>
        </p:spPr>
      </p:sp>
      <p:sp>
        <p:nvSpPr>
          <p:cNvPr id="30" name="Text 28"/>
          <p:cNvSpPr/>
          <p:nvPr/>
        </p:nvSpPr>
        <p:spPr>
          <a:xfrm>
            <a:off x="7407116" y="3271527"/>
            <a:ext cx="167997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Be Vietnam Pro" pitchFamily="34" charset="0"/>
                <a:ea typeface="Be Vietnam Pro" pitchFamily="34" charset="-122"/>
                <a:cs typeface="Be Vietnam Pro" pitchFamily="34" charset="-120"/>
              </a:rPr>
              <a:t>303</a:t>
            </a:r>
            <a:endParaRPr lang="en-US" sz="2200" dirty="0"/>
          </a:p>
        </p:txBody>
      </p:sp>
      <p:sp>
        <p:nvSpPr>
          <p:cNvPr id="31" name="Text 29"/>
          <p:cNvSpPr/>
          <p:nvPr/>
        </p:nvSpPr>
        <p:spPr>
          <a:xfrm>
            <a:off x="7407116" y="3700785"/>
            <a:ext cx="167997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bản ghi con người bác bỏ đồng thuận của hai LLM</a:t>
            </a:r>
            <a:endParaRPr lang="en-US" sz="1200" dirty="0"/>
          </a:p>
        </p:txBody>
      </p:sp>
      <p:sp>
        <p:nvSpPr>
          <p:cNvPr id="32" name="Shape 30"/>
          <p:cNvSpPr/>
          <p:nvPr/>
        </p:nvSpPr>
        <p:spPr>
          <a:xfrm>
            <a:off x="9362043" y="3117217"/>
            <a:ext cx="2013982" cy="1377950"/>
          </a:xfrm>
          <a:prstGeom prst="roundRect">
            <a:avLst>
              <a:gd name="adj" fmla="val 7143"/>
            </a:avLst>
          </a:prstGeom>
          <a:solidFill>
            <a:srgbClr val="FFFFFF"/>
          </a:solidFill>
          <a:ln w="6350">
            <a:solidFill>
              <a:srgbClr val="D5DBE5"/>
            </a:solidFill>
            <a:prstDash val="solid"/>
          </a:ln>
        </p:spPr>
      </p:sp>
      <p:sp>
        <p:nvSpPr>
          <p:cNvPr id="33" name="Text 31"/>
          <p:cNvSpPr/>
          <p:nvPr/>
        </p:nvSpPr>
        <p:spPr>
          <a:xfrm>
            <a:off x="9554449" y="3271527"/>
            <a:ext cx="167997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Be Vietnam Pro" pitchFamily="34" charset="0"/>
                <a:ea typeface="Be Vietnam Pro" pitchFamily="34" charset="-122"/>
                <a:cs typeface="Be Vietnam Pro" pitchFamily="34" charset="-120"/>
              </a:rPr>
              <a:t>431</a:t>
            </a:r>
            <a:endParaRPr lang="en-US" sz="2200" dirty="0"/>
          </a:p>
        </p:txBody>
      </p:sp>
      <p:sp>
        <p:nvSpPr>
          <p:cNvPr id="34" name="Text 32"/>
          <p:cNvSpPr/>
          <p:nvPr/>
        </p:nvSpPr>
        <p:spPr>
          <a:xfrm>
            <a:off x="9554449" y="3700785"/>
            <a:ext cx="16799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bản ghi cả hai LLM sai → tập con khó</a:t>
            </a:r>
            <a:endParaRPr lang="en-US" sz="1200" dirty="0"/>
          </a:p>
        </p:txBody>
      </p:sp>
      <p:sp>
        <p:nvSpPr>
          <p:cNvPr id="35" name="Text 33"/>
          <p:cNvSpPr/>
          <p:nvPr/>
        </p:nvSpPr>
        <p:spPr>
          <a:xfrm>
            <a:off x="812800" y="6238242"/>
            <a:ext cx="83375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Phụ lục · Người gán được tham khảo gợi ý nên mức khớp không phải ước lượng mù</a:t>
            </a:r>
            <a:endParaRPr lang="en-US" sz="1200" dirty="0"/>
          </a:p>
        </p:txBody>
      </p:sp>
      <p:sp>
        <p:nvSpPr>
          <p:cNvPr id="36" name="Text 34"/>
          <p:cNvSpPr/>
          <p:nvPr/>
        </p:nvSpPr>
        <p:spPr>
          <a:xfrm>
            <a:off x="11225609" y="6238242"/>
            <a:ext cx="153591"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B</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8494"/>
                </a:solidFill>
                <a:latin typeface="Be Vietnam Pro" pitchFamily="34" charset="0"/>
                <a:ea typeface="Be Vietnam Pro" pitchFamily="34" charset="-122"/>
                <a:cs typeface="Be Vietnam Pro" pitchFamily="34" charset="-120"/>
              </a:rPr>
              <a:t>PHỤ LỤC C</a:t>
            </a:r>
            <a:endParaRPr lang="en-US" sz="1200" dirty="0"/>
          </a:p>
        </p:txBody>
      </p:sp>
      <p:sp>
        <p:nvSpPr>
          <p:cNvPr id="3" name="Text 1"/>
          <p:cNvSpPr/>
          <p:nvPr>
            <p:ph type="title"/>
          </p:nvPr>
        </p:nvSpPr>
        <p:spPr>
          <a:xfrm>
            <a:off x="812800" y="10007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Giám khảo LLM: cấu hình và kiểm định</a:t>
            </a:r>
            <a:endParaRPr lang="en-US" sz="2800" dirty="0"/>
          </a:p>
        </p:txBody>
      </p:sp>
      <p:sp>
        <p:nvSpPr>
          <p:cNvPr id="4" name="Shape 2"/>
          <p:cNvSpPr/>
          <p:nvPr/>
        </p:nvSpPr>
        <p:spPr>
          <a:xfrm>
            <a:off x="812800" y="1689100"/>
            <a:ext cx="3403600" cy="2636520"/>
          </a:xfrm>
          <a:prstGeom prst="roundRect">
            <a:avLst>
              <a:gd name="adj" fmla="val 3854"/>
            </a:avLst>
          </a:prstGeom>
          <a:solidFill>
            <a:srgbClr val="FFFFFF"/>
          </a:solidFill>
          <a:ln/>
        </p:spPr>
      </p:sp>
      <p:sp>
        <p:nvSpPr>
          <p:cNvPr id="5" name="Text 3"/>
          <p:cNvSpPr/>
          <p:nvPr/>
        </p:nvSpPr>
        <p:spPr>
          <a:xfrm>
            <a:off x="1003300" y="1879600"/>
            <a:ext cx="31132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Cấu hình</a:t>
            </a:r>
            <a:endParaRPr lang="en-US" sz="1600" dirty="0"/>
          </a:p>
        </p:txBody>
      </p:sp>
      <p:sp>
        <p:nvSpPr>
          <p:cNvPr id="6" name="Text 4"/>
          <p:cNvSpPr/>
          <p:nvPr/>
        </p:nvSpPr>
        <p:spPr>
          <a:xfrm>
            <a:off x="1102106" y="2212342"/>
            <a:ext cx="3006852" cy="179324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Claude Sonnet 4.6, nhiệt độ 0</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Đầu vào theo nhãn; không bao giờ nhận tài liệu truy xuất</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Khác họ với các mô hình được đánh giá và các LLM dùng khi xây dựng dữ liệu</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16.468 lượt chấm (4.117 × 4), đều hợp lệ</a:t>
            </a:r>
            <a:endParaRPr lang="en-US" sz="1200" dirty="0"/>
          </a:p>
        </p:txBody>
      </p:sp>
      <p:sp>
        <p:nvSpPr>
          <p:cNvPr id="7" name="Shape 5"/>
          <p:cNvSpPr/>
          <p:nvPr/>
        </p:nvSpPr>
        <p:spPr>
          <a:xfrm>
            <a:off x="4394200" y="1689100"/>
            <a:ext cx="3403600" cy="2636520"/>
          </a:xfrm>
          <a:prstGeom prst="roundRect">
            <a:avLst>
              <a:gd name="adj" fmla="val 3854"/>
            </a:avLst>
          </a:prstGeom>
          <a:solidFill>
            <a:srgbClr val="14213D"/>
          </a:solidFill>
          <a:ln/>
        </p:spPr>
      </p:sp>
      <p:sp>
        <p:nvSpPr>
          <p:cNvPr id="8" name="Text 6"/>
          <p:cNvSpPr/>
          <p:nvPr/>
        </p:nvSpPr>
        <p:spPr>
          <a:xfrm>
            <a:off x="4584700" y="1879600"/>
            <a:ext cx="31132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Be Vietnam Pro" pitchFamily="34" charset="0"/>
                <a:ea typeface="Be Vietnam Pro" pitchFamily="34" charset="-122"/>
                <a:cs typeface="Be Vietnam Pro" pitchFamily="34" charset="-120"/>
              </a:rPr>
              <a:t>Kiểm định</a:t>
            </a:r>
            <a:endParaRPr lang="en-US" sz="1600" dirty="0"/>
          </a:p>
        </p:txBody>
      </p:sp>
      <p:sp>
        <p:nvSpPr>
          <p:cNvPr id="9" name="Text 7"/>
          <p:cNvSpPr/>
          <p:nvPr/>
        </p:nvSpPr>
        <p:spPr>
          <a:xfrm>
            <a:off x="4584700" y="2212342"/>
            <a:ext cx="3113278" cy="66548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2B33D"/>
                </a:solidFill>
                <a:latin typeface="Be Vietnam Pro" pitchFamily="34" charset="0"/>
                <a:ea typeface="Be Vietnam Pro" pitchFamily="34" charset="-122"/>
                <a:cs typeface="Be Vietnam Pro" pitchFamily="34" charset="-120"/>
              </a:rPr>
              <a:t>94,5%</a:t>
            </a:r>
            <a:endParaRPr lang="en-US" sz="4800" dirty="0"/>
          </a:p>
        </p:txBody>
      </p:sp>
      <p:sp>
        <p:nvSpPr>
          <p:cNvPr id="10" name="Text 8"/>
          <p:cNvSpPr/>
          <p:nvPr/>
        </p:nvSpPr>
        <p:spPr>
          <a:xfrm>
            <a:off x="4584700" y="2941327"/>
            <a:ext cx="3113278"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DCE3F0"/>
                </a:solidFill>
                <a:latin typeface="Be Vietnam Pro" pitchFamily="34" charset="0"/>
                <a:ea typeface="Be Vietnam Pro" pitchFamily="34" charset="-122"/>
                <a:cs typeface="Be Vietnam Pro" pitchFamily="34" charset="-120"/>
              </a:rPr>
              <a:t>189/200 cặp cùng phán quyết với người đánh giá độc lập, không xem kết quả giám khảo (Wilson 95%: 90,4–96,9%).</a:t>
            </a:r>
            <a:endParaRPr lang="en-US" sz="1200" dirty="0"/>
          </a:p>
        </p:txBody>
      </p:sp>
      <p:sp>
        <p:nvSpPr>
          <p:cNvPr id="11" name="Text 9"/>
          <p:cNvSpPr/>
          <p:nvPr/>
        </p:nvSpPr>
        <p:spPr>
          <a:xfrm>
            <a:off x="4584700" y="3693158"/>
            <a:ext cx="3113278"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2D6"/>
                </a:solidFill>
                <a:latin typeface="Be Vietnam Pro" pitchFamily="34" charset="0"/>
                <a:ea typeface="Be Vietnam Pro" pitchFamily="34" charset="-122"/>
                <a:cs typeface="Be Vietnam Pro" pitchFamily="34" charset="-120"/>
              </a:rPr>
              <a:t>Mẫu phân tầng 60 YES · 60 PARTIAL · 40 NO · 40 AMBIGUOUS</a:t>
            </a:r>
            <a:endParaRPr lang="en-US" sz="1200" dirty="0"/>
          </a:p>
        </p:txBody>
      </p:sp>
      <p:sp>
        <p:nvSpPr>
          <p:cNvPr id="12" name="Shape 10"/>
          <p:cNvSpPr/>
          <p:nvPr/>
        </p:nvSpPr>
        <p:spPr>
          <a:xfrm>
            <a:off x="7975600" y="1689100"/>
            <a:ext cx="3403600" cy="2636520"/>
          </a:xfrm>
          <a:prstGeom prst="roundRect">
            <a:avLst>
              <a:gd name="adj" fmla="val 3854"/>
            </a:avLst>
          </a:prstGeom>
          <a:solidFill>
            <a:srgbClr val="FFFFFF"/>
          </a:solidFill>
          <a:ln/>
        </p:spPr>
      </p:sp>
      <p:sp>
        <p:nvSpPr>
          <p:cNvPr id="13" name="Text 11"/>
          <p:cNvSpPr/>
          <p:nvPr/>
        </p:nvSpPr>
        <p:spPr>
          <a:xfrm>
            <a:off x="8166100" y="1879600"/>
            <a:ext cx="31132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Giới hạn</a:t>
            </a:r>
            <a:endParaRPr lang="en-US" sz="1600" dirty="0"/>
          </a:p>
        </p:txBody>
      </p:sp>
      <p:sp>
        <p:nvSpPr>
          <p:cNvPr id="14" name="Text 12"/>
          <p:cNvSpPr/>
          <p:nvPr/>
        </p:nvSpPr>
        <p:spPr>
          <a:xfrm>
            <a:off x="8264906" y="2212342"/>
            <a:ext cx="3006852" cy="135128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Kiểm định ở mức toàn câu trả lời (phán quyết nhị phân)</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Phân rã mệnh đề và tính đầy đủ chưa được người kiểm định riêng</a:t>
            </a:r>
            <a:endParaRPr lang="en-US" sz="1200" dirty="0"/>
          </a:p>
          <a:p>
            <a:pPr algn="l" marL="155194" indent="-155194">
              <a:lnSpc>
                <a:spcPts val="1740"/>
              </a:lnSpc>
              <a:buSzPct val="100000"/>
              <a:buChar char="•"/>
            </a:pPr>
            <a:r>
              <a:rPr lang="en-US" sz="1200" dirty="0">
                <a:solidFill>
                  <a:srgbClr val="4A5568"/>
                </a:solidFill>
                <a:latin typeface="Be Vietnam Pro" pitchFamily="34" charset="0"/>
                <a:ea typeface="Be Vietnam Pro" pitchFamily="34" charset="-122"/>
                <a:cs typeface="Be Vietnam Pro" pitchFamily="34" charset="-120"/>
              </a:rPr>
              <a:t>Thí điểm 50 mẫu chấm nhiều trường: đồng thuận thấp → đổi giao thức</a:t>
            </a:r>
            <a:endParaRPr lang="en-US" sz="1200" dirty="0"/>
          </a:p>
        </p:txBody>
      </p:sp>
      <p:sp>
        <p:nvSpPr>
          <p:cNvPr id="15" name="Text 13"/>
          <p:cNvSpPr/>
          <p:nvPr/>
        </p:nvSpPr>
        <p:spPr>
          <a:xfrm>
            <a:off x="812800" y="6238242"/>
            <a:ext cx="34484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Phụ lục · Mục 4.4 luận văn</a:t>
            </a:r>
            <a:endParaRPr lang="en-US" sz="1200" dirty="0"/>
          </a:p>
        </p:txBody>
      </p:sp>
      <p:sp>
        <p:nvSpPr>
          <p:cNvPr id="16" name="Text 14"/>
          <p:cNvSpPr/>
          <p:nvPr/>
        </p:nvSpPr>
        <p:spPr>
          <a:xfrm>
            <a:off x="11210290" y="6238242"/>
            <a:ext cx="16891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C</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8494"/>
                </a:solidFill>
                <a:latin typeface="Be Vietnam Pro" pitchFamily="34" charset="0"/>
                <a:ea typeface="Be Vietnam Pro" pitchFamily="34" charset="-122"/>
                <a:cs typeface="Be Vietnam Pro" pitchFamily="34" charset="-120"/>
              </a:rPr>
              <a:t>PHỤ LỤC D</a:t>
            </a:r>
            <a:endParaRPr lang="en-US" sz="1200" dirty="0"/>
          </a:p>
        </p:txBody>
      </p:sp>
      <p:sp>
        <p:nvSpPr>
          <p:cNvPr id="3" name="Text 1"/>
          <p:cNvSpPr/>
          <p:nvPr>
            <p:ph type="title"/>
          </p:nvPr>
        </p:nvSpPr>
        <p:spPr>
          <a:xfrm>
            <a:off x="812800" y="1000758"/>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Ví dụ bản ghi theo nhãn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48460"/>
          <a:ext cx="10556240" cy="3378200"/>
        </p:xfrm>
        <a:graphic>
          <a:graphicData uri="http://schemas.openxmlformats.org/drawingml/2006/table">
            <a:tbl>
              <a:tblPr/>
              <a:tblGrid>
                <a:gridCol w="1583436"/>
                <a:gridCol w="4011371"/>
                <a:gridCol w="4961433"/>
              </a:tblGrid>
              <a:tr h="330200">
                <a:tc>
                  <a:txBody>
                    <a:bodyPr/>
                    <a:lstStyle/>
                    <a:p>
                      <a:pPr indent="0" marL="0">
                        <a:lnSpc>
                          <a:spcPts val="1680"/>
                        </a:lnSpc>
                        <a:buNone/>
                      </a:pPr>
                      <a:r>
                        <a:rPr lang="en-US" sz="1200" b="1" dirty="0">
                          <a:solidFill>
                            <a:srgbClr val="F7F6F2"/>
                          </a:solidFill>
                          <a:latin typeface="Be Vietnam Pro" pitchFamily="34" charset="0"/>
                          <a:ea typeface="Be Vietnam Pro" pitchFamily="34" charset="-122"/>
                          <a:cs typeface="Be Vietnam Pro" pitchFamily="34" charset="-120"/>
                        </a:rPr>
                        <a:t>Nhãn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Be Vietnam Pro" pitchFamily="34" charset="0"/>
                          <a:ea typeface="Be Vietnam Pro" pitchFamily="34" charset="-122"/>
                          <a:cs typeface="Be Vietnam Pro" pitchFamily="34" charset="-120"/>
                        </a:rPr>
                        <a:t>Truy vấn (nguyên văn)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Be Vietnam Pro" pitchFamily="34" charset="0"/>
                          <a:ea typeface="Be Vietnam Pro" pitchFamily="34" charset="-122"/>
                          <a:cs typeface="Be Vietnam Pro" pitchFamily="34" charset="-120"/>
                        </a:rPr>
                        <a:t>Vì sao</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3560">
                <a:tc>
                  <a:txBody>
                    <a:bodyPr/>
                    <a:lstStyle/>
                    <a:p>
                      <a:pPr indent="0" marL="0">
                        <a:lnSpc>
                          <a:spcPts val="1680"/>
                        </a:lnSpc>
                        <a:buNone/>
                      </a:pPr>
                      <a:r>
                        <a:rPr lang="en-US" sz="1200" dirty="0">
                          <a:solidFill>
                            <a:srgbClr val="2F7D62"/>
                          </a:solidFill>
                          <a:latin typeface="Be Vietnam Pro" pitchFamily="34" charset="0"/>
                          <a:ea typeface="Be Vietnam Pro" pitchFamily="34" charset="-122"/>
                          <a:cs typeface="Be Vietnam Pro" pitchFamily="34" charset="-120"/>
                        </a:rPr>
                        <a:t>YES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dưa hấu giả là gì ?</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Doc 1 định nghĩa; Doc 2 “làm giả” dưa hấu thành cá ngừ là bẫy từ khóa</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43560">
                <a:tc>
                  <a:txBody>
                    <a:bodyPr/>
                    <a:lstStyle/>
                    <a:p>
                      <a:pPr indent="0" marL="0">
                        <a:lnSpc>
                          <a:spcPts val="1680"/>
                        </a:lnSpc>
                        <a:buNone/>
                      </a:pPr>
                      <a:r>
                        <a:rPr lang="en-US" sz="1200" dirty="0">
                          <a:solidFill>
                            <a:srgbClr val="9A6408"/>
                          </a:solidFill>
                          <a:latin typeface="Be Vietnam Pro" pitchFamily="34" charset="0"/>
                          <a:ea typeface="Be Vietnam Pro" pitchFamily="34" charset="-122"/>
                          <a:cs typeface="Be Vietnam Pro" pitchFamily="34" charset="-120"/>
                        </a:rPr>
                        <a:t>PARTIAL</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giá của hoa tươi trong dịp 8/3 và 20/10 là bao nhiêu?</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Có giá từng loại hoa dịp 8/3; dịp 20/10 không có giá cụ thể</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543560">
                <a:tc>
                  <a:txBody>
                    <a:bodyPr/>
                    <a:lstStyle/>
                    <a:p>
                      <a:pP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NO</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làm số nhà ở thành phố hồ chí minh mất bao nhiêu tiền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Chỉ có thủ tục và “lệ phí theo quy định”, không có con số</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43560">
                <a:tc>
                  <a:txBody>
                    <a:bodyPr/>
                    <a:lstStyle/>
                    <a:p>
                      <a:pP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NO</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thời gian bay từ vienna, áo đến bắc kinh là bao lâu?</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Có Hà Nội–Bắc Kinh và Việt Nam–Vienna, không có Vienna–Bắc Kinh</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30200">
                <a:tc>
                  <a:txBody>
                    <a:bodyPr/>
                    <a:lstStyle/>
                    <a:p>
                      <a:pPr indent="0" marL="0">
                        <a:lnSpc>
                          <a:spcPts val="1680"/>
                        </a:lnSpc>
                        <a:buNone/>
                      </a:pPr>
                      <a:r>
                        <a:rPr lang="en-US" sz="1200" dirty="0">
                          <a:solidFill>
                            <a:srgbClr val="5B6576"/>
                          </a:solidFill>
                          <a:latin typeface="Be Vietnam Pro" pitchFamily="34" charset="0"/>
                          <a:ea typeface="Be Vietnam Pro" pitchFamily="34" charset="-122"/>
                          <a:cs typeface="Be Vietnam Pro" pitchFamily="34" charset="-120"/>
                        </a:rPr>
                        <a:t>AMBIGUOUS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khi nào cần tìm ai để hỏi</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“ai” là một người, hay “AI” – trí tuệ nhân tạo?</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43560">
                <a:tc>
                  <a:txBody>
                    <a:bodyPr/>
                    <a:lstStyle/>
                    <a:p>
                      <a:pPr indent="0" marL="0">
                        <a:lnSpc>
                          <a:spcPts val="1680"/>
                        </a:lnSpc>
                        <a:buNone/>
                      </a:pPr>
                      <a:r>
                        <a:rPr lang="en-US" sz="1200" dirty="0">
                          <a:solidFill>
                            <a:srgbClr val="B03A20"/>
                          </a:solidFill>
                          <a:latin typeface="Be Vietnam Pro" pitchFamily="34" charset="0"/>
                          <a:ea typeface="Be Vietnam Pro" pitchFamily="34" charset="-122"/>
                          <a:cs typeface="Be Vietnam Pro" pitchFamily="34" charset="-120"/>
                        </a:rPr>
                        <a:t>NO · khó</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có thể hủy thẻ tín dụng online tại ngân hàng acb không?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Be Vietnam Pro" pitchFamily="34" charset="0"/>
                          <a:ea typeface="Be Vietnam Pro" pitchFamily="34" charset="-122"/>
                          <a:cs typeface="Be Vietnam Pro" pitchFamily="34" charset="-120"/>
                        </a:rPr>
                        <a:t>Tài liệu nói gia hạn online và “một số ngân hàng”; GPT-5.5 và Gemini đều gán YES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bl>
          </a:graphicData>
        </a:graphic>
      </p:graphicFrame>
      <p:sp>
        <p:nvSpPr>
          <p:cNvPr id="5" name="Text 2"/>
          <p:cNvSpPr/>
          <p:nvPr/>
        </p:nvSpPr>
        <p:spPr>
          <a:xfrm>
            <a:off x="812800" y="6238242"/>
            <a:ext cx="6220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ViFaithRAG · Phụ lục · Bản ghi thật, nhãn đồng thuận của hai người gán</a:t>
            </a:r>
            <a:endParaRPr lang="en-US" sz="1200" dirty="0"/>
          </a:p>
        </p:txBody>
      </p:sp>
      <p:sp>
        <p:nvSpPr>
          <p:cNvPr id="6" name="Text 3"/>
          <p:cNvSpPr/>
          <p:nvPr/>
        </p:nvSpPr>
        <p:spPr>
          <a:xfrm>
            <a:off x="11217434" y="6238242"/>
            <a:ext cx="16176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8494"/>
                </a:solidFill>
                <a:latin typeface="Be Vietnam Pro" pitchFamily="34" charset="0"/>
                <a:ea typeface="Be Vietnam Pro" pitchFamily="34" charset="-122"/>
                <a:cs typeface="Be Vietnam Pro" pitchFamily="34" charset="-120"/>
              </a:rPr>
              <a:t>D</a:t>
            </a:r>
            <a:endParaRPr lang="en-US" sz="1200" dirty="0"/>
          </a:p>
        </p:txBody>
      </p:sp>
    </p:spTree>
  </p:cSld>
  <p:clrMapOvr>
    <a:masterClrMapping/>
  </p:clrMapOvr>
</p:sld>
</file>

<file path=ppt/theme/theme1.xml><?xml version="1.0" encoding="utf-8"?>
<a:theme xmlns:a="http://schemas.openxmlformats.org/drawingml/2006/main" name="ViFaithRAG – Seminar luận văn">
  <a:themeElements>
    <a:clrScheme name="ViFaithRAG – Seminar luận văn">
      <a:dk1>
        <a:srgbClr val="14213D"/>
      </a:dk1>
      <a:lt1>
        <a:srgbClr val="F7F6F2"/>
      </a:lt1>
      <a:dk2>
        <a:srgbClr val="4D566A"/>
      </a:dk2>
      <a:lt2>
        <a:srgbClr val="E0E1E0"/>
      </a:lt2>
      <a:accent1>
        <a:srgbClr val="2F5BEA"/>
      </a:accent1>
      <a:accent2>
        <a:srgbClr val="1D3FAF"/>
      </a:accent2>
      <a:accent3>
        <a:srgbClr val="F2B33D"/>
      </a:accent3>
      <a:accent4>
        <a:srgbClr val="7A4F05"/>
      </a:accent4>
      <a:accent5>
        <a:srgbClr val="C4472B"/>
      </a:accent5>
      <a:accent6>
        <a:srgbClr val="FCEBD0"/>
      </a:accent6>
      <a:hlink>
        <a:srgbClr val="0563C1"/>
      </a:hlink>
      <a:folHlink>
        <a:srgbClr val="954F72"/>
      </a:folHlink>
    </a:clrScheme>
    <a:fontScheme name="ViFaithRAG – Seminar luận văn">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ViFaithRAG – Seminar luận văn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2026-10-27T16:07:08Z</dcterms:created>
  <dcterms:modified xsi:type="dcterms:W3CDTF">2026-10-27T16:07:08Z</dcterms:modified>
</cp:coreProperties>
</file>